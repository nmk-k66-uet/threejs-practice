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305" r:id="rId4"/>
    <p:sldId id="336" r:id="rId5"/>
    <p:sldId id="329" r:id="rId6"/>
    <p:sldId id="335" r:id="rId7"/>
    <p:sldId id="330" r:id="rId8"/>
    <p:sldId id="338" r:id="rId9"/>
    <p:sldId id="339" r:id="rId10"/>
    <p:sldId id="332" r:id="rId11"/>
    <p:sldId id="337" r:id="rId12"/>
    <p:sldId id="331" r:id="rId13"/>
    <p:sldId id="315" r:id="rId14"/>
    <p:sldId id="340" r:id="rId15"/>
    <p:sldId id="341" r:id="rId16"/>
    <p:sldId id="311" r:id="rId17"/>
    <p:sldId id="328" r:id="rId18"/>
  </p:sldIdLst>
  <p:sldSz cx="9144000" cy="6858000" type="screen4x3"/>
  <p:notesSz cx="9144000" cy="6858000"/>
  <p:embeddedFontLst>
    <p:embeddedFont>
      <p:font typeface="Bookman Old Style" panose="02050604050505020204" pitchFamily="18" charset="0"/>
      <p:regular r:id="rId21"/>
      <p:bold r:id="rId22"/>
      <p:italic r:id="rId23"/>
      <p:boldItalic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Gill Sans" panose="020B0604020202020204" charset="0"/>
      <p:regular r:id="rId29"/>
      <p:bold r:id="rId30"/>
    </p:embeddedFont>
    <p:embeddedFont>
      <p:font typeface="Noto Sans Symbols" pitchFamily="2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39ED4F1-FE1E-44B1-BE91-DC33C456D893}">
          <p14:sldIdLst>
            <p14:sldId id="256"/>
            <p14:sldId id="257"/>
          </p14:sldIdLst>
        </p14:section>
        <p14:section name="Getting Started" id="{DE395549-2AA2-4D32-BEEC-8BC76B620180}">
          <p14:sldIdLst>
            <p14:sldId id="305"/>
            <p14:sldId id="336"/>
            <p14:sldId id="329"/>
          </p14:sldIdLst>
        </p14:section>
        <p14:section name="Camera &amp; Orbit Controls" id="{311EEC78-3BDD-4F8C-AF8E-F1696CC6520F}">
          <p14:sldIdLst>
            <p14:sldId id="335"/>
            <p14:sldId id="330"/>
            <p14:sldId id="338"/>
            <p14:sldId id="339"/>
            <p14:sldId id="332"/>
            <p14:sldId id="337"/>
          </p14:sldIdLst>
        </p14:section>
        <p14:section name="Animations" id="{DE019968-2623-4E4E-A9C6-B0D78D73C522}">
          <p14:sldIdLst>
            <p14:sldId id="331"/>
            <p14:sldId id="315"/>
            <p14:sldId id="340"/>
            <p14:sldId id="341"/>
          </p14:sldIdLst>
        </p14:section>
        <p14:section name="Hands-On Activity" id="{A49C58CE-F582-470E-B612-9F0144A65D26}">
          <p14:sldIdLst>
            <p14:sldId id="311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5" roundtripDataSignature="AMtx7mjnchW9jt+BL3pINn0mejfXPXn+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762" autoAdjust="0"/>
  </p:normalViewPr>
  <p:slideViewPr>
    <p:cSldViewPr snapToGrid="0">
      <p:cViewPr varScale="1">
        <p:scale>
          <a:sx n="128" d="100"/>
          <a:sy n="128" d="100"/>
        </p:scale>
        <p:origin x="149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Relationship Id="rId85" Type="http://customschemas.google.com/relationships/presentationmetadata" Target="metadata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8A2F5A-9F1B-30A6-80F4-591D08EAA0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AAFEF-0F92-B29C-A70E-9B38CAC810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83AF9-D621-4D22-98A6-93B8FF1F7E4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FC9CD-7A76-FF4C-55C9-F3320699CA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B17BA-4A78-1B00-E7C8-F1AA786859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507B4-17AC-41E1-9E22-695C1E9A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632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848204ce3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848204ce3_0_9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8848204ce3_0_9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9CF897F5-354E-2D4C-6126-A414B7F61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>
            <a:extLst>
              <a:ext uri="{FF2B5EF4-FFF2-40B4-BE49-F238E27FC236}">
                <a16:creationId xmlns:a16="http://schemas.microsoft.com/office/drawing/2014/main" id="{31055858-C180-66F6-7B54-3DEF6494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F16EFA58-E6E2-0EA7-5A4A-1C3BFE0FE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FCA471-04EE-F77D-B8D1-73E4D305A3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1954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D4BD476-1802-F722-80D2-52BA9AEE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>
            <a:extLst>
              <a:ext uri="{FF2B5EF4-FFF2-40B4-BE49-F238E27FC236}">
                <a16:creationId xmlns:a16="http://schemas.microsoft.com/office/drawing/2014/main" id="{1910EFBA-3AB9-3DF8-12E4-0B5A607EB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3:notes">
            <a:extLst>
              <a:ext uri="{FF2B5EF4-FFF2-40B4-BE49-F238E27FC236}">
                <a16:creationId xmlns:a16="http://schemas.microsoft.com/office/drawing/2014/main" id="{D8CEECBC-A839-7C10-3638-BD6754CF6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3:notes">
            <a:extLst>
              <a:ext uri="{FF2B5EF4-FFF2-40B4-BE49-F238E27FC236}">
                <a16:creationId xmlns:a16="http://schemas.microsoft.com/office/drawing/2014/main" id="{EFCE6ED4-F00C-DC5A-010B-ED750258DFB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55CACE8A-202C-BA1A-F042-033CD8330E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1623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600E76F7-0B55-89BE-DCF1-A08A9C04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>
            <a:extLst>
              <a:ext uri="{FF2B5EF4-FFF2-40B4-BE49-F238E27FC236}">
                <a16:creationId xmlns:a16="http://schemas.microsoft.com/office/drawing/2014/main" id="{80FF5F0F-D117-7249-F35B-DB1954B0E8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3:notes">
            <a:extLst>
              <a:ext uri="{FF2B5EF4-FFF2-40B4-BE49-F238E27FC236}">
                <a16:creationId xmlns:a16="http://schemas.microsoft.com/office/drawing/2014/main" id="{165B88BA-D143-04A7-082F-6A5E08320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vi-V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3:notes">
            <a:extLst>
              <a:ext uri="{FF2B5EF4-FFF2-40B4-BE49-F238E27FC236}">
                <a16:creationId xmlns:a16="http://schemas.microsoft.com/office/drawing/2014/main" id="{2ED0DB77-FD75-C7C6-4D2F-D8F28161B18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1B676A0B-B560-2F01-BFD3-C6C94829FC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2087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85D95634-090A-254B-BDC5-A170C55B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>
            <a:extLst>
              <a:ext uri="{FF2B5EF4-FFF2-40B4-BE49-F238E27FC236}">
                <a16:creationId xmlns:a16="http://schemas.microsoft.com/office/drawing/2014/main" id="{E579B98D-683D-5195-F445-A29FC598C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95E97010-4F1F-119F-E6EF-A3FBAFC7B2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31AA56-055E-85F7-4327-B0CD8231DB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4377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2D2DB31-8E90-C75C-BCB1-8EE1A0FE1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>
            <a:extLst>
              <a:ext uri="{FF2B5EF4-FFF2-40B4-BE49-F238E27FC236}">
                <a16:creationId xmlns:a16="http://schemas.microsoft.com/office/drawing/2014/main" id="{5CEBB473-BFF9-0E73-E6F0-47D3E3B67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3:notes">
            <a:extLst>
              <a:ext uri="{FF2B5EF4-FFF2-40B4-BE49-F238E27FC236}">
                <a16:creationId xmlns:a16="http://schemas.microsoft.com/office/drawing/2014/main" id="{0230BDD6-3A18-10C6-A149-9E2230FCF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Frustum: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Hình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chóp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cụt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3:notes">
            <a:extLst>
              <a:ext uri="{FF2B5EF4-FFF2-40B4-BE49-F238E27FC236}">
                <a16:creationId xmlns:a16="http://schemas.microsoft.com/office/drawing/2014/main" id="{6A4D74FC-3A66-572E-7F18-4A811C1DAF0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F15AB97F-2B2A-ED18-D7B2-743AE0D1CE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697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F0EED91-584C-DBDD-6733-72FE920A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>
            <a:extLst>
              <a:ext uri="{FF2B5EF4-FFF2-40B4-BE49-F238E27FC236}">
                <a16:creationId xmlns:a16="http://schemas.microsoft.com/office/drawing/2014/main" id="{5261A503-A44A-3B9F-C0A7-DA7D4D2F7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3:notes">
            <a:extLst>
              <a:ext uri="{FF2B5EF4-FFF2-40B4-BE49-F238E27FC236}">
                <a16:creationId xmlns:a16="http://schemas.microsoft.com/office/drawing/2014/main" id="{E70767CA-3A8F-D2AF-6FD6-198CFF468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Scissor Test is different from the viewport because scissor </a:t>
            </a:r>
            <a:r>
              <a:rPr lang="en-US" b="1" dirty="0"/>
              <a:t>prevents writing</a:t>
            </a:r>
            <a:r>
              <a:rPr lang="en-US" dirty="0"/>
              <a:t> outside the region rather than changing the projection. </a:t>
            </a:r>
            <a:endParaRPr dirty="0"/>
          </a:p>
        </p:txBody>
      </p:sp>
      <p:sp>
        <p:nvSpPr>
          <p:cNvPr id="132" name="Google Shape;132;p3:notes">
            <a:extLst>
              <a:ext uri="{FF2B5EF4-FFF2-40B4-BE49-F238E27FC236}">
                <a16:creationId xmlns:a16="http://schemas.microsoft.com/office/drawing/2014/main" id="{974AF7A7-9E80-F071-2546-8A1153D4D59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D282D45A-63E0-7888-8E90-6C4CC24B31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4771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18EBA7A0-868E-622D-B582-91E97B7D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>
            <a:extLst>
              <a:ext uri="{FF2B5EF4-FFF2-40B4-BE49-F238E27FC236}">
                <a16:creationId xmlns:a16="http://schemas.microsoft.com/office/drawing/2014/main" id="{A1BEF549-1464-F6A8-9381-60131D2D6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3:notes">
            <a:extLst>
              <a:ext uri="{FF2B5EF4-FFF2-40B4-BE49-F238E27FC236}">
                <a16:creationId xmlns:a16="http://schemas.microsoft.com/office/drawing/2014/main" id="{E119FF9F-2A90-8AC9-AE73-4E6DB41DEB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AutoNum type="arabicPeriod"/>
            </a:pPr>
            <a:r>
              <a:rPr lang="en-US" b="1" dirty="0"/>
              <a:t>Rendering state resets each frame</a:t>
            </a:r>
          </a:p>
          <a:p>
            <a:pPr marL="228600" indent="0">
              <a:buNone/>
            </a:pPr>
            <a:r>
              <a:rPr lang="en-US" b="1" dirty="0"/>
              <a:t>- </a:t>
            </a:r>
            <a:r>
              <a:rPr lang="en-US" dirty="0"/>
              <a:t>WebGL doesn’t “remember” viewport or scissor settings across different render calls in a complex scene.</a:t>
            </a:r>
          </a:p>
          <a:p>
            <a:r>
              <a:rPr lang="en-US" dirty="0"/>
              <a:t>- If you render multiple cameras or multiple regions on the same canvas, you must re‑apply the correct viewport and scissor before each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renderer.render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(scene, camera)</a:t>
            </a:r>
            <a:r>
              <a:rPr lang="en-US" dirty="0"/>
              <a:t> call.</a:t>
            </a:r>
          </a:p>
          <a:p>
            <a:endParaRPr lang="en-US" dirty="0"/>
          </a:p>
          <a:p>
            <a:r>
              <a:rPr lang="en-US" b="1" dirty="0"/>
              <a:t>2. Multiple views on one canvas</a:t>
            </a:r>
          </a:p>
          <a:p>
            <a:r>
              <a:rPr lang="en-US" dirty="0"/>
              <a:t>- In split‑screen or dashboard layouts, each camera has its own viewport/scissor rectangle.</a:t>
            </a:r>
          </a:p>
          <a:p>
            <a:r>
              <a:rPr lang="en-US" dirty="0"/>
              <a:t>- During the animation loop, you switch between cameras, so you need to set the viewport and scissor for each one before rendering.</a:t>
            </a:r>
          </a:p>
          <a:p>
            <a:endParaRPr lang="en-US" dirty="0"/>
          </a:p>
          <a:p>
            <a:r>
              <a:rPr lang="en-US" b="1" dirty="0"/>
              <a:t>3. Dynamic layouts</a:t>
            </a:r>
          </a:p>
          <a:p>
            <a:r>
              <a:rPr lang="en-US" dirty="0"/>
              <a:t>- If the canvas size changes (e.g., window resize, responsive UI), the viewport/scissor coordinates must be recalculated every frame to match the new dimensions.</a:t>
            </a:r>
          </a:p>
          <a:p>
            <a:r>
              <a:rPr lang="en-US" dirty="0"/>
              <a:t>- Putting them in the animate loop ensures they stay in sync with the canvas size and </a:t>
            </a:r>
            <a:r>
              <a:rPr lang="en-US" dirty="0" err="1"/>
              <a:t>devicePixelRatio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4. Consistency and correctness</a:t>
            </a:r>
          </a:p>
          <a:p>
            <a:r>
              <a:rPr lang="en-US" dirty="0"/>
              <a:t>- Forgetting to set viewport/scissor in the loop can cause later renders to overwrite the wrong region or bleed into other areas.</a:t>
            </a:r>
          </a:p>
          <a:p>
            <a:pPr>
              <a:buFontTx/>
              <a:buChar char="-"/>
            </a:pPr>
            <a:r>
              <a:rPr lang="en-US" dirty="0"/>
              <a:t>By explicitly setting them each frame, you guarantee that every render call respects the intended boundaries.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renderer.clear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en-US" b="1" dirty="0"/>
              <a:t> clears all active buffers (color, depth, and stencil), while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renderer.clearDepth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en-US" b="1" dirty="0"/>
              <a:t> only clears the depth buffer.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This distinction is crucial when layering multiple scenes or overlays: you often want to preserve the color buffer but reset depth information so new objects can render on top.</a:t>
            </a:r>
          </a:p>
          <a:p>
            <a:endParaRPr lang="en-US" dirty="0"/>
          </a:p>
          <a:p>
            <a:r>
              <a:rPr lang="en-US" b="1" dirty="0"/>
              <a:t>Why this matters:</a:t>
            </a:r>
          </a:p>
          <a:p>
            <a:pPr>
              <a:buFontTx/>
              <a:buChar char="-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renderer.clear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en-US" dirty="0"/>
              <a:t> is like wiping the canvas entirely. It’s usually called once per frame if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autoClear</a:t>
            </a:r>
            <a:r>
              <a:rPr lang="en-US" dirty="0"/>
              <a:t> is disabled. </a:t>
            </a:r>
          </a:p>
          <a:p>
            <a:pPr>
              <a:buFontTx/>
              <a:buChar char="-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renderer.clearDepth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en-US" dirty="0"/>
              <a:t> is more surgical: it resets depth testing without erasing the color buffer. This is useful when you want to render a second scene (like UI elements, selection boxes, or overlays) on top of the first scene without being occluded by depth values from the first render</a:t>
            </a:r>
          </a:p>
          <a:p>
            <a:pPr marL="228600" indent="0">
              <a:buFontTx/>
              <a:buNone/>
            </a:pPr>
            <a:endParaRPr lang="en-US" dirty="0"/>
          </a:p>
          <a:p>
            <a:r>
              <a:rPr lang="en-US" dirty="0"/>
              <a:t>Key takeaway</a:t>
            </a:r>
          </a:p>
          <a:p>
            <a:r>
              <a:rPr lang="en-US" dirty="0"/>
              <a:t>Use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renderer.clear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en-US" dirty="0"/>
              <a:t> when you need a fresh frame.</a:t>
            </a:r>
          </a:p>
          <a:p>
            <a:r>
              <a:rPr lang="en-US" dirty="0"/>
              <a:t>Use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renderer.clearDepth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en-US" dirty="0"/>
              <a:t> when layering scenes or overlays, ensuring new objects render on top without erasing the existing image.</a:t>
            </a:r>
          </a:p>
          <a:p>
            <a:pPr marL="228600" indent="0">
              <a:buFontTx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3:notes">
            <a:extLst>
              <a:ext uri="{FF2B5EF4-FFF2-40B4-BE49-F238E27FC236}">
                <a16:creationId xmlns:a16="http://schemas.microsoft.com/office/drawing/2014/main" id="{C0A0DB13-1FC3-89B3-A696-8FFD383FA1C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6A265B33-5EF8-11D8-17BA-1537174683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77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36B0032-8587-3F8B-C7BF-BAB2A60A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>
            <a:extLst>
              <a:ext uri="{FF2B5EF4-FFF2-40B4-BE49-F238E27FC236}">
                <a16:creationId xmlns:a16="http://schemas.microsoft.com/office/drawing/2014/main" id="{FB4E7CC5-19F2-4903-C027-AA53A1828E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3:notes">
            <a:extLst>
              <a:ext uri="{FF2B5EF4-FFF2-40B4-BE49-F238E27FC236}">
                <a16:creationId xmlns:a16="http://schemas.microsoft.com/office/drawing/2014/main" id="{3C22222D-37D7-DAB6-0E76-6203780C1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you want the camera to orbit around another object instead of the origin, set the target to that object’s coordinates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Spherical Coordinates: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Azimuth: Horizontal Angle (left / right)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Polar: Vertical Angle (Up / Down)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Distance: Radius of the orbit.</a:t>
            </a:r>
            <a:endParaRPr b="1" dirty="0"/>
          </a:p>
        </p:txBody>
      </p:sp>
      <p:sp>
        <p:nvSpPr>
          <p:cNvPr id="132" name="Google Shape;132;p3:notes">
            <a:extLst>
              <a:ext uri="{FF2B5EF4-FFF2-40B4-BE49-F238E27FC236}">
                <a16:creationId xmlns:a16="http://schemas.microsoft.com/office/drawing/2014/main" id="{6D05285E-EA4C-5836-FC04-809E919F911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36FB1DAA-8CAB-4840-76B5-F2A6DABFF9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8332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833260C9-EFF2-05D2-4D6B-10022EAB7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>
            <a:extLst>
              <a:ext uri="{FF2B5EF4-FFF2-40B4-BE49-F238E27FC236}">
                <a16:creationId xmlns:a16="http://schemas.microsoft.com/office/drawing/2014/main" id="{2A3C2F6F-0700-A8F9-B4B4-F5EA11172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3:notes">
            <a:extLst>
              <a:ext uri="{FF2B5EF4-FFF2-40B4-BE49-F238E27FC236}">
                <a16:creationId xmlns:a16="http://schemas.microsoft.com/office/drawing/2014/main" id="{FE1F92B7-9D43-D921-49AA-9FC99B43D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you want the camera to orbit around another object instead of the origin, set the target to that object’s coordinates</a:t>
            </a:r>
            <a:endParaRPr dirty="0"/>
          </a:p>
        </p:txBody>
      </p:sp>
      <p:sp>
        <p:nvSpPr>
          <p:cNvPr id="132" name="Google Shape;132;p3:notes">
            <a:extLst>
              <a:ext uri="{FF2B5EF4-FFF2-40B4-BE49-F238E27FC236}">
                <a16:creationId xmlns:a16="http://schemas.microsoft.com/office/drawing/2014/main" id="{FF51F3A8-8EA0-F9BF-F15C-AB1FE4F365A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3D376CE2-6643-3104-ADD0-3D63D31289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7935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869C29C0-1EDE-E6EB-A583-B639F9CEC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>
            <a:extLst>
              <a:ext uri="{FF2B5EF4-FFF2-40B4-BE49-F238E27FC236}">
                <a16:creationId xmlns:a16="http://schemas.microsoft.com/office/drawing/2014/main" id="{32318B2D-C694-E16D-1FC9-D908E9E9F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2AD9BA31-65E1-72B9-A96D-C2EE81F91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7BA5CB-CDB3-3636-B010-D750980B3C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5442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D4B0853-2A0C-7925-FC43-2DBDB03A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>
            <a:extLst>
              <a:ext uri="{FF2B5EF4-FFF2-40B4-BE49-F238E27FC236}">
                <a16:creationId xmlns:a16="http://schemas.microsoft.com/office/drawing/2014/main" id="{3A4A1BCD-0B76-52F4-37FA-88380E0445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4A19B633-43CB-AF03-7407-6B8DC8ABD5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Every time you move a joint, Three.js recomputes these 4x4 matrices for every child in the tree. This is why nested groups are so powerful for Robot Rigs</a:t>
            </a:r>
            <a:endParaRPr dirty="0"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EA937228-A2B1-856F-5427-6A427C52CD9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C14DBE39-69BC-1EBD-6F82-D4D16F968F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051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893BF7E-7958-DB0E-085E-98ED15C8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>
            <a:extLst>
              <a:ext uri="{FF2B5EF4-FFF2-40B4-BE49-F238E27FC236}">
                <a16:creationId xmlns:a16="http://schemas.microsoft.com/office/drawing/2014/main" id="{4977649D-7342-A3AE-B9CC-ED5AE7FB5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C5F964A8-1552-859A-AF87-1899193EC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Interpolation converts "Data" into "Experience".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Interpolation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dựa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trên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bài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toán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khớp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đường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cong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(curve fitting)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spline interpolation.</a:t>
            </a:r>
            <a:endParaRPr dirty="0"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18B912F1-8C72-692F-75EB-AE19D4A3DE9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644EF793-A610-BD81-6BBA-4250BF30B2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0116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647D2C11-033D-70F1-1B13-A0D10206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>
            <a:extLst>
              <a:ext uri="{FF2B5EF4-FFF2-40B4-BE49-F238E27FC236}">
                <a16:creationId xmlns:a16="http://schemas.microsoft.com/office/drawing/2014/main" id="{D8E3B16D-BF13-6EAD-FC05-CD0180646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BA40CEBF-D816-7C8C-EF45-B0BFC702F7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Interpolation converts "Data" into "Experience".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Interpolation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dựa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trên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bài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toán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khớp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đường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cong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(curve fitting)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spline interpolation.</a:t>
            </a:r>
            <a:endParaRPr dirty="0"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E1664CA6-A867-1FF4-7F23-97A63FBE506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768ABB3D-6929-A147-A709-70323887F0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39087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0BFEA765-C8E5-08F6-03B3-649BF6413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>
            <a:extLst>
              <a:ext uri="{FF2B5EF4-FFF2-40B4-BE49-F238E27FC236}">
                <a16:creationId xmlns:a16="http://schemas.microsoft.com/office/drawing/2014/main" id="{67135A92-5661-353C-87A0-33C6A4868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E7E20B84-E249-562D-77D2-CFA4B991D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6DAE9B-FCBB-95AE-EAF4-9861E9462B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6859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3B2C784-9CAD-71FD-4598-5826A4FB5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>
            <a:extLst>
              <a:ext uri="{FF2B5EF4-FFF2-40B4-BE49-F238E27FC236}">
                <a16:creationId xmlns:a16="http://schemas.microsoft.com/office/drawing/2014/main" id="{B31781EB-B824-34A4-7137-40CE4BAB1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3:notes">
            <a:extLst>
              <a:ext uri="{FF2B5EF4-FFF2-40B4-BE49-F238E27FC236}">
                <a16:creationId xmlns:a16="http://schemas.microsoft.com/office/drawing/2014/main" id="{BD095EAB-923D-4A69-EED9-52512783C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3:notes">
            <a:extLst>
              <a:ext uri="{FF2B5EF4-FFF2-40B4-BE49-F238E27FC236}">
                <a16:creationId xmlns:a16="http://schemas.microsoft.com/office/drawing/2014/main" id="{C778DBB4-D8FD-C660-3374-3649FAB3D5C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03BD98DD-1BDB-5B3A-C702-C4D3B8F78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688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0"/>
          <p:cNvSpPr txBox="1"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sldNum" idx="12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3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30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95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30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30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sldNum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1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" name="Google Shape;35;p31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dt" idx="10"/>
          </p:nvPr>
        </p:nvSpPr>
        <p:spPr>
          <a:xfrm>
            <a:off x="609600" y="6353304"/>
            <a:ext cx="2289048" cy="36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sldNum" idx="12"/>
          </p:nvPr>
        </p:nvSpPr>
        <p:spPr>
          <a:xfrm>
            <a:off x="6705600" y="6356340"/>
            <a:ext cx="1981200" cy="34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36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9" name="Google Shape;69;p3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sz="2000" b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body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3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7" name="Google Shape;77;p37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8" name="Google Shape;78;p3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37"/>
          <p:cNvSpPr txBox="1">
            <a:spLocks noGrp="1"/>
          </p:cNvSpPr>
          <p:nvPr>
            <p:ph type="body" idx="2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8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sz="2000" b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>
            <a:spLocks noGrp="1"/>
          </p:cNvSpPr>
          <p:nvPr>
            <p:ph type="pic" idx="2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3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marL="914400" lvl="1" indent="-286512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marL="1371600" lvl="2" indent="-27686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marL="1828800" lvl="3" indent="-268605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marL="2286000" lvl="4" indent="-268604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3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8" name="Google Shape;88;p3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38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9"/>
          <p:cNvSpPr txBox="1">
            <a:spLocks noGrp="1"/>
          </p:cNvSpPr>
          <p:nvPr>
            <p:ph type="body" idx="1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93" name="Google Shape;93;p39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4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3" name="Google Shape;103;p4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40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2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" name="Google Shape;16;p29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7" name="Google Shape;17;p2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ctrTitle"/>
          </p:nvPr>
        </p:nvSpPr>
        <p:spPr>
          <a:xfrm>
            <a:off x="1219200" y="3886200"/>
            <a:ext cx="6934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3000"/>
            </a:pPr>
            <a:r>
              <a:rPr lang="en-US" sz="3000" dirty="0"/>
              <a:t>CTE 2059 - Computer Graphic</a:t>
            </a:r>
            <a:br>
              <a:rPr lang="en-US" sz="3000" dirty="0"/>
            </a:br>
            <a:r>
              <a:rPr lang="en-US" sz="3000" dirty="0"/>
              <a:t>Lecture 3 – Camera &amp; Animations</a:t>
            </a:r>
            <a:endParaRPr sz="3000" dirty="0"/>
          </a:p>
        </p:txBody>
      </p:sp>
      <p:sp>
        <p:nvSpPr>
          <p:cNvPr id="112" name="Google Shape;112;p1"/>
          <p:cNvSpPr txBox="1">
            <a:spLocks noGrp="1"/>
          </p:cNvSpPr>
          <p:nvPr>
            <p:ph type="subTitle" idx="1"/>
          </p:nvPr>
        </p:nvSpPr>
        <p:spPr>
          <a:xfrm>
            <a:off x="1143000" y="5029200"/>
            <a:ext cx="7086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University of Engineering and Technology</a:t>
            </a:r>
          </a:p>
          <a:p>
            <a:pPr marL="0" lvl="0" indent="0"/>
            <a:r>
              <a:rPr lang="en-US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VIETNAM NATIONAL UNIVERSITY, HANOI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848204ce3_0_9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19" name="Google Shape;119;g38848204ce3_0_9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sz="2400" b="1" dirty="0"/>
              <a:t>Getting Started</a:t>
            </a:r>
          </a:p>
          <a:p>
            <a:pPr lvl="1">
              <a:spcBef>
                <a:spcPts val="0"/>
              </a:spcBef>
            </a:pPr>
            <a:r>
              <a:rPr lang="en-US" sz="2100" dirty="0"/>
              <a:t>Installation</a:t>
            </a:r>
          </a:p>
          <a:p>
            <a:pPr lvl="1">
              <a:spcBef>
                <a:spcPts val="0"/>
              </a:spcBef>
            </a:pPr>
            <a:r>
              <a:rPr lang="en-US" sz="2100" dirty="0"/>
              <a:t>How to use the studio?</a:t>
            </a:r>
          </a:p>
          <a:p>
            <a:pPr marL="457200" lvl="0" indent="-315468" algn="l" rtl="0"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en-US" sz="2400" b="1" dirty="0"/>
              <a:t>Camera &amp; Orbit Controls</a:t>
            </a:r>
          </a:p>
          <a:p>
            <a:pPr lvl="1">
              <a:spcBef>
                <a:spcPts val="0"/>
              </a:spcBef>
            </a:pPr>
            <a:r>
              <a:rPr lang="en-US" sz="2100" dirty="0"/>
              <a:t>Perspective Camera</a:t>
            </a:r>
          </a:p>
          <a:p>
            <a:pPr lvl="1">
              <a:spcBef>
                <a:spcPts val="0"/>
              </a:spcBef>
            </a:pPr>
            <a:r>
              <a:rPr lang="en-US" sz="2100" dirty="0"/>
              <a:t>Multi-View Technique</a:t>
            </a:r>
          </a:p>
          <a:p>
            <a:pPr lvl="1">
              <a:spcBef>
                <a:spcPts val="0"/>
              </a:spcBef>
            </a:pPr>
            <a:r>
              <a:rPr lang="en-US" sz="2100" dirty="0"/>
              <a:t>Orbit Controls</a:t>
            </a:r>
          </a:p>
          <a:p>
            <a:pPr marL="457200" lvl="0" indent="-315468" algn="l" rtl="0"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en-US" sz="2400" b="1" dirty="0"/>
              <a:t>Animations</a:t>
            </a:r>
          </a:p>
          <a:p>
            <a:pPr lvl="1">
              <a:spcBef>
                <a:spcPts val="0"/>
              </a:spcBef>
            </a:pPr>
            <a:r>
              <a:rPr lang="en-US" sz="2100" dirty="0"/>
              <a:t>Hierarchy</a:t>
            </a:r>
          </a:p>
          <a:p>
            <a:pPr lvl="1">
              <a:spcBef>
                <a:spcPts val="0"/>
              </a:spcBef>
            </a:pPr>
            <a:r>
              <a:rPr lang="en-US" sz="2100" dirty="0"/>
              <a:t>Keyframes</a:t>
            </a:r>
          </a:p>
          <a:p>
            <a:pPr lvl="1">
              <a:spcBef>
                <a:spcPts val="0"/>
              </a:spcBef>
            </a:pPr>
            <a:r>
              <a:rPr lang="en-US" sz="2100" dirty="0"/>
              <a:t>Interpolation</a:t>
            </a:r>
          </a:p>
          <a:p>
            <a:pPr marL="457200" marR="0" lvl="0" indent="-31546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en-US" sz="2400" b="1" dirty="0"/>
              <a:t>Hands-On Activity</a:t>
            </a:r>
            <a:endParaRPr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317003-EBEA-9A4F-45E5-043B1E3A52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B71CDE8D-0AB8-F4B6-B5DC-B89DBC4D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6A082B44-AD99-4326-7163-8925182B5D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Getting Started</a:t>
            </a:r>
            <a:endParaRPr dirty="0"/>
          </a:p>
        </p:txBody>
      </p:sp>
      <p:sp>
        <p:nvSpPr>
          <p:cNvPr id="126" name="Google Shape;126;p2">
            <a:extLst>
              <a:ext uri="{FF2B5EF4-FFF2-40B4-BE49-F238E27FC236}">
                <a16:creationId xmlns:a16="http://schemas.microsoft.com/office/drawing/2014/main" id="{9BAD3AD8-3231-B169-F538-D9951DEF3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520"/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A1DE5-9444-E256-9F4D-E48C5397AD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7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F039324-9B43-F2AE-67CB-56B64C79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B873D605-D0F4-2EDD-C5A3-524CF60AC7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Installation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969670E5-13A2-54B5-2689-3C5565386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Open </a:t>
            </a:r>
            <a:r>
              <a:rPr lang="en-US" sz="2000" b="1" dirty="0" err="1"/>
              <a:t>VSCode</a:t>
            </a:r>
            <a:r>
              <a:rPr lang="en-US" sz="2000" b="1" dirty="0"/>
              <a:t> and create a new folder</a:t>
            </a:r>
          </a:p>
          <a:p>
            <a:pPr lvl="0" indent="-45720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Download the source code for Lecture 3 from the UET Portal</a:t>
            </a:r>
            <a:endParaRPr lang="en-US" sz="2000" dirty="0"/>
          </a:p>
          <a:p>
            <a:pPr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Run the source code. You should see a webpage that mimics a filming studio: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20C1D-0606-742F-EADA-2FC1C52EA1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8BF19-9D44-3405-B5EC-5A67E620F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862" y="3429000"/>
            <a:ext cx="5322277" cy="282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278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844001A6-F5D3-CF35-C98A-62E09CF46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3F12B326-3893-4D9C-75F9-5AD7E9539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How to use the studio?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5D451120-AE0E-770C-43E2-A76D0FF41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dirty="0"/>
              <a:t>In this lesson, you will take on the role of a visual director on a film set.</a:t>
            </a:r>
          </a:p>
          <a:p>
            <a:pPr lvl="0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Your film set includes:</a:t>
            </a:r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dirty="0"/>
              <a:t>An object at the center</a:t>
            </a:r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dirty="0"/>
              <a:t>A motion control camera system (i.e., a camera mounted on a robot arm)</a:t>
            </a:r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dirty="0"/>
              <a:t>A lighting system (similar to the lighting system in Lecture 2)</a:t>
            </a:r>
          </a:p>
          <a:p>
            <a:pPr lvl="0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700" b="1" dirty="0"/>
              <a:t>Motion Control Camera System with 2 helper modules:</a:t>
            </a:r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dirty="0"/>
              <a:t>Robot Rig Controller: manually adjusts the robot’s motion</a:t>
            </a:r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dirty="0"/>
              <a:t>Sequence Manager: automatically adjust the robot based on a predefined set of motions</a:t>
            </a:r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dirty="0"/>
              <a:t>You can add/delete/export/import/record any sequence of animations. </a:t>
            </a:r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endParaRPr lang="en-US" sz="1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D926D4-154D-7B41-8784-1897CDDF4C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139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162E1F2C-9BE9-8CAC-89EB-F8BDB7BD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43A76676-F320-09E4-2DE2-2284B72B1A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Camera &amp; Orbit Controls</a:t>
            </a:r>
            <a:endParaRPr dirty="0"/>
          </a:p>
        </p:txBody>
      </p:sp>
      <p:sp>
        <p:nvSpPr>
          <p:cNvPr id="126" name="Google Shape;126;p2">
            <a:extLst>
              <a:ext uri="{FF2B5EF4-FFF2-40B4-BE49-F238E27FC236}">
                <a16:creationId xmlns:a16="http://schemas.microsoft.com/office/drawing/2014/main" id="{C99817BA-0228-E677-E1DB-C013207F1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520"/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0ADD3-4B1F-0BCB-8818-09EA4E24F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00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04A03E73-2E20-BB2B-8612-AF237E9D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E19B58B9-92D7-3C44-B6C0-BFB7D00AD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Perspective Camera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4A715CEF-CB87-C12A-00EA-D438574FF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19199"/>
            <a:ext cx="6434920" cy="384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dirty="0"/>
              <a:t>The most common camera in three.js and the one we’ve been using so far.</a:t>
            </a:r>
          </a:p>
          <a:p>
            <a:pPr lvl="0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dirty="0"/>
              <a:t>A perspective camera simulates a real lens through the concept of a frustum:</a:t>
            </a:r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700" b="1" dirty="0"/>
              <a:t>FOV (Field of View): </a:t>
            </a:r>
            <a:r>
              <a:rPr lang="en-US" sz="1700" dirty="0"/>
              <a:t>The vertical angle of the pyramid. </a:t>
            </a:r>
          </a:p>
          <a:p>
            <a:pPr marL="914400" lvl="2" indent="0" algn="ctr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None/>
            </a:pPr>
            <a:r>
              <a:rPr lang="en-US" sz="1800" dirty="0"/>
              <a:t>Smaller FOV = Larger Focal Length = Zoom In</a:t>
            </a:r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700" b="1" dirty="0"/>
              <a:t>Aspect Ratio: </a:t>
            </a:r>
            <a:r>
              <a:rPr lang="en-US" sz="1700" dirty="0"/>
              <a:t>Set to match the canvas width/height to prevent stretching.</a:t>
            </a:r>
            <a:endParaRPr lang="en-US" sz="1700" b="1" dirty="0"/>
          </a:p>
          <a:p>
            <a:pPr lvl="1" indent="-457200" algn="just">
              <a:lnSpc>
                <a:spcPct val="15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700" b="1" dirty="0"/>
              <a:t>Near / Far Plane: </a:t>
            </a:r>
            <a:r>
              <a:rPr lang="en-US" sz="1700" dirty="0"/>
              <a:t>The minimum and maximum distance. Prevents rendering unnecessary objects =&gt; More performance.</a:t>
            </a:r>
            <a:endParaRPr lang="en-US" sz="1700" b="1" dirty="0"/>
          </a:p>
          <a:p>
            <a:pPr marL="0" lvl="0" indent="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None/>
            </a:pPr>
            <a:endParaRPr lang="en-US" sz="20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C6CC0-5C99-937F-D6E1-9DA576FC82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BBEBCF-AA3E-1DD0-102B-BA919CE33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120" y="1280952"/>
            <a:ext cx="2128886" cy="206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4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485E7895-3F81-0ED1-2AAC-8A7E04F81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EFB5FD9F-ADB7-41EC-47FF-08ED69C677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557146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Multi-View Technique (Picture-in-Picture)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A2750698-D0AC-26F6-5984-714F28FD8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199" y="1219199"/>
            <a:ext cx="8274425" cy="4990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None/>
            </a:pPr>
            <a:r>
              <a:rPr lang="en-US" sz="2000" b="1" dirty="0"/>
              <a:t>Viewport:</a:t>
            </a:r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dirty="0"/>
              <a:t>Viewport is a rectangular area on the </a:t>
            </a:r>
            <a:r>
              <a:rPr lang="en-US" sz="1600" b="1" dirty="0"/>
              <a:t>canvas </a:t>
            </a:r>
            <a:r>
              <a:rPr lang="en-US" sz="1600" dirty="0"/>
              <a:t>where WebGL projects and renders the camera’s view.</a:t>
            </a:r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b="1" dirty="0"/>
              <a:t>Coordinate system: </a:t>
            </a:r>
            <a:r>
              <a:rPr lang="en-US" sz="1600" dirty="0"/>
              <a:t>Measured from the </a:t>
            </a:r>
            <a:r>
              <a:rPr lang="en-US" sz="1600" b="1" dirty="0"/>
              <a:t>bottom-left </a:t>
            </a:r>
            <a:r>
              <a:rPr lang="en-US" sz="1600" dirty="0"/>
              <a:t>of the canvas. </a:t>
            </a:r>
          </a:p>
          <a:p>
            <a:pPr lvl="1" indent="-457200" algn="just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b="1" i="1" dirty="0"/>
              <a:t>x, y</a:t>
            </a:r>
            <a:r>
              <a:rPr lang="en-US" sz="1600" dirty="0"/>
              <a:t> are the start coordinates; </a:t>
            </a:r>
            <a:r>
              <a:rPr lang="en-US" sz="1600" b="1" i="1" dirty="0"/>
              <a:t>w, h</a:t>
            </a:r>
            <a:r>
              <a:rPr lang="en-US" sz="1600" dirty="0"/>
              <a:t> are width and height </a:t>
            </a:r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b="1" dirty="0"/>
              <a:t>When to use? </a:t>
            </a:r>
            <a:r>
              <a:rPr lang="en-US" sz="1600" dirty="0"/>
              <a:t>When you want to render multiple camera windows on the same canvas (e.g., split-screen, mini-map, pic-in-pic).</a:t>
            </a:r>
          </a:p>
          <a:p>
            <a:pPr marL="0" lvl="0" indent="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None/>
            </a:pPr>
            <a:r>
              <a:rPr lang="en-US" sz="2000" b="1" dirty="0"/>
              <a:t>Scissor Test:</a:t>
            </a:r>
            <a:endParaRPr lang="en-US" sz="1600" b="1" dirty="0"/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dirty="0"/>
              <a:t>The scissor test is a pixel clipping mechanism, it only allows color writes for pixels </a:t>
            </a:r>
            <a:r>
              <a:rPr lang="en-US" sz="1600" b="1" dirty="0"/>
              <a:t>inside </a:t>
            </a:r>
            <a:r>
              <a:rPr lang="en-US" sz="1600" dirty="0"/>
              <a:t>the scissor rectangle, pixels outside are ignored.</a:t>
            </a:r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b="1" dirty="0"/>
              <a:t>When to use? </a:t>
            </a:r>
            <a:r>
              <a:rPr lang="en-US" sz="1600" dirty="0"/>
              <a:t>Use scissor to protect regions from being overwritten (e.g., UI overlays) or to optimize rendering when drawing multiple views on a single canvas.</a:t>
            </a:r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endParaRPr 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B599AF-7992-FD67-80E6-FF42457BE7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8B0B53F-1A32-71B1-3514-235BEE022D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2497015" cy="249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DCEFA061-4205-2376-10E7-59EE7E59B5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36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C10566F4-656C-1534-2DE2-5C7100EF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5AF0984A-536F-4642-FA0C-60E65BB92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557146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Multi-View Technique (Picture-in-Picture)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83E13F09-E213-3252-E094-86F43ADA5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199" y="1219199"/>
            <a:ext cx="3361765" cy="4990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b="1" dirty="0"/>
              <a:t>Viewport </a:t>
            </a:r>
            <a:r>
              <a:rPr lang="en-US" sz="1600" dirty="0"/>
              <a:t>and </a:t>
            </a:r>
            <a:r>
              <a:rPr lang="en-US" sz="1600" b="1" dirty="0"/>
              <a:t>Scissor </a:t>
            </a:r>
            <a:r>
              <a:rPr lang="en-US" sz="1600" dirty="0"/>
              <a:t>are used inside the animate function (render loop) because the are part of the </a:t>
            </a:r>
            <a:r>
              <a:rPr lang="en-US" sz="1600" b="1" dirty="0"/>
              <a:t>per-frame rendering state </a:t>
            </a:r>
            <a:r>
              <a:rPr lang="en-US" sz="1600" dirty="0"/>
              <a:t>in WebGL.</a:t>
            </a:r>
            <a:r>
              <a:rPr lang="en-US" sz="1600" b="1" dirty="0"/>
              <a:t> </a:t>
            </a:r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b="1" dirty="0"/>
              <a:t>In this example:</a:t>
            </a:r>
            <a:endParaRPr lang="en-US" sz="1600" dirty="0"/>
          </a:p>
          <a:p>
            <a:pPr lvl="1" indent="-457200" algn="just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dirty="0"/>
              <a:t> The </a:t>
            </a:r>
            <a:r>
              <a:rPr lang="en-US" sz="1600" b="1" dirty="0"/>
              <a:t>camera3P</a:t>
            </a:r>
            <a:r>
              <a:rPr lang="en-US" sz="1600" dirty="0"/>
              <a:t> scene is drawn normally.</a:t>
            </a:r>
          </a:p>
          <a:p>
            <a:pPr lvl="1" indent="-457200" algn="just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dirty="0"/>
              <a:t>The depth buffer is then cleared, so objects in </a:t>
            </a:r>
            <a:r>
              <a:rPr lang="en-US" sz="1600" b="1" dirty="0" err="1"/>
              <a:t>cameraPOV</a:t>
            </a:r>
            <a:r>
              <a:rPr lang="en-US" sz="1600" b="1" dirty="0"/>
              <a:t> </a:t>
            </a:r>
            <a:r>
              <a:rPr lang="en-US" sz="1600" dirty="0"/>
              <a:t>are not hidden behind objects from </a:t>
            </a:r>
            <a:r>
              <a:rPr lang="en-US" sz="1600" b="1" dirty="0"/>
              <a:t>camera3P.</a:t>
            </a:r>
          </a:p>
          <a:p>
            <a:pPr lvl="1" indent="-457200" algn="just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600" dirty="0"/>
              <a:t>The color buffer remains, so the overlay appears on top of the first render.</a:t>
            </a:r>
          </a:p>
          <a:p>
            <a:pPr marL="0" lvl="0" indent="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None/>
            </a:pPr>
            <a:endParaRPr 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04E693-6D26-9751-F822-A22EB0F1C2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8B58278-F465-0983-5855-C56B70C1C9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2497015" cy="249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548DA2A5-766F-F3A2-3D5B-B4481E30B2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077B4-65A8-7A3C-ABB4-BF22E09D4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310" y="1399552"/>
            <a:ext cx="5262690" cy="346583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FC688661-27E0-0FE2-4C90-652B8EAC307E}"/>
              </a:ext>
            </a:extLst>
          </p:cNvPr>
          <p:cNvSpPr/>
          <p:nvPr/>
        </p:nvSpPr>
        <p:spPr>
          <a:xfrm>
            <a:off x="3977341" y="5329635"/>
            <a:ext cx="567764" cy="281229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138;p3">
            <a:extLst>
              <a:ext uri="{FF2B5EF4-FFF2-40B4-BE49-F238E27FC236}">
                <a16:creationId xmlns:a16="http://schemas.microsoft.com/office/drawing/2014/main" id="{87767C82-0988-FCD6-4827-EBE2B31ECF51}"/>
              </a:ext>
            </a:extLst>
          </p:cNvPr>
          <p:cNvSpPr txBox="1">
            <a:spLocks/>
          </p:cNvSpPr>
          <p:nvPr/>
        </p:nvSpPr>
        <p:spPr>
          <a:xfrm>
            <a:off x="4703482" y="4955214"/>
            <a:ext cx="3361765" cy="125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546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546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546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35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35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 algn="just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Noto Sans Symbols"/>
              <a:buNone/>
            </a:pPr>
            <a:r>
              <a:rPr lang="en-US" sz="1600" dirty="0"/>
              <a:t>This is a common technique in three.js for </a:t>
            </a:r>
            <a:r>
              <a:rPr lang="en-US" sz="1600" b="1" dirty="0"/>
              <a:t>HUDs, selection boxes, or multi-scene rendering.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0309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28BE6710-A606-704A-C069-017AD017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5F1E9084-D41E-A43A-FF3B-B5DA02DD6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Orbit Controls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D4106201-1266-17BB-808B-4ABDA35DF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265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dirty="0"/>
              <a:t>Unlike moving the camera directly, </a:t>
            </a:r>
            <a:r>
              <a:rPr lang="en-US" sz="1800" b="1" dirty="0"/>
              <a:t>Orbit Controls </a:t>
            </a:r>
            <a:r>
              <a:rPr lang="en-US" sz="1800" dirty="0"/>
              <a:t>moves the camera on a </a:t>
            </a:r>
            <a:r>
              <a:rPr lang="en-US" sz="1800" b="1" dirty="0"/>
              <a:t>Spherical Path </a:t>
            </a:r>
            <a:r>
              <a:rPr lang="en-US" sz="1800" dirty="0"/>
              <a:t>around a specific point like a </a:t>
            </a:r>
            <a:r>
              <a:rPr lang="en-US" sz="1800" b="1" dirty="0"/>
              <a:t>Satellite</a:t>
            </a:r>
            <a:r>
              <a:rPr lang="en-US" sz="1800" dirty="0"/>
              <a:t>.</a:t>
            </a:r>
            <a:r>
              <a:rPr lang="en-US" sz="1800" b="1" dirty="0"/>
              <a:t> </a:t>
            </a:r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b="1" dirty="0"/>
              <a:t>Orbit Controls </a:t>
            </a:r>
            <a:r>
              <a:rPr lang="en-US" sz="1800" dirty="0"/>
              <a:t>keeps the camera’s “up” direction aligned with the positive Y-axis by default.</a:t>
            </a:r>
          </a:p>
          <a:p>
            <a:pPr indent="-457200" algn="just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dirty="0"/>
              <a:t>The </a:t>
            </a:r>
            <a:r>
              <a:rPr lang="en-US" sz="1800" b="1" dirty="0"/>
              <a:t>target </a:t>
            </a:r>
            <a:r>
              <a:rPr lang="en-US" sz="1800" dirty="0"/>
              <a:t>property determines where the camera is looking – defaulted to (0,0,0).</a:t>
            </a:r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C99F15-42D1-A81E-6AC8-FC30002E71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3F3A444-8A06-9203-494C-51295FC72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2497015" cy="249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1C1E5066-5E24-95D0-9E30-FC74A9F945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Google Shape;149;p4">
            <a:extLst>
              <a:ext uri="{FF2B5EF4-FFF2-40B4-BE49-F238E27FC236}">
                <a16:creationId xmlns:a16="http://schemas.microsoft.com/office/drawing/2014/main" id="{FB6B130B-DAD8-BD2B-88F2-02C23A4D76CC}"/>
              </a:ext>
            </a:extLst>
          </p:cNvPr>
          <p:cNvSpPr txBox="1">
            <a:spLocks/>
          </p:cNvSpPr>
          <p:nvPr/>
        </p:nvSpPr>
        <p:spPr>
          <a:xfrm>
            <a:off x="541361" y="5085311"/>
            <a:ext cx="8229600" cy="1518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546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546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546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35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35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 algn="just">
              <a:spcBef>
                <a:spcPts val="0"/>
              </a:spcBef>
              <a:buSzPts val="1976"/>
              <a:buFont typeface="Noto Sans Symbols"/>
              <a:buNone/>
            </a:pPr>
            <a:r>
              <a:rPr lang="en-US" sz="2000" b="1" dirty="0"/>
              <a:t>Possible User Inputs:</a:t>
            </a:r>
          </a:p>
          <a:p>
            <a:pPr indent="-457200" algn="just">
              <a:spcBef>
                <a:spcPts val="0"/>
              </a:spcBef>
              <a:buSzPts val="1976"/>
              <a:buFont typeface="+mj-lt"/>
              <a:buAutoNum type="arabicPeriod"/>
            </a:pPr>
            <a:r>
              <a:rPr lang="en-US" sz="2000" b="1" dirty="0"/>
              <a:t>Left Click: </a:t>
            </a:r>
            <a:r>
              <a:rPr lang="en-US" sz="2000" dirty="0"/>
              <a:t>Changes Azimuth (horizontal) and Polar (vertical) angles.</a:t>
            </a:r>
            <a:endParaRPr lang="en-US" sz="2000" b="1" dirty="0"/>
          </a:p>
          <a:p>
            <a:pPr indent="-457200" algn="just">
              <a:spcBef>
                <a:spcPts val="0"/>
              </a:spcBef>
              <a:buSzPts val="1976"/>
              <a:buFont typeface="+mj-lt"/>
              <a:buAutoNum type="arabicPeriod"/>
            </a:pPr>
            <a:r>
              <a:rPr lang="en-US" sz="2000" b="1" dirty="0"/>
              <a:t>Right Click: </a:t>
            </a:r>
            <a:r>
              <a:rPr lang="en-US" sz="2000" dirty="0"/>
              <a:t>Shifts the target (Panning).</a:t>
            </a:r>
          </a:p>
          <a:p>
            <a:pPr indent="-457200" algn="just">
              <a:spcBef>
                <a:spcPts val="0"/>
              </a:spcBef>
              <a:buSzPts val="1976"/>
              <a:buFont typeface="+mj-lt"/>
              <a:buAutoNum type="arabicPeriod"/>
            </a:pPr>
            <a:r>
              <a:rPr lang="en-US" sz="2000" b="1" dirty="0"/>
              <a:t>Scroll</a:t>
            </a:r>
            <a:r>
              <a:rPr lang="en-US" sz="2000" dirty="0"/>
              <a:t>: Changes the distance (Radius) from the target.</a:t>
            </a:r>
            <a:endParaRPr lang="en-US" sz="2000" b="1" dirty="0"/>
          </a:p>
        </p:txBody>
      </p:sp>
      <p:sp>
        <p:nvSpPr>
          <p:cNvPr id="8" name="Google Shape;149;p4">
            <a:extLst>
              <a:ext uri="{FF2B5EF4-FFF2-40B4-BE49-F238E27FC236}">
                <a16:creationId xmlns:a16="http://schemas.microsoft.com/office/drawing/2014/main" id="{D3ADAF38-B0C0-182E-00A3-D16F313FE49E}"/>
              </a:ext>
            </a:extLst>
          </p:cNvPr>
          <p:cNvSpPr txBox="1">
            <a:spLocks/>
          </p:cNvSpPr>
          <p:nvPr/>
        </p:nvSpPr>
        <p:spPr>
          <a:xfrm>
            <a:off x="457200" y="3875963"/>
            <a:ext cx="8229600" cy="80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546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546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546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35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35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 algn="just">
              <a:spcBef>
                <a:spcPts val="0"/>
              </a:spcBef>
              <a:buSzPts val="1976"/>
              <a:buFont typeface="Noto Sans Symbols"/>
              <a:buNone/>
            </a:pP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59B4FA-B61B-A3BB-CCCE-FEDC973FE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241" y="3637386"/>
            <a:ext cx="5989839" cy="1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5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FB38C1DE-3DC3-5A91-5F54-2310D9D6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2C6AA37F-DAA9-96E9-F505-E8ED8BCC47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Interaction Damping: Adding Weight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D758A366-01C1-8688-6103-B38C8B0E4B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199" y="1219199"/>
            <a:ext cx="4114801" cy="4990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b="1" dirty="0"/>
              <a:t>Damping </a:t>
            </a:r>
            <a:r>
              <a:rPr lang="en-US" sz="1800" dirty="0"/>
              <a:t>creates </a:t>
            </a:r>
            <a:r>
              <a:rPr lang="en-US" sz="1800" b="1" dirty="0"/>
              <a:t>Inertia. </a:t>
            </a:r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800" dirty="0"/>
              <a:t>When you stop moving the mouse, the camera slowly glides to a halt instead of stopping instantly.</a:t>
            </a:r>
            <a:endParaRPr lang="en-US" sz="1800" b="1" dirty="0"/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Why use it?</a:t>
            </a:r>
          </a:p>
          <a:p>
            <a:pPr lvl="1" indent="-457200" algn="just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700" dirty="0"/>
              <a:t>It makes the interface feel more natural, mimicking physical motion camera in action.</a:t>
            </a:r>
          </a:p>
          <a:p>
            <a:pPr indent="-457200" algn="just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Requirement</a:t>
            </a:r>
          </a:p>
          <a:p>
            <a:pPr lvl="1" indent="-457200" algn="just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700" dirty="0"/>
              <a:t>You </a:t>
            </a:r>
            <a:r>
              <a:rPr lang="en-US" sz="1700" b="1" dirty="0"/>
              <a:t>MUST </a:t>
            </a:r>
            <a:r>
              <a:rPr lang="en-US" sz="1700" dirty="0"/>
              <a:t>call </a:t>
            </a:r>
            <a:r>
              <a:rPr lang="en-US" sz="1700" dirty="0" err="1"/>
              <a:t>controls.update</a:t>
            </a:r>
            <a:r>
              <a:rPr lang="en-US" sz="1700" dirty="0"/>
              <a:t>() in the animation loop for damping to calculate frame-by-frame friction.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2EFFA7-1A98-3346-D46A-8F13C5F01C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EED24EA-D847-DABE-90A9-81E46EA4F4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2497015" cy="249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2184E155-6C7B-EE37-A92C-49422C2135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07AC7-5F6C-7F7C-DB2E-07DC2C68A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146871"/>
            <a:ext cx="4233917" cy="286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97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7065FD35-E86A-5FD5-06D1-1F1C4EE7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888B1380-106D-6975-2288-4CA700F15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Animations</a:t>
            </a:r>
            <a:endParaRPr dirty="0"/>
          </a:p>
        </p:txBody>
      </p:sp>
      <p:sp>
        <p:nvSpPr>
          <p:cNvPr id="126" name="Google Shape;126;p2">
            <a:extLst>
              <a:ext uri="{FF2B5EF4-FFF2-40B4-BE49-F238E27FC236}">
                <a16:creationId xmlns:a16="http://schemas.microsoft.com/office/drawing/2014/main" id="{79918B0D-05F7-92F4-7E62-FDBEEA155B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520"/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15D5C-24CE-371F-4CAA-0CA4AE30F5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2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EFA3F2-BD5A-3DD6-D03F-C9BCE081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B7C8CD70-088D-831A-6DE5-EF3205A5E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3200"/>
            </a:pPr>
            <a:r>
              <a:rPr lang="en-US" dirty="0"/>
              <a:t>Scene Graph Hierarchy</a:t>
            </a:r>
            <a:endParaRPr dirty="0"/>
          </a:p>
        </p:txBody>
      </p:sp>
      <p:sp>
        <p:nvSpPr>
          <p:cNvPr id="149" name="Google Shape;149;p4">
            <a:extLst>
              <a:ext uri="{FF2B5EF4-FFF2-40B4-BE49-F238E27FC236}">
                <a16:creationId xmlns:a16="http://schemas.microsoft.com/office/drawing/2014/main" id="{87B2506C-E709-1104-EF79-AC62B6CB1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0307" y="1205132"/>
            <a:ext cx="8229600" cy="426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rPr lang="en-US" sz="2000" dirty="0"/>
              <a:t>Our Robot uses a </a:t>
            </a:r>
            <a:r>
              <a:rPr lang="en-US" sz="2000" b="1" dirty="0"/>
              <a:t>Parent-Child Chain</a:t>
            </a:r>
            <a:r>
              <a:rPr lang="en-US" sz="2000" dirty="0"/>
              <a:t>.</a:t>
            </a:r>
            <a:r>
              <a:rPr lang="en-US" sz="2000" b="1" dirty="0"/>
              <a:t> </a:t>
            </a:r>
            <a:r>
              <a:rPr lang="en-US" sz="2000" dirty="0"/>
              <a:t>Transformations flow “downward”.</a:t>
            </a:r>
            <a:endParaRPr sz="2000" dirty="0"/>
          </a:p>
        </p:txBody>
      </p:sp>
      <p:sp>
        <p:nvSpPr>
          <p:cNvPr id="167" name="Google Shape;149;p4">
            <a:extLst>
              <a:ext uri="{FF2B5EF4-FFF2-40B4-BE49-F238E27FC236}">
                <a16:creationId xmlns:a16="http://schemas.microsoft.com/office/drawing/2014/main" id="{E8D53CC9-BE3C-635F-0926-6CD2D4722E5A}"/>
              </a:ext>
            </a:extLst>
          </p:cNvPr>
          <p:cNvSpPr txBox="1">
            <a:spLocks/>
          </p:cNvSpPr>
          <p:nvPr/>
        </p:nvSpPr>
        <p:spPr>
          <a:xfrm>
            <a:off x="457200" y="1631818"/>
            <a:ext cx="3530165" cy="228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546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546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546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35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35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 algn="just">
              <a:spcBef>
                <a:spcPts val="0"/>
              </a:spcBef>
              <a:buSzPts val="1976"/>
              <a:buFont typeface="Noto Sans Symbols"/>
              <a:buNone/>
            </a:pPr>
            <a:r>
              <a:rPr lang="en-US" sz="2000" b="1" dirty="0"/>
              <a:t>Hierarchy logic:</a:t>
            </a:r>
          </a:p>
          <a:p>
            <a:pPr indent="-457200" algn="just">
              <a:spcBef>
                <a:spcPts val="0"/>
              </a:spcBef>
              <a:buSzPts val="1976"/>
              <a:buFont typeface="+mj-lt"/>
              <a:buAutoNum type="arabicPeriod"/>
            </a:pPr>
            <a:r>
              <a:rPr lang="en-US" sz="2000" b="1" dirty="0"/>
              <a:t>Parent: </a:t>
            </a:r>
            <a:r>
              <a:rPr lang="en-US" sz="2000" dirty="0"/>
              <a:t>Pan Joint</a:t>
            </a:r>
          </a:p>
          <a:p>
            <a:pPr indent="-457200" algn="just">
              <a:spcBef>
                <a:spcPts val="0"/>
              </a:spcBef>
              <a:buSzPts val="1976"/>
              <a:buFont typeface="+mj-lt"/>
              <a:buAutoNum type="arabicPeriod"/>
            </a:pPr>
            <a:r>
              <a:rPr lang="en-US" sz="2000" b="1" dirty="0"/>
              <a:t>Child: </a:t>
            </a:r>
            <a:r>
              <a:rPr lang="en-US" sz="2000" dirty="0"/>
              <a:t>Lower Lift</a:t>
            </a:r>
          </a:p>
          <a:p>
            <a:pPr indent="-457200" algn="just">
              <a:spcBef>
                <a:spcPts val="0"/>
              </a:spcBef>
              <a:buSzPts val="1976"/>
              <a:buFont typeface="+mj-lt"/>
              <a:buAutoNum type="arabicPeriod"/>
            </a:pPr>
            <a:r>
              <a:rPr lang="en-US" sz="2000" dirty="0"/>
              <a:t>If Pan Joint rotates, the Lower Lift circles around the joint while maintaining its own rotation.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3514C-A5AF-574D-30FE-127A4049B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46647-10D3-2043-96C8-5BB74C987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974" y="1693950"/>
            <a:ext cx="4464742" cy="2018151"/>
          </a:xfrm>
          <a:prstGeom prst="rect">
            <a:avLst/>
          </a:prstGeom>
        </p:spPr>
      </p:pic>
      <p:sp>
        <p:nvSpPr>
          <p:cNvPr id="5" name="Google Shape;149;p4">
            <a:extLst>
              <a:ext uri="{FF2B5EF4-FFF2-40B4-BE49-F238E27FC236}">
                <a16:creationId xmlns:a16="http://schemas.microsoft.com/office/drawing/2014/main" id="{ED3268A7-03F5-8E97-19C8-05DA7D7EE130}"/>
              </a:ext>
            </a:extLst>
          </p:cNvPr>
          <p:cNvSpPr txBox="1">
            <a:spLocks/>
          </p:cNvSpPr>
          <p:nvPr/>
        </p:nvSpPr>
        <p:spPr>
          <a:xfrm>
            <a:off x="457200" y="3975174"/>
            <a:ext cx="8229600" cy="79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546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546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546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35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35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 algn="just">
              <a:spcBef>
                <a:spcPts val="0"/>
              </a:spcBef>
              <a:buSzPts val="1976"/>
              <a:buFont typeface="Noto Sans Symbols"/>
              <a:buNone/>
            </a:pPr>
            <a:r>
              <a:rPr lang="en-US" sz="2000" b="1" dirty="0"/>
              <a:t>Local Space vs. World Space</a:t>
            </a:r>
          </a:p>
          <a:p>
            <a:pPr marL="0" indent="0" algn="just">
              <a:spcBef>
                <a:spcPts val="0"/>
              </a:spcBef>
              <a:buSzPts val="1976"/>
              <a:buNone/>
            </a:pPr>
            <a:r>
              <a:rPr lang="en-US" sz="2000" dirty="0"/>
              <a:t>The </a:t>
            </a:r>
            <a:r>
              <a:rPr lang="en-US" sz="2000" b="1" dirty="0" err="1"/>
              <a:t>cameraPOV</a:t>
            </a:r>
            <a:r>
              <a:rPr lang="en-US" sz="2000" dirty="0"/>
              <a:t> doesn't need to know where the robot is; it only cares about its position on the head!</a:t>
            </a:r>
            <a:endParaRPr lang="en-US" sz="2000" b="1" dirty="0"/>
          </a:p>
        </p:txBody>
      </p:sp>
      <p:sp>
        <p:nvSpPr>
          <p:cNvPr id="6" name="Google Shape;149;p4">
            <a:extLst>
              <a:ext uri="{FF2B5EF4-FFF2-40B4-BE49-F238E27FC236}">
                <a16:creationId xmlns:a16="http://schemas.microsoft.com/office/drawing/2014/main" id="{FB8543D3-1F79-D1B4-71BA-DE968D613A0E}"/>
              </a:ext>
            </a:extLst>
          </p:cNvPr>
          <p:cNvSpPr txBox="1">
            <a:spLocks/>
          </p:cNvSpPr>
          <p:nvPr/>
        </p:nvSpPr>
        <p:spPr>
          <a:xfrm>
            <a:off x="457200" y="4630364"/>
            <a:ext cx="8111516" cy="228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546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546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546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35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35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 algn="just">
              <a:spcBef>
                <a:spcPts val="0"/>
              </a:spcBef>
              <a:buSzPts val="1976"/>
              <a:buFont typeface="Noto Sans Symbols"/>
              <a:buNone/>
            </a:pPr>
            <a:endParaRPr lang="en-US" sz="2000" b="1" dirty="0"/>
          </a:p>
          <a:p>
            <a:pPr indent="-457200" algn="just">
              <a:spcBef>
                <a:spcPts val="0"/>
              </a:spcBef>
              <a:buSzPts val="1976"/>
              <a:buFont typeface="+mj-lt"/>
              <a:buAutoNum type="arabicPeriod"/>
            </a:pPr>
            <a:r>
              <a:rPr lang="en-US" sz="2000" b="1" dirty="0"/>
              <a:t>Local Space: </a:t>
            </a:r>
            <a:r>
              <a:rPr lang="en-US" sz="2000" dirty="0"/>
              <a:t>coordinates relative to the direct parent.</a:t>
            </a:r>
          </a:p>
          <a:p>
            <a:pPr indent="-457200" algn="just">
              <a:spcBef>
                <a:spcPts val="0"/>
              </a:spcBef>
              <a:buSzPts val="1976"/>
              <a:buFont typeface="+mj-lt"/>
              <a:buAutoNum type="arabicPeriod"/>
            </a:pPr>
            <a:r>
              <a:rPr lang="en-US" sz="2000" b="1" dirty="0"/>
              <a:t>World Space: </a:t>
            </a:r>
            <a:r>
              <a:rPr lang="en-US" sz="2000" dirty="0"/>
              <a:t>coordinates relative to (0,0,0) of the Scene.</a:t>
            </a:r>
          </a:p>
          <a:p>
            <a:pPr indent="-457200" algn="just">
              <a:spcBef>
                <a:spcPts val="0"/>
              </a:spcBef>
              <a:buSzPts val="1976"/>
              <a:buFont typeface="+mj-lt"/>
              <a:buAutoNum type="arabicPeriod"/>
            </a:pPr>
            <a:r>
              <a:rPr lang="en-US" sz="2000" dirty="0"/>
              <a:t>Three.js objects have </a:t>
            </a:r>
            <a:r>
              <a:rPr lang="en-US" sz="2000" dirty="0" err="1"/>
              <a:t>matrixWorld</a:t>
            </a:r>
            <a:r>
              <a:rPr lang="en-US" sz="2000" dirty="0"/>
              <a:t> property:</a:t>
            </a:r>
          </a:p>
          <a:p>
            <a:pPr marL="457200" lvl="1" indent="0" algn="just">
              <a:spcBef>
                <a:spcPts val="0"/>
              </a:spcBef>
              <a:buSzPts val="1976"/>
              <a:buNone/>
            </a:pPr>
            <a:r>
              <a:rPr lang="en-US" sz="1700" dirty="0" err="1"/>
              <a:t>M_world</a:t>
            </a:r>
            <a:r>
              <a:rPr lang="en-US" sz="1700" dirty="0"/>
              <a:t> = </a:t>
            </a:r>
            <a:r>
              <a:rPr lang="en-US" sz="1700" dirty="0" err="1"/>
              <a:t>M_parent_world</a:t>
            </a:r>
            <a:r>
              <a:rPr lang="en-US" sz="1700" dirty="0"/>
              <a:t> * </a:t>
            </a:r>
            <a:r>
              <a:rPr lang="en-US" sz="1700" dirty="0" err="1"/>
              <a:t>M_child_local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16089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5981A7E8-1A37-EE9B-ABC5-E65D16A3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D4E64FE6-897E-56B1-404E-AA8CE8AA18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3200"/>
            </a:pPr>
            <a:r>
              <a:rPr lang="en-US" dirty="0"/>
              <a:t>Keyframes</a:t>
            </a:r>
            <a:endParaRPr dirty="0"/>
          </a:p>
        </p:txBody>
      </p:sp>
      <p:sp>
        <p:nvSpPr>
          <p:cNvPr id="149" name="Google Shape;149;p4">
            <a:extLst>
              <a:ext uri="{FF2B5EF4-FFF2-40B4-BE49-F238E27FC236}">
                <a16:creationId xmlns:a16="http://schemas.microsoft.com/office/drawing/2014/main" id="{D545865C-0891-16B1-5B42-D6C0D478D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0307" y="1205132"/>
            <a:ext cx="8229600" cy="78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rPr lang="en-US" sz="2000" dirty="0"/>
              <a:t>A </a:t>
            </a:r>
            <a:r>
              <a:rPr lang="en-US" sz="2000" b="1" dirty="0"/>
              <a:t>Keyframe </a:t>
            </a:r>
            <a:r>
              <a:rPr lang="en-US" sz="2000" dirty="0"/>
              <a:t>is a snapshot of all mutable states of the robot rig at a specific “checkpoint”</a:t>
            </a:r>
            <a:endParaRPr sz="2000" dirty="0"/>
          </a:p>
        </p:txBody>
      </p:sp>
      <p:sp>
        <p:nvSpPr>
          <p:cNvPr id="167" name="Google Shape;149;p4">
            <a:extLst>
              <a:ext uri="{FF2B5EF4-FFF2-40B4-BE49-F238E27FC236}">
                <a16:creationId xmlns:a16="http://schemas.microsoft.com/office/drawing/2014/main" id="{895FD577-3624-F372-01DE-CE1D88C55A40}"/>
              </a:ext>
            </a:extLst>
          </p:cNvPr>
          <p:cNvSpPr txBox="1">
            <a:spLocks/>
          </p:cNvSpPr>
          <p:nvPr/>
        </p:nvSpPr>
        <p:spPr>
          <a:xfrm>
            <a:off x="457200" y="2030211"/>
            <a:ext cx="2919913" cy="144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546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546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546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35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35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 algn="just">
              <a:spcBef>
                <a:spcPts val="0"/>
              </a:spcBef>
              <a:buSzPts val="1976"/>
              <a:buFont typeface="Noto Sans Symbols"/>
              <a:buNone/>
            </a:pPr>
            <a:r>
              <a:rPr lang="en-US" sz="2000" dirty="0"/>
              <a:t>The goal of animation is to transition between keyframe </a:t>
            </a:r>
            <a:r>
              <a:rPr lang="en-US" sz="2000" b="1" dirty="0" err="1"/>
              <a:t>i</a:t>
            </a:r>
            <a:r>
              <a:rPr lang="en-US" sz="2000" dirty="0"/>
              <a:t> and </a:t>
            </a:r>
            <a:r>
              <a:rPr lang="en-US" sz="2000" b="1" dirty="0"/>
              <a:t>i+1 </a:t>
            </a:r>
            <a:r>
              <a:rPr lang="en-US" sz="2000" dirty="0"/>
              <a:t>over time.</a:t>
            </a:r>
            <a:r>
              <a:rPr lang="en-US" sz="2000" b="1" dirty="0"/>
              <a:t> 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A2D1E-6943-6DD0-DF38-8C88B65184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6AEF9F-E798-DF5C-C880-48D0C7262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443" y="1701210"/>
            <a:ext cx="4892464" cy="1905165"/>
          </a:xfrm>
          <a:prstGeom prst="rect">
            <a:avLst/>
          </a:prstGeom>
        </p:spPr>
      </p:pic>
      <p:sp>
        <p:nvSpPr>
          <p:cNvPr id="7" name="Google Shape;149;p4">
            <a:extLst>
              <a:ext uri="{FF2B5EF4-FFF2-40B4-BE49-F238E27FC236}">
                <a16:creationId xmlns:a16="http://schemas.microsoft.com/office/drawing/2014/main" id="{DFB90B0F-74F2-326C-80EE-E2E05A6A2211}"/>
              </a:ext>
            </a:extLst>
          </p:cNvPr>
          <p:cNvSpPr txBox="1">
            <a:spLocks/>
          </p:cNvSpPr>
          <p:nvPr/>
        </p:nvSpPr>
        <p:spPr>
          <a:xfrm>
            <a:off x="410307" y="3780736"/>
            <a:ext cx="8229600" cy="78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546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546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546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35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3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43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35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 algn="just">
              <a:spcBef>
                <a:spcPts val="0"/>
              </a:spcBef>
              <a:buSzPts val="1976"/>
              <a:buFont typeface="Noto Sans Symbols"/>
              <a:buNone/>
            </a:pPr>
            <a:r>
              <a:rPr lang="en-US" sz="2000" b="1" dirty="0"/>
              <a:t>The Smoothness Trade-off</a:t>
            </a:r>
          </a:p>
          <a:p>
            <a:pPr marL="0" indent="0" algn="just">
              <a:spcBef>
                <a:spcPts val="0"/>
              </a:spcBef>
              <a:buSzPts val="1976"/>
              <a:buFont typeface="Noto Sans Symbols"/>
              <a:buNone/>
            </a:pPr>
            <a:r>
              <a:rPr lang="en-US" sz="2000" dirty="0"/>
              <a:t>How much data do we need for a 10-second animation?</a:t>
            </a:r>
          </a:p>
          <a:p>
            <a:pPr marL="342900" indent="-342900" algn="just">
              <a:spcBef>
                <a:spcPts val="0"/>
              </a:spcBef>
              <a:buSzPts val="1976"/>
              <a:buFont typeface="Arial" panose="020B0604020202020204" pitchFamily="34" charset="0"/>
              <a:buChar char="•"/>
            </a:pPr>
            <a:r>
              <a:rPr lang="en-US" sz="2000" b="1" dirty="0"/>
              <a:t>Stepped (Manual): </a:t>
            </a:r>
            <a:r>
              <a:rPr lang="en-US" sz="2000" dirty="0"/>
              <a:t>Requires 60 keyframes per second. Huge file size, impossible to edit.</a:t>
            </a:r>
          </a:p>
          <a:p>
            <a:pPr marL="342900" indent="-342900" algn="just">
              <a:spcBef>
                <a:spcPts val="0"/>
              </a:spcBef>
              <a:buSzPts val="1976"/>
              <a:buFont typeface="Arial" panose="020B0604020202020204" pitchFamily="34" charset="0"/>
              <a:buChar char="•"/>
            </a:pPr>
            <a:r>
              <a:rPr lang="en-US" sz="2000" b="1" dirty="0"/>
              <a:t>Interpolated (Procedural): </a:t>
            </a:r>
            <a:r>
              <a:rPr lang="en-US" sz="2000" dirty="0"/>
              <a:t>Only needs 2 keyframes (Start/End). Math fills the missing frames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491902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A29BFF84-2D3F-F382-6491-2C046D78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F0BA31B2-0338-D70F-F935-52C1369AC5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3200"/>
            </a:pPr>
            <a:r>
              <a:rPr lang="en-US" dirty="0"/>
              <a:t>Linear Interpolation – LERP</a:t>
            </a:r>
            <a:endParaRPr dirty="0"/>
          </a:p>
        </p:txBody>
      </p:sp>
      <p:sp>
        <p:nvSpPr>
          <p:cNvPr id="149" name="Google Shape;149;p4">
            <a:extLst>
              <a:ext uri="{FF2B5EF4-FFF2-40B4-BE49-F238E27FC236}">
                <a16:creationId xmlns:a16="http://schemas.microsoft.com/office/drawing/2014/main" id="{33B50325-3A8F-5C93-E85F-01E4DF343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0307" y="1205133"/>
            <a:ext cx="8229600" cy="2303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rPr lang="en-US" sz="2000" b="1" dirty="0"/>
              <a:t>LERP </a:t>
            </a:r>
            <a:r>
              <a:rPr lang="en-US" sz="2000" dirty="0"/>
              <a:t>is a commonly used technique in computer graphic to smooth out the transition between keyframes. It is the core of procedural animation.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976"/>
              <a:buNone/>
            </a:pPr>
            <a:endParaRPr lang="en-US" sz="20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rPr lang="en-US" sz="2000" dirty="0"/>
              <a:t>Value = A + (B – A) * t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1976"/>
              <a:buFont typeface="Arial" panose="020B0604020202020204" pitchFamily="34" charset="0"/>
              <a:buChar char="•"/>
            </a:pPr>
            <a:r>
              <a:rPr lang="en-US" sz="2000" dirty="0"/>
              <a:t>A: Starting value (Keyframe 1)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1976"/>
              <a:buFont typeface="Arial" panose="020B0604020202020204" pitchFamily="34" charset="0"/>
              <a:buChar char="•"/>
            </a:pPr>
            <a:r>
              <a:rPr lang="en-US" sz="2000" dirty="0"/>
              <a:t>B: Ending value (Keyframe 2)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1976"/>
              <a:buFont typeface="Arial" panose="020B0604020202020204" pitchFamily="34" charset="0"/>
              <a:buChar char="•"/>
            </a:pPr>
            <a:r>
              <a:rPr lang="en-US" sz="2000" dirty="0"/>
              <a:t>T: Progress normalized from 0.0 to 1.0 (speed of transition)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1976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rPr lang="en-US" sz="2000" b="1" dirty="0"/>
              <a:t>Multi-Parameter Synchronization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rPr lang="en-US" sz="2000" dirty="0"/>
              <a:t>The robot doesn’t just pan; it moves all joints simultaneously using a single </a:t>
            </a:r>
            <a:r>
              <a:rPr lang="en-US" sz="2000" b="1" dirty="0"/>
              <a:t>t </a:t>
            </a:r>
            <a:r>
              <a:rPr lang="en-US" sz="2000" dirty="0"/>
              <a:t>value.</a:t>
            </a:r>
            <a:endParaRPr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6632B-9310-CF45-67D3-B66B71E2D6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EBB79C-9206-AAAB-E1A5-EF2D752A6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781" y="4410784"/>
            <a:ext cx="6210838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60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2290E2F4-CDF2-D863-5379-7E9FCFA4B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0BA4F1EB-AA41-06E6-5D1A-6054F0FF05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2000" dirty="0"/>
              <a:t>Hands-On Activity</a:t>
            </a:r>
            <a:br>
              <a:rPr lang="en-US" sz="2000" dirty="0"/>
            </a:br>
            <a:r>
              <a:rPr lang="en-US" sz="2000" dirty="0"/>
              <a:t>Pre-programmed sequence for </a:t>
            </a:r>
            <a:br>
              <a:rPr lang="en-US" sz="2000" dirty="0"/>
            </a:br>
            <a:r>
              <a:rPr lang="en-US" sz="2000" dirty="0"/>
              <a:t>Motion Control Camera System</a:t>
            </a:r>
            <a:endParaRPr sz="2000" dirty="0"/>
          </a:p>
        </p:txBody>
      </p:sp>
      <p:sp>
        <p:nvSpPr>
          <p:cNvPr id="126" name="Google Shape;126;p2">
            <a:extLst>
              <a:ext uri="{FF2B5EF4-FFF2-40B4-BE49-F238E27FC236}">
                <a16:creationId xmlns:a16="http://schemas.microsoft.com/office/drawing/2014/main" id="{7E066B19-2CAA-F619-0259-06956AB12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520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380180-E68C-7A5D-C898-9EE224BD1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63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CDD8B17D-BC1B-5305-2B6A-B84871E1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155C6CB2-62ED-B847-81B2-E3D4D77B3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Hands-On Activity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67C1BDEA-E7F3-D3F4-E05F-088444E4E1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0" y="1437968"/>
            <a:ext cx="4504157" cy="3169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None/>
            </a:pPr>
            <a:r>
              <a:rPr lang="en-US" sz="2000" b="1" dirty="0"/>
              <a:t>Activity: How to draw a cat?</a:t>
            </a:r>
          </a:p>
          <a:p>
            <a:pPr marL="0" lvl="0" indent="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None/>
            </a:pPr>
            <a:r>
              <a:rPr lang="en-US" sz="2000" dirty="0"/>
              <a:t>In this activity, you are provided with a sample picture of an orange cat.</a:t>
            </a:r>
          </a:p>
          <a:p>
            <a:pPr marL="0" lvl="0" indent="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None/>
            </a:pPr>
            <a:r>
              <a:rPr lang="en-US" sz="2000" dirty="0"/>
              <a:t>Your tasks are:</a:t>
            </a:r>
          </a:p>
          <a:p>
            <a:pPr marL="342900" lvl="0" indent="-34290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Arial" panose="020B0604020202020204" pitchFamily="34" charset="0"/>
              <a:buChar char="•"/>
            </a:pPr>
            <a:r>
              <a:rPr lang="en-US" sz="2000" dirty="0"/>
              <a:t>Identify the structural characteristics of the cat (i.e., which shapes form the cat’s structure).</a:t>
            </a:r>
          </a:p>
          <a:p>
            <a:pPr marL="342900" lvl="0" indent="-34290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Arial" panose="020B0604020202020204" pitchFamily="34" charset="0"/>
              <a:buChar char="•"/>
            </a:pPr>
            <a:r>
              <a:rPr lang="en-US" sz="2000" dirty="0"/>
              <a:t>Implementing these shapes in Three.js</a:t>
            </a:r>
          </a:p>
          <a:p>
            <a:pPr marL="342900" lvl="0" indent="-342900" algn="just" rtl="0">
              <a:lnSpc>
                <a:spcPct val="15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Arial" panose="020B0604020202020204" pitchFamily="34" charset="0"/>
              <a:buChar char="•"/>
            </a:pPr>
            <a:r>
              <a:rPr lang="en-US" sz="2000" dirty="0"/>
              <a:t>Create a function to group all these shapes and return a single object that represents the cat.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4DD32-D6F7-029E-7E12-3B12926E5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15DAC1-934D-DB5F-23F1-11EE3466F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05" y="1556872"/>
            <a:ext cx="4006659" cy="305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35129"/>
      </p:ext>
    </p:extLst>
  </p:cSld>
  <p:clrMapOvr>
    <a:masterClrMapping/>
  </p:clrMapOvr>
</p:sld>
</file>

<file path=ppt/theme/theme1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2908</TotalTime>
  <Words>1674</Words>
  <Application>Microsoft Office PowerPoint</Application>
  <PresentationFormat>On-screen Show (4:3)</PresentationFormat>
  <Paragraphs>185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Bookman Old Style</vt:lpstr>
      <vt:lpstr>Noto Sans Symbols</vt:lpstr>
      <vt:lpstr>Calibri</vt:lpstr>
      <vt:lpstr>Arial</vt:lpstr>
      <vt:lpstr>Cambria</vt:lpstr>
      <vt:lpstr>Gill Sans</vt:lpstr>
      <vt:lpstr>Wingdings</vt:lpstr>
      <vt:lpstr>Origin</vt:lpstr>
      <vt:lpstr>CTE 2059 - Computer Graphic Lecture 3 – Camera &amp; Animations</vt:lpstr>
      <vt:lpstr>Outline</vt:lpstr>
      <vt:lpstr>Getting Started</vt:lpstr>
      <vt:lpstr>Installation</vt:lpstr>
      <vt:lpstr>How to use the studio?</vt:lpstr>
      <vt:lpstr>Camera &amp; Orbit Controls</vt:lpstr>
      <vt:lpstr>Perspective Camera</vt:lpstr>
      <vt:lpstr>Multi-View Technique (Picture-in-Picture)</vt:lpstr>
      <vt:lpstr>Multi-View Technique (Picture-in-Picture)</vt:lpstr>
      <vt:lpstr>Orbit Controls</vt:lpstr>
      <vt:lpstr>Interaction Damping: Adding Weight</vt:lpstr>
      <vt:lpstr>Animations</vt:lpstr>
      <vt:lpstr>Scene Graph Hierarchy</vt:lpstr>
      <vt:lpstr>Keyframes</vt:lpstr>
      <vt:lpstr>Linear Interpolation – LERP</vt:lpstr>
      <vt:lpstr>Hands-On Activity Pre-programmed sequence for  Motion Control Camera System</vt:lpstr>
      <vt:lpstr>Hands-On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Khoi Nguyen Le</dc:creator>
  <cp:lastModifiedBy>Austin Nguyen (HKO - CORPIT - ITO - CTO)</cp:lastModifiedBy>
  <cp:revision>59</cp:revision>
  <dcterms:created xsi:type="dcterms:W3CDTF">2012-10-11T13:47:11Z</dcterms:created>
  <dcterms:modified xsi:type="dcterms:W3CDTF">2026-03-23T02:17:27Z</dcterms:modified>
</cp:coreProperties>
</file>