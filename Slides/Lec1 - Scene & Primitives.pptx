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embedTrueTypeFonts="1" saveSubsetFonts="1" autoCompressPictures="0">
  <p:sldMasterIdLst>
    <p:sldMasterId id="2147483648" r:id="rId1"/>
  </p:sldMasterIdLst>
  <p:notesMasterIdLst>
    <p:notesMasterId r:id="rId16"/>
  </p:notesMasterIdLst>
  <p:handoutMasterIdLst>
    <p:handoutMasterId r:id="rId17"/>
  </p:handoutMasterIdLst>
  <p:sldIdLst>
    <p:sldId id="256" r:id="rId2"/>
    <p:sldId id="257" r:id="rId3"/>
    <p:sldId id="305" r:id="rId4"/>
    <p:sldId id="314" r:id="rId5"/>
    <p:sldId id="329" r:id="rId6"/>
    <p:sldId id="330" r:id="rId7"/>
    <p:sldId id="306" r:id="rId8"/>
    <p:sldId id="332" r:id="rId9"/>
    <p:sldId id="331" r:id="rId10"/>
    <p:sldId id="315" r:id="rId11"/>
    <p:sldId id="333" r:id="rId12"/>
    <p:sldId id="334" r:id="rId13"/>
    <p:sldId id="311" r:id="rId14"/>
    <p:sldId id="328" r:id="rId15"/>
  </p:sldIdLst>
  <p:sldSz cx="9144000" cy="6858000" type="screen4x3"/>
  <p:notesSz cx="9144000" cy="6858000"/>
  <p:embeddedFontLst>
    <p:embeddedFont>
      <p:font typeface="Bookman Old Style" panose="02050604050505020204" pitchFamily="18" charset="0"/>
      <p:regular r:id="rId18"/>
      <p:bold r:id="rId19"/>
      <p:italic r:id="rId20"/>
      <p:boldItalic r:id="rId21"/>
    </p:embeddedFont>
    <p:embeddedFont>
      <p:font typeface="Cambria" panose="02040503050406030204" pitchFamily="18" charset="0"/>
      <p:regular r:id="rId22"/>
      <p:bold r:id="rId23"/>
      <p:italic r:id="rId24"/>
      <p:boldItalic r:id="rId25"/>
    </p:embeddedFont>
    <p:embeddedFont>
      <p:font typeface="Gill Sans" panose="020B0604020202020204" charset="0"/>
      <p:regular r:id="rId26"/>
      <p:bold r:id="rId27"/>
    </p:embeddedFont>
    <p:embeddedFont>
      <p:font typeface="Noto Sans Symbols" panose="020B0604020202020204" charset="0"/>
      <p:regular r:id="rId28"/>
      <p:bold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239ED4F1-FE1E-44B1-BE91-DC33C456D893}">
          <p14:sldIdLst>
            <p14:sldId id="256"/>
            <p14:sldId id="257"/>
          </p14:sldIdLst>
        </p14:section>
        <p14:section name="Getting Started" id="{DE395549-2AA2-4D32-BEEC-8BC76B620180}">
          <p14:sldIdLst>
            <p14:sldId id="305"/>
            <p14:sldId id="314"/>
            <p14:sldId id="329"/>
            <p14:sldId id="330"/>
          </p14:sldIdLst>
        </p14:section>
        <p14:section name="Fundamentals" id="{311EEC78-3BDD-4F8C-AF8E-F1696CC6520F}">
          <p14:sldIdLst>
            <p14:sldId id="306"/>
            <p14:sldId id="332"/>
          </p14:sldIdLst>
        </p14:section>
        <p14:section name="Primitives" id="{DE019968-2623-4E4E-A9C6-B0D78D73C522}">
          <p14:sldIdLst>
            <p14:sldId id="331"/>
            <p14:sldId id="315"/>
            <p14:sldId id="333"/>
            <p14:sldId id="334"/>
          </p14:sldIdLst>
        </p14:section>
        <p14:section name="Hands-On Activity" id="{A49C58CE-F582-470E-B612-9F0144A65D26}">
          <p14:sldIdLst>
            <p14:sldId id="311"/>
            <p14:sldId id="328"/>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5" roundtripDataSignature="AMtx7mjnchW9jt+BL3pINn0mejfXPXn+W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5762" autoAdjust="0"/>
  </p:normalViewPr>
  <p:slideViewPr>
    <p:cSldViewPr snapToGrid="0">
      <p:cViewPr varScale="1">
        <p:scale>
          <a:sx n="81" d="100"/>
          <a:sy n="81" d="100"/>
        </p:scale>
        <p:origin x="42" y="126"/>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89"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3.fntdata"/><Relationship Id="rId29" Type="http://schemas.openxmlformats.org/officeDocument/2006/relationships/font" Target="fonts/font12.fntdata"/><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8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8" Type="http://schemas.openxmlformats.org/officeDocument/2006/relationships/slide" Target="slides/slide7.xml"/><Relationship Id="rId85" Type="http://customschemas.google.com/relationships/presentationmetadata" Target="meta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C8A2F5A-9F1B-30A6-80F4-591D08EAA051}"/>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74AAFEF-0F92-B29C-A70E-9B38CAC8102A}"/>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C5083AF9-D621-4D22-98A6-93B8FF1F7E4E}" type="datetimeFigureOut">
              <a:rPr lang="en-US" smtClean="0"/>
              <a:t>3/6/2026</a:t>
            </a:fld>
            <a:endParaRPr lang="en-US"/>
          </a:p>
        </p:txBody>
      </p:sp>
      <p:sp>
        <p:nvSpPr>
          <p:cNvPr id="4" name="Footer Placeholder 3">
            <a:extLst>
              <a:ext uri="{FF2B5EF4-FFF2-40B4-BE49-F238E27FC236}">
                <a16:creationId xmlns:a16="http://schemas.microsoft.com/office/drawing/2014/main" id="{D4BFC9CD-7A76-FF4C-55C9-F3320699CA31}"/>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A7B17BA-4A78-1B00-E7C8-F1AA7868591D}"/>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420507B4-17AC-41E1-9E22-695C1E9AA8BC}" type="slidenum">
              <a:rPr lang="en-US" smtClean="0"/>
              <a:t>‹#›</a:t>
            </a:fld>
            <a:endParaRPr lang="en-US"/>
          </a:p>
        </p:txBody>
      </p:sp>
    </p:spTree>
    <p:extLst>
      <p:ext uri="{BB962C8B-B14F-4D97-AF65-F5344CB8AC3E}">
        <p14:creationId xmlns:p14="http://schemas.microsoft.com/office/powerpoint/2010/main" val="242986325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910"/>
            <a:ext cx="3962400" cy="3429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hf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8" Type="http://schemas.openxmlformats.org/officeDocument/2006/relationships/hyperlink" Target="https://threejs.org/docs/#api/en/lights/Light" TargetMode="External"/><Relationship Id="rId13" Type="http://schemas.openxmlformats.org/officeDocument/2006/relationships/hyperlink" Target="https://threejs.org/manual/en/custom-buffergeometry.html" TargetMode="External"/><Relationship Id="rId18" Type="http://schemas.openxmlformats.org/officeDocument/2006/relationships/hyperlink" Target="https://threejs.org/manual/en/canvas-textures.html" TargetMode="External"/><Relationship Id="rId3" Type="http://schemas.openxmlformats.org/officeDocument/2006/relationships/hyperlink" Target="https://threejs.org/docs/#api/en/constants/Renderer" TargetMode="External"/><Relationship Id="rId7" Type="http://schemas.openxmlformats.org/officeDocument/2006/relationships/hyperlink" Target="https://threejs.org/docs/#api/en/objects/Mesh" TargetMode="External"/><Relationship Id="rId12" Type="http://schemas.openxmlformats.org/officeDocument/2006/relationships/hyperlink" Target="https://threejs.org/manual/en/primitives.html" TargetMode="External"/><Relationship Id="rId17" Type="http://schemas.openxmlformats.org/officeDocument/2006/relationships/hyperlink" Target="https://threejs.org/manual/en/textures.html" TargetMode="External"/><Relationship Id="rId2" Type="http://schemas.openxmlformats.org/officeDocument/2006/relationships/slide" Target="../slides/slide7.xml"/><Relationship Id="rId16" Type="http://schemas.openxmlformats.org/officeDocument/2006/relationships/hyperlink" Target="https://threejs.org/docs/#api/en/textures/Texture" TargetMode="External"/><Relationship Id="rId20" Type="http://schemas.openxmlformats.org/officeDocument/2006/relationships/hyperlink" Target="https://threejs.org/manual/en/lights.html" TargetMode="External"/><Relationship Id="rId1" Type="http://schemas.openxmlformats.org/officeDocument/2006/relationships/notesMaster" Target="../notesMasters/notesMaster1.xml"/><Relationship Id="rId6" Type="http://schemas.openxmlformats.org/officeDocument/2006/relationships/hyperlink" Target="https://threejs.org/manual/en/scenegraph.html" TargetMode="External"/><Relationship Id="rId11" Type="http://schemas.openxmlformats.org/officeDocument/2006/relationships/hyperlink" Target="https://threejs.org/docs/#api/en/materials/Material" TargetMode="External"/><Relationship Id="rId5" Type="http://schemas.openxmlformats.org/officeDocument/2006/relationships/hyperlink" Target="https://threejs.org/docs/#api/en/cameras/Camera" TargetMode="External"/><Relationship Id="rId15" Type="http://schemas.openxmlformats.org/officeDocument/2006/relationships/hyperlink" Target="https://threejs.org/manual/en/materials.html" TargetMode="External"/><Relationship Id="rId10" Type="http://schemas.openxmlformats.org/officeDocument/2006/relationships/hyperlink" Target="https://threejs.org/docs/#api/en/core/Object3D" TargetMode="External"/><Relationship Id="rId19" Type="http://schemas.openxmlformats.org/officeDocument/2006/relationships/hyperlink" Target="https://threejs.org/manual/en/rendertargets.html" TargetMode="External"/><Relationship Id="rId4" Type="http://schemas.openxmlformats.org/officeDocument/2006/relationships/hyperlink" Target="https://threejs.org/docs/#api/en/scenes/Scene" TargetMode="External"/><Relationship Id="rId9" Type="http://schemas.openxmlformats.org/officeDocument/2006/relationships/hyperlink" Target="https://threejs.org/docs/#api/en/objects/Group" TargetMode="External"/><Relationship Id="rId14" Type="http://schemas.openxmlformats.org/officeDocument/2006/relationships/hyperlink" Target="https://threejs.org/manual/en/load-obj.html" TargetMode="Externa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threejs.org/manual/en/responsive.html"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8" name="Google Shape;108;p1: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0</a:t>
            </a:fld>
            <a:endParaRPr/>
          </a:p>
        </p:txBody>
      </p:sp>
      <p:sp>
        <p:nvSpPr>
          <p:cNvPr id="109" name="Google Shape;109;p1:notes"/>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8848204ce3_0_96: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8848204ce3_0_96: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g38848204ce3_0_96:notes"/>
          <p:cNvSpPr txBox="1">
            <a:spLocks noGrp="1"/>
          </p:cNvSpPr>
          <p:nvPr>
            <p:ph type="sldNum" idx="12"/>
          </p:nvPr>
        </p:nvSpPr>
        <p:spPr>
          <a:xfrm>
            <a:off x="5179484" y="6513910"/>
            <a:ext cx="3962400" cy="342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9CF897F5-354E-2D4C-6126-A414B7F61194}"/>
            </a:ext>
          </a:extLst>
        </p:cNvPr>
        <p:cNvGrpSpPr/>
        <p:nvPr/>
      </p:nvGrpSpPr>
      <p:grpSpPr>
        <a:xfrm>
          <a:off x="0" y="0"/>
          <a:ext cx="0" cy="0"/>
          <a:chOff x="0" y="0"/>
          <a:chExt cx="0" cy="0"/>
        </a:xfrm>
      </p:grpSpPr>
      <p:sp>
        <p:nvSpPr>
          <p:cNvPr id="122" name="Google Shape;122;p2:notes">
            <a:extLst>
              <a:ext uri="{FF2B5EF4-FFF2-40B4-BE49-F238E27FC236}">
                <a16:creationId xmlns:a16="http://schemas.microsoft.com/office/drawing/2014/main" id="{31055858-C180-66F6-7B54-3DEF64945F86}"/>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2:notes">
            <a:extLst>
              <a:ext uri="{FF2B5EF4-FFF2-40B4-BE49-F238E27FC236}">
                <a16:creationId xmlns:a16="http://schemas.microsoft.com/office/drawing/2014/main" id="{F16EFA58-E6E2-0EA7-5A4A-1C3BFE0FE9C2}"/>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Slide Number Placeholder 1">
            <a:extLst>
              <a:ext uri="{FF2B5EF4-FFF2-40B4-BE49-F238E27FC236}">
                <a16:creationId xmlns:a16="http://schemas.microsoft.com/office/drawing/2014/main" id="{58FCA471-04EE-F77D-B8D1-73E4D305A373}"/>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719549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7D4BD476-1802-F722-80D2-52BA9AEE2227}"/>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1910EFBA-3AB9-3DF8-12E4-0B5A607EB982}"/>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D8CEECBC-A839-7C10-3638-BD6754CF6BBC}"/>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2" name="Google Shape;132;p3:notes">
            <a:extLst>
              <a:ext uri="{FF2B5EF4-FFF2-40B4-BE49-F238E27FC236}">
                <a16:creationId xmlns:a16="http://schemas.microsoft.com/office/drawing/2014/main" id="{EFCE6ED4-F00C-DC5A-010B-ED750258DFB9}"/>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55CACE8A-202C-BA1A-F042-033CD8330EEB}"/>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5934829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600E76F7-0B55-89BE-DCF1-A08A9C04BB45}"/>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80FF5F0F-D117-7249-F35B-DB1954B0E874}"/>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165B88BA-D143-04A7-082F-6A5E083203AF}"/>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3:notes">
            <a:extLst>
              <a:ext uri="{FF2B5EF4-FFF2-40B4-BE49-F238E27FC236}">
                <a16:creationId xmlns:a16="http://schemas.microsoft.com/office/drawing/2014/main" id="{2ED0DB77-FD75-C7C6-4D2F-D8F28161B189}"/>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1B676A0B-B560-2F01-BFD3-C6C94829FC4C}"/>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29020870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C2D2DB31-8E90-C75C-BCB1-8EE1A0FE1304}"/>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5CEBB473-BFF9-0E73-E6F0-47D3E3B678D0}"/>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0230BDD6-3A18-10C6-A149-9E2230FCFF83}"/>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r>
              <a:rPr lang="en-US" sz="1200" b="0" i="0" u="none" strike="noStrike" cap="none" dirty="0">
                <a:solidFill>
                  <a:schemeClr val="dk1"/>
                </a:solidFill>
                <a:effectLst/>
                <a:latin typeface="Calibri"/>
                <a:ea typeface="Calibri"/>
                <a:cs typeface="Calibri"/>
                <a:sym typeface="Calibri"/>
              </a:rPr>
              <a:t>// Creating scene</a:t>
            </a:r>
          </a:p>
          <a:p>
            <a:r>
              <a:rPr lang="en-US" sz="1200" b="0" i="0" u="none" strike="noStrike" cap="none" dirty="0">
                <a:solidFill>
                  <a:schemeClr val="dk1"/>
                </a:solidFill>
                <a:effectLst/>
                <a:latin typeface="Calibri"/>
                <a:ea typeface="Calibri"/>
                <a:cs typeface="Calibri"/>
                <a:sym typeface="Calibri"/>
              </a:rPr>
              <a:t>There are a few different cameras in three.js. For now, let's use a </a:t>
            </a:r>
            <a:r>
              <a:rPr lang="en-US" sz="1200" b="0" i="0" u="none" strike="noStrike" cap="none" dirty="0" err="1">
                <a:solidFill>
                  <a:schemeClr val="dk1"/>
                </a:solidFill>
                <a:effectLst/>
                <a:latin typeface="Calibri"/>
                <a:ea typeface="Calibri"/>
                <a:cs typeface="Calibri"/>
                <a:sym typeface="Calibri"/>
              </a:rPr>
              <a:t>PerspectiveCamera</a:t>
            </a:r>
            <a:r>
              <a:rPr lang="en-US" sz="1200" b="0" i="0" u="none" strike="noStrike" cap="none" dirty="0">
                <a:solidFill>
                  <a:schemeClr val="dk1"/>
                </a:solidFill>
                <a:effectLst/>
                <a:latin typeface="Calibri"/>
                <a:ea typeface="Calibri"/>
                <a:cs typeface="Calibri"/>
                <a:sym typeface="Calibri"/>
              </a:rPr>
              <a:t>.</a:t>
            </a:r>
          </a:p>
          <a:p>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first attribute is the field of view. FOV is the extent of the scene that is seen on the display at any given moment. The value is in degrees.</a:t>
            </a:r>
          </a:p>
          <a:p>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second one is the aspect ratio. You almost always want to use the width of the element divided by the height, or you'll get the same result as when you play old movies on a widescreen</a:t>
            </a:r>
          </a:p>
          <a:p>
            <a:r>
              <a:rPr lang="en-US" sz="1200" b="0" i="0" u="none" strike="noStrike" cap="none" dirty="0">
                <a:solidFill>
                  <a:schemeClr val="dk1"/>
                </a:solidFill>
                <a:effectLst/>
                <a:latin typeface="Calibri"/>
                <a:ea typeface="Calibri"/>
                <a:cs typeface="Calibri"/>
                <a:sym typeface="Calibri"/>
              </a:rPr>
              <a:t>TV - the image looks squished.</a:t>
            </a:r>
          </a:p>
          <a:p>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next two attributes are the near and far clipping plane. What that means, is that objects further away from the camera than the value of far or closer than near won't be rendered. You</a:t>
            </a:r>
          </a:p>
          <a:p>
            <a:r>
              <a:rPr lang="en-US" sz="1200" b="0" i="0" u="none" strike="noStrike" cap="none" dirty="0">
                <a:solidFill>
                  <a:schemeClr val="dk1"/>
                </a:solidFill>
                <a:effectLst/>
                <a:latin typeface="Calibri"/>
                <a:ea typeface="Calibri"/>
                <a:cs typeface="Calibri"/>
                <a:sym typeface="Calibri"/>
              </a:rPr>
              <a:t>don't have to worry about this now, but you may want to use other values in your apps to get better performance.</a:t>
            </a:r>
          </a:p>
          <a:p>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Next up is the renderer. In addition to creating the renderer instance, we also need to set the size at which we want it to render our app. It's a good idea to use the width and height of the</a:t>
            </a:r>
          </a:p>
          <a:p>
            <a:r>
              <a:rPr lang="en-US" sz="1200" b="0" i="0" u="none" strike="noStrike" cap="none" dirty="0">
                <a:solidFill>
                  <a:schemeClr val="dk1"/>
                </a:solidFill>
                <a:effectLst/>
                <a:latin typeface="Calibri"/>
                <a:ea typeface="Calibri"/>
                <a:cs typeface="Calibri"/>
                <a:sym typeface="Calibri"/>
              </a:rPr>
              <a:t>area we want to fill with our app - in this case, the width and height of the browser window. For performance intensive apps, you can also give </a:t>
            </a:r>
            <a:r>
              <a:rPr lang="en-US" sz="1200" b="0" i="0" u="none" strike="noStrike" cap="none" dirty="0" err="1">
                <a:solidFill>
                  <a:schemeClr val="dk1"/>
                </a:solidFill>
                <a:effectLst/>
                <a:latin typeface="Calibri"/>
                <a:ea typeface="Calibri"/>
                <a:cs typeface="Calibri"/>
                <a:sym typeface="Calibri"/>
              </a:rPr>
              <a:t>setSize</a:t>
            </a:r>
            <a:r>
              <a:rPr lang="en-US" sz="1200" b="0" i="0" u="none" strike="noStrike" cap="none" dirty="0">
                <a:solidFill>
                  <a:schemeClr val="dk1"/>
                </a:solidFill>
                <a:effectLst/>
                <a:latin typeface="Calibri"/>
                <a:ea typeface="Calibri"/>
                <a:cs typeface="Calibri"/>
                <a:sym typeface="Calibri"/>
              </a:rPr>
              <a:t> smaller values,</a:t>
            </a:r>
          </a:p>
          <a:p>
            <a:r>
              <a:rPr lang="en-US" sz="1200" b="0" i="0" u="none" strike="noStrike" cap="none" dirty="0">
                <a:solidFill>
                  <a:schemeClr val="dk1"/>
                </a:solidFill>
                <a:effectLst/>
                <a:latin typeface="Calibri"/>
                <a:ea typeface="Calibri"/>
                <a:cs typeface="Calibri"/>
                <a:sym typeface="Calibri"/>
              </a:rPr>
              <a:t>like </a:t>
            </a:r>
            <a:r>
              <a:rPr lang="en-US" sz="1200" b="0" i="0" u="none" strike="noStrike" cap="none" dirty="0" err="1">
                <a:solidFill>
                  <a:schemeClr val="dk1"/>
                </a:solidFill>
                <a:effectLst/>
                <a:latin typeface="Calibri"/>
                <a:ea typeface="Calibri"/>
                <a:cs typeface="Calibri"/>
                <a:sym typeface="Calibri"/>
              </a:rPr>
              <a:t>window.innerWidth</a:t>
            </a:r>
            <a:r>
              <a:rPr lang="en-US" sz="1200" b="0" i="0" u="none" strike="noStrike" cap="none" dirty="0">
                <a:solidFill>
                  <a:schemeClr val="dk1"/>
                </a:solidFill>
                <a:effectLst/>
                <a:latin typeface="Calibri"/>
                <a:ea typeface="Calibri"/>
                <a:cs typeface="Calibri"/>
                <a:sym typeface="Calibri"/>
              </a:rPr>
              <a:t>/2 and </a:t>
            </a:r>
            <a:r>
              <a:rPr lang="en-US" sz="1200" b="0" i="0" u="none" strike="noStrike" cap="none" dirty="0" err="1">
                <a:solidFill>
                  <a:schemeClr val="dk1"/>
                </a:solidFill>
                <a:effectLst/>
                <a:latin typeface="Calibri"/>
                <a:ea typeface="Calibri"/>
                <a:cs typeface="Calibri"/>
                <a:sym typeface="Calibri"/>
              </a:rPr>
              <a:t>window.innerHeight</a:t>
            </a:r>
            <a:r>
              <a:rPr lang="en-US" sz="1200" b="0" i="0" u="none" strike="noStrike" cap="none" dirty="0">
                <a:solidFill>
                  <a:schemeClr val="dk1"/>
                </a:solidFill>
                <a:effectLst/>
                <a:latin typeface="Calibri"/>
                <a:ea typeface="Calibri"/>
                <a:cs typeface="Calibri"/>
                <a:sym typeface="Calibri"/>
              </a:rPr>
              <a:t>/2, which will make the app render at quarter size.</a:t>
            </a:r>
          </a:p>
          <a:p>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If you wish to keep the size of your app but render it at a lower resolution, you can do so by calling </a:t>
            </a:r>
            <a:r>
              <a:rPr lang="en-US" sz="1200" b="0" i="0" u="none" strike="noStrike" cap="none" dirty="0" err="1">
                <a:solidFill>
                  <a:schemeClr val="dk1"/>
                </a:solidFill>
                <a:effectLst/>
                <a:latin typeface="Calibri"/>
                <a:ea typeface="Calibri"/>
                <a:cs typeface="Calibri"/>
                <a:sym typeface="Calibri"/>
              </a:rPr>
              <a:t>setSize</a:t>
            </a:r>
            <a:r>
              <a:rPr lang="en-US" sz="1200" b="0" i="0" u="none" strike="noStrike" cap="none" dirty="0">
                <a:solidFill>
                  <a:schemeClr val="dk1"/>
                </a:solidFill>
                <a:effectLst/>
                <a:latin typeface="Calibri"/>
                <a:ea typeface="Calibri"/>
                <a:cs typeface="Calibri"/>
                <a:sym typeface="Calibri"/>
              </a:rPr>
              <a:t> with false as </a:t>
            </a:r>
            <a:r>
              <a:rPr lang="en-US" sz="1200" b="0" i="0" u="none" strike="noStrike" cap="none" dirty="0" err="1">
                <a:solidFill>
                  <a:schemeClr val="dk1"/>
                </a:solidFill>
                <a:effectLst/>
                <a:latin typeface="Calibri"/>
                <a:ea typeface="Calibri"/>
                <a:cs typeface="Calibri"/>
                <a:sym typeface="Calibri"/>
              </a:rPr>
              <a:t>updateStyle</a:t>
            </a:r>
            <a:r>
              <a:rPr lang="en-US" sz="1200" b="0" i="0" u="none" strike="noStrike" cap="none" dirty="0">
                <a:solidFill>
                  <a:schemeClr val="dk1"/>
                </a:solidFill>
                <a:effectLst/>
                <a:latin typeface="Calibri"/>
                <a:ea typeface="Calibri"/>
                <a:cs typeface="Calibri"/>
                <a:sym typeface="Calibri"/>
              </a:rPr>
              <a:t> (the third argument). For</a:t>
            </a:r>
          </a:p>
          <a:p>
            <a:r>
              <a:rPr lang="en-US" sz="1200" b="0" i="0" u="none" strike="noStrike" cap="none" dirty="0">
                <a:solidFill>
                  <a:schemeClr val="dk1"/>
                </a:solidFill>
                <a:effectLst/>
                <a:latin typeface="Calibri"/>
                <a:ea typeface="Calibri"/>
                <a:cs typeface="Calibri"/>
                <a:sym typeface="Calibri"/>
              </a:rPr>
              <a:t>example, </a:t>
            </a:r>
            <a:r>
              <a:rPr lang="en-US" sz="1200" b="0" i="0" u="none" strike="noStrike" cap="none" dirty="0" err="1">
                <a:solidFill>
                  <a:schemeClr val="dk1"/>
                </a:solidFill>
                <a:effectLst/>
                <a:latin typeface="Calibri"/>
                <a:ea typeface="Calibri"/>
                <a:cs typeface="Calibri"/>
                <a:sym typeface="Calibri"/>
              </a:rPr>
              <a:t>setSize</a:t>
            </a:r>
            <a:r>
              <a:rPr lang="en-US" sz="1200" b="0" i="0" u="none" strike="noStrike" cap="none" dirty="0">
                <a:solidFill>
                  <a:schemeClr val="dk1"/>
                </a:solidFill>
                <a:effectLst/>
                <a:latin typeface="Calibri"/>
                <a:ea typeface="Calibri"/>
                <a:cs typeface="Calibri"/>
                <a:sym typeface="Calibri"/>
              </a:rPr>
              <a:t>(</a:t>
            </a:r>
            <a:r>
              <a:rPr lang="en-US" sz="1200" b="0" i="0" u="none" strike="noStrike" cap="none" dirty="0" err="1">
                <a:solidFill>
                  <a:schemeClr val="dk1"/>
                </a:solidFill>
                <a:effectLst/>
                <a:latin typeface="Calibri"/>
                <a:ea typeface="Calibri"/>
                <a:cs typeface="Calibri"/>
                <a:sym typeface="Calibri"/>
              </a:rPr>
              <a:t>window.innerWidth</a:t>
            </a:r>
            <a:r>
              <a:rPr lang="en-US" sz="1200" b="0" i="0" u="none" strike="noStrike" cap="none" dirty="0">
                <a:solidFill>
                  <a:schemeClr val="dk1"/>
                </a:solidFill>
                <a:effectLst/>
                <a:latin typeface="Calibri"/>
                <a:ea typeface="Calibri"/>
                <a:cs typeface="Calibri"/>
                <a:sym typeface="Calibri"/>
              </a:rPr>
              <a:t>/2, </a:t>
            </a:r>
            <a:r>
              <a:rPr lang="en-US" sz="1200" b="0" i="0" u="none" strike="noStrike" cap="none" dirty="0" err="1">
                <a:solidFill>
                  <a:schemeClr val="dk1"/>
                </a:solidFill>
                <a:effectLst/>
                <a:latin typeface="Calibri"/>
                <a:ea typeface="Calibri"/>
                <a:cs typeface="Calibri"/>
                <a:sym typeface="Calibri"/>
              </a:rPr>
              <a:t>window.innerHeight</a:t>
            </a:r>
            <a:r>
              <a:rPr lang="en-US" sz="1200" b="0" i="0" u="none" strike="noStrike" cap="none" dirty="0">
                <a:solidFill>
                  <a:schemeClr val="dk1"/>
                </a:solidFill>
                <a:effectLst/>
                <a:latin typeface="Calibri"/>
                <a:ea typeface="Calibri"/>
                <a:cs typeface="Calibri"/>
                <a:sym typeface="Calibri"/>
              </a:rPr>
              <a:t>/2, false) will render your app at half resolution, given that your &lt;canvas&gt; has 100% width and height.</a:t>
            </a:r>
          </a:p>
          <a:p>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Last but not least, we add the renderer element to our HTML document. This is a &lt;canvas&gt; element the renderer uses to display the scene to us.</a:t>
            </a:r>
          </a:p>
          <a:p>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 Adding a cube</a:t>
            </a:r>
          </a:p>
          <a:p>
            <a:r>
              <a:rPr lang="en-US" sz="1200" b="0" i="0" u="none" strike="noStrike" cap="none" dirty="0">
                <a:solidFill>
                  <a:schemeClr val="dk1"/>
                </a:solidFill>
                <a:effectLst/>
                <a:latin typeface="Calibri"/>
                <a:ea typeface="Calibri"/>
                <a:cs typeface="Calibri"/>
                <a:sym typeface="Calibri"/>
              </a:rPr>
              <a:t>To create a cube, we need a </a:t>
            </a:r>
            <a:r>
              <a:rPr lang="en-US" sz="1200" b="0" i="0" u="none" strike="noStrike" cap="none" dirty="0" err="1">
                <a:solidFill>
                  <a:schemeClr val="dk1"/>
                </a:solidFill>
                <a:effectLst/>
                <a:latin typeface="Calibri"/>
                <a:ea typeface="Calibri"/>
                <a:cs typeface="Calibri"/>
                <a:sym typeface="Calibri"/>
              </a:rPr>
              <a:t>BoxGeometry</a:t>
            </a:r>
            <a:r>
              <a:rPr lang="en-US" sz="1200" b="0" i="0" u="none" strike="noStrike" cap="none" dirty="0">
                <a:solidFill>
                  <a:schemeClr val="dk1"/>
                </a:solidFill>
                <a:effectLst/>
                <a:latin typeface="Calibri"/>
                <a:ea typeface="Calibri"/>
                <a:cs typeface="Calibri"/>
                <a:sym typeface="Calibri"/>
              </a:rPr>
              <a:t>. This is an object that contains all the points (vertices) and fill (faces) of the cube. We'll explore this more in the future.</a:t>
            </a:r>
          </a:p>
          <a:p>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In addition to the geometry, we need a material to color it. Three.js comes with several materials, but we'll stick to the </a:t>
            </a:r>
            <a:r>
              <a:rPr lang="en-US" sz="1200" b="0" i="0" u="none" strike="noStrike" cap="none" dirty="0" err="1">
                <a:solidFill>
                  <a:schemeClr val="dk1"/>
                </a:solidFill>
                <a:effectLst/>
                <a:latin typeface="Calibri"/>
                <a:ea typeface="Calibri"/>
                <a:cs typeface="Calibri"/>
                <a:sym typeface="Calibri"/>
              </a:rPr>
              <a:t>MeshBasicMaterial</a:t>
            </a:r>
            <a:r>
              <a:rPr lang="en-US" sz="1200" b="0" i="0" u="none" strike="noStrike" cap="none" dirty="0">
                <a:solidFill>
                  <a:schemeClr val="dk1"/>
                </a:solidFill>
                <a:effectLst/>
                <a:latin typeface="Calibri"/>
                <a:ea typeface="Calibri"/>
                <a:cs typeface="Calibri"/>
                <a:sym typeface="Calibri"/>
              </a:rPr>
              <a:t> for now. All materials take an object of properties which will be applied to them. To keep things very simple, we only supply a color attribute of 0x00ff00, which is green. This works the same way that colors work in CSS or Photoshop (hex colors).</a:t>
            </a:r>
          </a:p>
          <a:p>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third thing we need is a Mesh. A mesh is an object that takes a geometry, and applies a material to it, which we then can insert to our scene, and move freely around.</a:t>
            </a:r>
          </a:p>
          <a:p>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By default, when we call </a:t>
            </a:r>
            <a:r>
              <a:rPr lang="en-US" sz="1200" b="0" i="0" u="none" strike="noStrike" cap="none" dirty="0" err="1">
                <a:solidFill>
                  <a:schemeClr val="dk1"/>
                </a:solidFill>
                <a:effectLst/>
                <a:latin typeface="Calibri"/>
                <a:ea typeface="Calibri"/>
                <a:cs typeface="Calibri"/>
                <a:sym typeface="Calibri"/>
              </a:rPr>
              <a:t>scene.add</a:t>
            </a:r>
            <a:r>
              <a:rPr lang="en-US" sz="1200" b="0" i="0" u="none" strike="noStrike" cap="none" dirty="0">
                <a:solidFill>
                  <a:schemeClr val="dk1"/>
                </a:solidFill>
                <a:effectLst/>
                <a:latin typeface="Calibri"/>
                <a:ea typeface="Calibri"/>
                <a:cs typeface="Calibri"/>
                <a:sym typeface="Calibri"/>
              </a:rPr>
              <a:t>(), the thing we add will be added to the coordinates (0,0,0). This would cause both the camera and the cube to be inside each other. To avoid this, we simply move the camera out a bit.</a:t>
            </a:r>
          </a:p>
          <a:p>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 Rendering the scene:</a:t>
            </a:r>
          </a:p>
          <a:p>
            <a:r>
              <a:rPr lang="en-US" sz="1200" b="0" i="0" u="none" strike="noStrike" cap="none" dirty="0">
                <a:solidFill>
                  <a:schemeClr val="dk1"/>
                </a:solidFill>
                <a:effectLst/>
                <a:latin typeface="Calibri"/>
                <a:ea typeface="Calibri"/>
                <a:cs typeface="Calibri"/>
                <a:sym typeface="Calibri"/>
              </a:rPr>
              <a:t>If you copied the code from above into the main.js file we created earlier, you wouldn't be able to see anything. This is because we're not actually rendering anything yet. For that, we need what's called a render or animation loop.</a:t>
            </a:r>
          </a:p>
          <a:p>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This will create a loop that causes the renderer to draw the scene every time the screen is refreshed (on a typical screen this means 60 times per second). If you're new to writing games in the browser, you might say </a:t>
            </a:r>
            <a:r>
              <a:rPr lang="en-US" sz="1200" b="0" i="1" u="none" strike="noStrike" cap="none" dirty="0">
                <a:solidFill>
                  <a:schemeClr val="dk1"/>
                </a:solidFill>
                <a:effectLst/>
                <a:latin typeface="Calibri"/>
                <a:ea typeface="Calibri"/>
                <a:cs typeface="Calibri"/>
                <a:sym typeface="Calibri"/>
              </a:rPr>
              <a:t>"why don't we just create a </a:t>
            </a:r>
            <a:r>
              <a:rPr lang="en-US" sz="1200" b="0" i="1" u="none" strike="noStrike" cap="none" dirty="0" err="1">
                <a:solidFill>
                  <a:schemeClr val="dk1"/>
                </a:solidFill>
                <a:effectLst/>
                <a:latin typeface="Calibri"/>
                <a:ea typeface="Calibri"/>
                <a:cs typeface="Calibri"/>
                <a:sym typeface="Calibri"/>
              </a:rPr>
              <a:t>setInterval</a:t>
            </a:r>
            <a:r>
              <a:rPr lang="en-US" sz="1200" b="0" i="1"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 The thing is - we could, but </a:t>
            </a:r>
            <a:r>
              <a:rPr lang="en-US" sz="1200" b="0" i="0" u="none" strike="noStrike" cap="none" dirty="0" err="1">
                <a:solidFill>
                  <a:schemeClr val="dk1"/>
                </a:solidFill>
                <a:effectLst/>
                <a:latin typeface="Calibri"/>
                <a:ea typeface="Calibri"/>
                <a:cs typeface="Calibri"/>
                <a:sym typeface="Calibri"/>
              </a:rPr>
              <a:t>requestAnimationFrame</a:t>
            </a:r>
            <a:r>
              <a:rPr lang="en-US" sz="1200" b="0" i="0" u="none" strike="noStrike" cap="none" dirty="0">
                <a:solidFill>
                  <a:schemeClr val="dk1"/>
                </a:solidFill>
                <a:effectLst/>
                <a:latin typeface="Calibri"/>
                <a:ea typeface="Calibri"/>
                <a:cs typeface="Calibri"/>
                <a:sym typeface="Calibri"/>
              </a:rPr>
              <a:t> which is internally used in </a:t>
            </a:r>
            <a:r>
              <a:rPr lang="en-US" sz="1200" b="0" i="0" u="none" strike="noStrike" cap="none" dirty="0" err="1">
                <a:solidFill>
                  <a:schemeClr val="dk1"/>
                </a:solidFill>
                <a:effectLst/>
                <a:latin typeface="Calibri"/>
                <a:ea typeface="Calibri"/>
                <a:cs typeface="Calibri"/>
                <a:sym typeface="Calibri"/>
              </a:rPr>
              <a:t>WebGLRenderer</a:t>
            </a:r>
            <a:r>
              <a:rPr lang="en-US" sz="1200" b="0" i="0" u="none" strike="noStrike" cap="none" dirty="0">
                <a:solidFill>
                  <a:schemeClr val="dk1"/>
                </a:solidFill>
                <a:effectLst/>
                <a:latin typeface="Calibri"/>
                <a:ea typeface="Calibri"/>
                <a:cs typeface="Calibri"/>
                <a:sym typeface="Calibri"/>
              </a:rPr>
              <a:t> has a number of advantages. Perhaps the most important one is that it pauses when the user navigates to another browser tab, hence not wasting their precious processing power and battery life.</a:t>
            </a:r>
          </a:p>
          <a:p>
            <a:endParaRPr lang="en-US" sz="1200" b="0" i="0" u="none" strike="noStrike" cap="none" dirty="0">
              <a:solidFill>
                <a:schemeClr val="dk1"/>
              </a:solidFill>
              <a:effectLst/>
              <a:latin typeface="Calibri"/>
              <a:ea typeface="Calibri"/>
              <a:cs typeface="Calibri"/>
              <a:sym typeface="Calibri"/>
            </a:endParaRPr>
          </a:p>
          <a:p>
            <a:pPr marL="0" lvl="0" indent="0" algn="l" rtl="0">
              <a:spcBef>
                <a:spcPts val="0"/>
              </a:spcBef>
              <a:spcAft>
                <a:spcPts val="0"/>
              </a:spcAft>
              <a:buNone/>
            </a:pPr>
            <a:endParaRPr dirty="0"/>
          </a:p>
        </p:txBody>
      </p:sp>
      <p:sp>
        <p:nvSpPr>
          <p:cNvPr id="132" name="Google Shape;132;p3:notes">
            <a:extLst>
              <a:ext uri="{FF2B5EF4-FFF2-40B4-BE49-F238E27FC236}">
                <a16:creationId xmlns:a16="http://schemas.microsoft.com/office/drawing/2014/main" id="{6A4D74FC-3A66-572E-7F18-4A811C1DAF01}"/>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F15AB97F-2B2A-ED18-D7B2-743AE0D1CE53}"/>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1366979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B76A3783-A40A-C424-79E4-B8FE4103633C}"/>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0B650B32-AB4A-3865-46D9-F7254B820752}"/>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E8C010FB-808F-21C6-1824-CB02AFC2322F}"/>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algn="just"/>
            <a:r>
              <a:rPr lang="en-US" sz="1200" b="0" i="0" u="none" strike="noStrike" cap="none" dirty="0">
                <a:solidFill>
                  <a:schemeClr val="dk1"/>
                </a:solidFill>
                <a:effectLst/>
                <a:latin typeface="Calibri"/>
                <a:ea typeface="Calibri"/>
                <a:cs typeface="Calibri"/>
                <a:sym typeface="Calibri"/>
              </a:rPr>
              <a:t>Things to notice about the diagram above:</a:t>
            </a:r>
          </a:p>
          <a:p>
            <a:pPr algn="just">
              <a:buFontTx/>
              <a:buChar char="-"/>
            </a:pPr>
            <a:r>
              <a:rPr lang="en-US" sz="1200" b="0" i="0" u="none" strike="noStrike" cap="none" dirty="0">
                <a:solidFill>
                  <a:schemeClr val="dk1"/>
                </a:solidFill>
                <a:effectLst/>
                <a:latin typeface="Calibri"/>
                <a:ea typeface="Calibri"/>
                <a:cs typeface="Calibri"/>
                <a:sym typeface="Calibri"/>
              </a:rPr>
              <a:t>There is a </a:t>
            </a:r>
            <a:r>
              <a:rPr lang="en-US" sz="1200" b="0" i="0" u="none" strike="noStrike" cap="none" dirty="0">
                <a:solidFill>
                  <a:schemeClr val="dk1"/>
                </a:solidFill>
                <a:effectLst/>
                <a:latin typeface="Calibri"/>
                <a:ea typeface="Calibri"/>
                <a:cs typeface="Calibri"/>
                <a:sym typeface="Calibri"/>
                <a:hlinkClick r:id="rId3"/>
              </a:rPr>
              <a:t>Renderer</a:t>
            </a:r>
            <a:r>
              <a:rPr lang="en-US" sz="1200" b="0" i="0" u="none" strike="noStrike" cap="none" dirty="0">
                <a:solidFill>
                  <a:schemeClr val="dk1"/>
                </a:solidFill>
                <a:effectLst/>
                <a:latin typeface="Calibri"/>
                <a:ea typeface="Calibri"/>
                <a:cs typeface="Calibri"/>
                <a:sym typeface="Calibri"/>
              </a:rPr>
              <a:t>. This is arguably the main object of three.js. You pass a </a:t>
            </a:r>
            <a:r>
              <a:rPr lang="en-US" sz="1200" b="0" i="0" u="none" strike="noStrike" cap="none" dirty="0">
                <a:solidFill>
                  <a:schemeClr val="dk1"/>
                </a:solidFill>
                <a:effectLst/>
                <a:latin typeface="Calibri"/>
                <a:ea typeface="Calibri"/>
                <a:cs typeface="Calibri"/>
                <a:sym typeface="Calibri"/>
                <a:hlinkClick r:id="rId4"/>
              </a:rPr>
              <a:t>Scene</a:t>
            </a:r>
            <a:r>
              <a:rPr lang="en-US" sz="1200" b="0" i="0" u="none" strike="noStrike" cap="none" dirty="0">
                <a:solidFill>
                  <a:schemeClr val="dk1"/>
                </a:solidFill>
                <a:effectLst/>
                <a:latin typeface="Calibri"/>
                <a:ea typeface="Calibri"/>
                <a:cs typeface="Calibri"/>
                <a:sym typeface="Calibri"/>
              </a:rPr>
              <a:t> and a </a:t>
            </a:r>
            <a:r>
              <a:rPr lang="en-US" sz="1200" b="0" i="0" u="none" strike="noStrike" cap="none" dirty="0">
                <a:solidFill>
                  <a:schemeClr val="dk1"/>
                </a:solidFill>
                <a:effectLst/>
                <a:latin typeface="Calibri"/>
                <a:ea typeface="Calibri"/>
                <a:cs typeface="Calibri"/>
                <a:sym typeface="Calibri"/>
                <a:hlinkClick r:id="rId5"/>
              </a:rPr>
              <a:t>Camera</a:t>
            </a:r>
            <a:r>
              <a:rPr lang="en-US" sz="1200" b="0" i="0" u="none" strike="noStrike" cap="none" dirty="0">
                <a:solidFill>
                  <a:schemeClr val="dk1"/>
                </a:solidFill>
                <a:effectLst/>
                <a:latin typeface="Calibri"/>
                <a:ea typeface="Calibri"/>
                <a:cs typeface="Calibri"/>
                <a:sym typeface="Calibri"/>
              </a:rPr>
              <a:t> to a </a:t>
            </a:r>
            <a:r>
              <a:rPr lang="en-US" sz="1200" b="0" i="0" u="none" strike="noStrike" cap="none" dirty="0">
                <a:solidFill>
                  <a:schemeClr val="dk1"/>
                </a:solidFill>
                <a:effectLst/>
                <a:latin typeface="Calibri"/>
                <a:ea typeface="Calibri"/>
                <a:cs typeface="Calibri"/>
                <a:sym typeface="Calibri"/>
                <a:hlinkClick r:id="rId3"/>
              </a:rPr>
              <a:t>Renderer</a:t>
            </a:r>
            <a:r>
              <a:rPr lang="en-US" sz="1200" b="0" i="0" u="none" strike="noStrike" cap="none" dirty="0">
                <a:solidFill>
                  <a:schemeClr val="dk1"/>
                </a:solidFill>
                <a:effectLst/>
                <a:latin typeface="Calibri"/>
                <a:ea typeface="Calibri"/>
                <a:cs typeface="Calibri"/>
                <a:sym typeface="Calibri"/>
              </a:rPr>
              <a:t> and it renders (draws) the portion of the 3D scene that is inside the </a:t>
            </a:r>
            <a:r>
              <a:rPr lang="en-US" sz="1200" b="0" i="1" u="none" strike="noStrike" cap="none" dirty="0">
                <a:solidFill>
                  <a:schemeClr val="dk1"/>
                </a:solidFill>
                <a:effectLst/>
                <a:latin typeface="Calibri"/>
                <a:ea typeface="Calibri"/>
                <a:cs typeface="Calibri"/>
                <a:sym typeface="Calibri"/>
              </a:rPr>
              <a:t>frustum</a:t>
            </a:r>
            <a:r>
              <a:rPr lang="en-US" sz="1200" b="0" i="0" u="none" strike="noStrike" cap="none" dirty="0">
                <a:solidFill>
                  <a:schemeClr val="dk1"/>
                </a:solidFill>
                <a:effectLst/>
                <a:latin typeface="Calibri"/>
                <a:ea typeface="Calibri"/>
                <a:cs typeface="Calibri"/>
                <a:sym typeface="Calibri"/>
              </a:rPr>
              <a:t> of the camera as a 2D image to a canvas.</a:t>
            </a:r>
          </a:p>
          <a:p>
            <a:pPr algn="just">
              <a:buFontTx/>
              <a:buChar char="-"/>
            </a:pPr>
            <a:endParaRPr lang="en-US" sz="1200" b="0" i="0" u="none" strike="noStrike" cap="none" dirty="0">
              <a:solidFill>
                <a:schemeClr val="dk1"/>
              </a:solidFill>
              <a:effectLst/>
              <a:latin typeface="Calibri"/>
              <a:ea typeface="Calibri"/>
              <a:cs typeface="Calibri"/>
              <a:sym typeface="Calibri"/>
            </a:endParaRPr>
          </a:p>
          <a:p>
            <a:pPr algn="just">
              <a:buFontTx/>
              <a:buChar char="-"/>
            </a:pPr>
            <a:r>
              <a:rPr lang="en-US" sz="1200" b="0" i="0" u="none" strike="noStrike" cap="none" dirty="0">
                <a:solidFill>
                  <a:schemeClr val="dk1"/>
                </a:solidFill>
                <a:effectLst/>
                <a:latin typeface="Calibri"/>
                <a:ea typeface="Calibri"/>
                <a:cs typeface="Calibri"/>
                <a:sym typeface="Calibri"/>
              </a:rPr>
              <a:t>There is a </a:t>
            </a:r>
            <a:r>
              <a:rPr lang="en-US" sz="1200" b="0" i="0" u="none" strike="noStrike" cap="none" dirty="0" err="1">
                <a:solidFill>
                  <a:schemeClr val="dk1"/>
                </a:solidFill>
                <a:effectLst/>
                <a:latin typeface="Calibri"/>
                <a:ea typeface="Calibri"/>
                <a:cs typeface="Calibri"/>
                <a:sym typeface="Calibri"/>
                <a:hlinkClick r:id="rId6"/>
              </a:rPr>
              <a:t>scenegraph</a:t>
            </a:r>
            <a:r>
              <a:rPr lang="en-US" sz="1200" b="0" i="0" u="none" strike="noStrike" cap="none" dirty="0">
                <a:solidFill>
                  <a:schemeClr val="dk1"/>
                </a:solidFill>
                <a:effectLst/>
                <a:latin typeface="Calibri"/>
                <a:ea typeface="Calibri"/>
                <a:cs typeface="Calibri"/>
                <a:sym typeface="Calibri"/>
              </a:rPr>
              <a:t> which is a tree like structure, consisting of various objects like a </a:t>
            </a:r>
            <a:r>
              <a:rPr lang="en-US" sz="1200" b="0" i="0" u="none" strike="noStrike" cap="none" dirty="0">
                <a:solidFill>
                  <a:schemeClr val="dk1"/>
                </a:solidFill>
                <a:effectLst/>
                <a:latin typeface="Calibri"/>
                <a:ea typeface="Calibri"/>
                <a:cs typeface="Calibri"/>
                <a:sym typeface="Calibri"/>
                <a:hlinkClick r:id="rId4"/>
              </a:rPr>
              <a:t>Scene</a:t>
            </a:r>
            <a:r>
              <a:rPr lang="en-US" sz="1200" b="0" i="0" u="none" strike="noStrike" cap="none" dirty="0">
                <a:solidFill>
                  <a:schemeClr val="dk1"/>
                </a:solidFill>
                <a:effectLst/>
                <a:latin typeface="Calibri"/>
                <a:ea typeface="Calibri"/>
                <a:cs typeface="Calibri"/>
                <a:sym typeface="Calibri"/>
              </a:rPr>
              <a:t> object, multiple </a:t>
            </a:r>
            <a:r>
              <a:rPr lang="en-US" sz="1200" b="0" i="0" u="none" strike="noStrike" cap="none" dirty="0">
                <a:solidFill>
                  <a:schemeClr val="dk1"/>
                </a:solidFill>
                <a:effectLst/>
                <a:latin typeface="Calibri"/>
                <a:ea typeface="Calibri"/>
                <a:cs typeface="Calibri"/>
                <a:sym typeface="Calibri"/>
                <a:hlinkClick r:id="rId7"/>
              </a:rPr>
              <a:t>Mesh</a:t>
            </a:r>
            <a:r>
              <a:rPr lang="en-US" sz="1200" b="0" i="0" u="none" strike="noStrike" cap="none" dirty="0">
                <a:solidFill>
                  <a:schemeClr val="dk1"/>
                </a:solidFill>
                <a:effectLst/>
                <a:latin typeface="Calibri"/>
                <a:ea typeface="Calibri"/>
                <a:cs typeface="Calibri"/>
                <a:sym typeface="Calibri"/>
              </a:rPr>
              <a:t> objects, </a:t>
            </a:r>
            <a:r>
              <a:rPr lang="en-US" sz="1200" b="0" i="0" u="none" strike="noStrike" cap="none" dirty="0">
                <a:solidFill>
                  <a:schemeClr val="dk1"/>
                </a:solidFill>
                <a:effectLst/>
                <a:latin typeface="Calibri"/>
                <a:ea typeface="Calibri"/>
                <a:cs typeface="Calibri"/>
                <a:sym typeface="Calibri"/>
                <a:hlinkClick r:id="rId8"/>
              </a:rPr>
              <a:t>Light</a:t>
            </a:r>
            <a:r>
              <a:rPr lang="en-US" sz="1200" b="0" i="0" u="none" strike="noStrike" cap="none" dirty="0">
                <a:solidFill>
                  <a:schemeClr val="dk1"/>
                </a:solidFill>
                <a:effectLst/>
                <a:latin typeface="Calibri"/>
                <a:ea typeface="Calibri"/>
                <a:cs typeface="Calibri"/>
                <a:sym typeface="Calibri"/>
              </a:rPr>
              <a:t> objects, </a:t>
            </a:r>
            <a:r>
              <a:rPr lang="en-US" sz="1200" b="0" i="0" u="none" strike="noStrike" cap="none" dirty="0">
                <a:solidFill>
                  <a:schemeClr val="dk1"/>
                </a:solidFill>
                <a:effectLst/>
                <a:latin typeface="Calibri"/>
                <a:ea typeface="Calibri"/>
                <a:cs typeface="Calibri"/>
                <a:sym typeface="Calibri"/>
                <a:hlinkClick r:id="rId9"/>
              </a:rPr>
              <a:t>Group</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hlinkClick r:id="rId10"/>
              </a:rPr>
              <a:t>Object3D</a:t>
            </a:r>
            <a:r>
              <a:rPr lang="en-US" sz="1200" b="0" i="0" u="none" strike="noStrike" cap="none" dirty="0">
                <a:solidFill>
                  <a:schemeClr val="dk1"/>
                </a:solidFill>
                <a:effectLst/>
                <a:latin typeface="Calibri"/>
                <a:ea typeface="Calibri"/>
                <a:cs typeface="Calibri"/>
                <a:sym typeface="Calibri"/>
              </a:rPr>
              <a:t>, and </a:t>
            </a:r>
            <a:r>
              <a:rPr lang="en-US" sz="1200" b="0" i="0" u="none" strike="noStrike" cap="none" dirty="0">
                <a:solidFill>
                  <a:schemeClr val="dk1"/>
                </a:solidFill>
                <a:effectLst/>
                <a:latin typeface="Calibri"/>
                <a:ea typeface="Calibri"/>
                <a:cs typeface="Calibri"/>
                <a:sym typeface="Calibri"/>
                <a:hlinkClick r:id="rId5"/>
              </a:rPr>
              <a:t>Camera</a:t>
            </a:r>
            <a:r>
              <a:rPr lang="en-US" sz="1200" b="0" i="0" u="none" strike="noStrike" cap="none" dirty="0">
                <a:solidFill>
                  <a:schemeClr val="dk1"/>
                </a:solidFill>
                <a:effectLst/>
                <a:latin typeface="Calibri"/>
                <a:ea typeface="Calibri"/>
                <a:cs typeface="Calibri"/>
                <a:sym typeface="Calibri"/>
              </a:rPr>
              <a:t> objects. A </a:t>
            </a:r>
            <a:r>
              <a:rPr lang="en-US" sz="1200" b="0" i="0" u="none" strike="noStrike" cap="none" dirty="0">
                <a:solidFill>
                  <a:schemeClr val="dk1"/>
                </a:solidFill>
                <a:effectLst/>
                <a:latin typeface="Calibri"/>
                <a:ea typeface="Calibri"/>
                <a:cs typeface="Calibri"/>
                <a:sym typeface="Calibri"/>
                <a:hlinkClick r:id="rId4"/>
              </a:rPr>
              <a:t>Scene</a:t>
            </a:r>
            <a:r>
              <a:rPr lang="en-US" sz="1200" b="0" i="0" u="none" strike="noStrike" cap="none" dirty="0">
                <a:solidFill>
                  <a:schemeClr val="dk1"/>
                </a:solidFill>
                <a:effectLst/>
                <a:latin typeface="Calibri"/>
                <a:ea typeface="Calibri"/>
                <a:cs typeface="Calibri"/>
                <a:sym typeface="Calibri"/>
              </a:rPr>
              <a:t> object defines the root of the </a:t>
            </a:r>
            <a:r>
              <a:rPr lang="en-US" sz="1200" b="0" i="0" u="none" strike="noStrike" cap="none" dirty="0" err="1">
                <a:solidFill>
                  <a:schemeClr val="dk1"/>
                </a:solidFill>
                <a:effectLst/>
                <a:latin typeface="Calibri"/>
                <a:ea typeface="Calibri"/>
                <a:cs typeface="Calibri"/>
                <a:sym typeface="Calibri"/>
              </a:rPr>
              <a:t>scenegraph</a:t>
            </a:r>
            <a:r>
              <a:rPr lang="en-US" sz="1200" b="0" i="0" u="none" strike="noStrike" cap="none" dirty="0">
                <a:solidFill>
                  <a:schemeClr val="dk1"/>
                </a:solidFill>
                <a:effectLst/>
                <a:latin typeface="Calibri"/>
                <a:ea typeface="Calibri"/>
                <a:cs typeface="Calibri"/>
                <a:sym typeface="Calibri"/>
              </a:rPr>
              <a:t> and contains properties like the background color and fog. These objects define a hierarchical parent/child tree like structure and represent where objects appear and how they are oriented. Children are positioned and oriented relative to their parent. For example the wheels on a car might be children of the car so that moving and orienting the car's object automatically moves the wheels. You can read more about this in </a:t>
            </a:r>
            <a:r>
              <a:rPr lang="en-US" sz="1200" b="0" i="0" u="none" strike="noStrike" cap="none" dirty="0">
                <a:solidFill>
                  <a:schemeClr val="dk1"/>
                </a:solidFill>
                <a:effectLst/>
                <a:latin typeface="Calibri"/>
                <a:ea typeface="Calibri"/>
                <a:cs typeface="Calibri"/>
                <a:sym typeface="Calibri"/>
                <a:hlinkClick r:id="rId6"/>
              </a:rPr>
              <a:t>the article on </a:t>
            </a:r>
            <a:r>
              <a:rPr lang="en-US" sz="1200" b="0" i="0" u="none" strike="noStrike" cap="none" dirty="0" err="1">
                <a:solidFill>
                  <a:schemeClr val="dk1"/>
                </a:solidFill>
                <a:effectLst/>
                <a:latin typeface="Calibri"/>
                <a:ea typeface="Calibri"/>
                <a:cs typeface="Calibri"/>
                <a:sym typeface="Calibri"/>
                <a:hlinkClick r:id="rId6"/>
              </a:rPr>
              <a:t>scenegraphs</a:t>
            </a:r>
            <a:r>
              <a:rPr lang="en-US" sz="1200" b="0" i="0" u="none" strike="noStrike" cap="none" dirty="0">
                <a:solidFill>
                  <a:schemeClr val="dk1"/>
                </a:solidFill>
                <a:effectLst/>
                <a:latin typeface="Calibri"/>
                <a:ea typeface="Calibri"/>
                <a:cs typeface="Calibri"/>
                <a:sym typeface="Calibri"/>
              </a:rPr>
              <a:t>.</a:t>
            </a:r>
          </a:p>
          <a:p>
            <a:pPr algn="just">
              <a:buFontTx/>
              <a:buChar char="-"/>
            </a:pPr>
            <a:endParaRPr lang="en-US" sz="1200" b="0" i="0" u="none" strike="noStrike" cap="none" dirty="0">
              <a:solidFill>
                <a:schemeClr val="dk1"/>
              </a:solidFill>
              <a:effectLst/>
              <a:latin typeface="Calibri"/>
              <a:ea typeface="Calibri"/>
              <a:cs typeface="Calibri"/>
              <a:sym typeface="Calibri"/>
            </a:endParaRPr>
          </a:p>
          <a:p>
            <a:pPr algn="just">
              <a:buFontTx/>
              <a:buChar char="-"/>
            </a:pPr>
            <a:r>
              <a:rPr lang="en-US" sz="1200" b="0" i="0" u="none" strike="noStrike" cap="none" dirty="0">
                <a:solidFill>
                  <a:schemeClr val="dk1"/>
                </a:solidFill>
                <a:effectLst/>
                <a:latin typeface="Calibri"/>
                <a:ea typeface="Calibri"/>
                <a:cs typeface="Calibri"/>
                <a:sym typeface="Calibri"/>
              </a:rPr>
              <a:t>Note in the diagram </a:t>
            </a:r>
            <a:r>
              <a:rPr lang="en-US" sz="1200" b="0" i="0" u="none" strike="noStrike" cap="none" dirty="0">
                <a:solidFill>
                  <a:schemeClr val="dk1"/>
                </a:solidFill>
                <a:effectLst/>
                <a:latin typeface="Calibri"/>
                <a:ea typeface="Calibri"/>
                <a:cs typeface="Calibri"/>
                <a:sym typeface="Calibri"/>
                <a:hlinkClick r:id="rId5"/>
              </a:rPr>
              <a:t>Camera</a:t>
            </a:r>
            <a:r>
              <a:rPr lang="en-US" sz="1200" b="0" i="0" u="none" strike="noStrike" cap="none" dirty="0">
                <a:solidFill>
                  <a:schemeClr val="dk1"/>
                </a:solidFill>
                <a:effectLst/>
                <a:latin typeface="Calibri"/>
                <a:ea typeface="Calibri"/>
                <a:cs typeface="Calibri"/>
                <a:sym typeface="Calibri"/>
              </a:rPr>
              <a:t> is half in half out of the </a:t>
            </a:r>
            <a:r>
              <a:rPr lang="en-US" sz="1200" b="0" i="0" u="none" strike="noStrike" cap="none" dirty="0" err="1">
                <a:solidFill>
                  <a:schemeClr val="dk1"/>
                </a:solidFill>
                <a:effectLst/>
                <a:latin typeface="Calibri"/>
                <a:ea typeface="Calibri"/>
                <a:cs typeface="Calibri"/>
                <a:sym typeface="Calibri"/>
              </a:rPr>
              <a:t>scenegraph</a:t>
            </a:r>
            <a:r>
              <a:rPr lang="en-US" sz="1200" b="0" i="0" u="none" strike="noStrike" cap="none" dirty="0">
                <a:solidFill>
                  <a:schemeClr val="dk1"/>
                </a:solidFill>
                <a:effectLst/>
                <a:latin typeface="Calibri"/>
                <a:ea typeface="Calibri"/>
                <a:cs typeface="Calibri"/>
                <a:sym typeface="Calibri"/>
              </a:rPr>
              <a:t>. This is to represent that in three.js, unlike the other objects, a </a:t>
            </a:r>
            <a:r>
              <a:rPr lang="en-US" sz="1200" b="0" i="0" u="none" strike="noStrike" cap="none" dirty="0">
                <a:solidFill>
                  <a:schemeClr val="dk1"/>
                </a:solidFill>
                <a:effectLst/>
                <a:latin typeface="Calibri"/>
                <a:ea typeface="Calibri"/>
                <a:cs typeface="Calibri"/>
                <a:sym typeface="Calibri"/>
                <a:hlinkClick r:id="rId5"/>
              </a:rPr>
              <a:t>Camera</a:t>
            </a:r>
            <a:r>
              <a:rPr lang="en-US" sz="1200" b="0" i="0" u="none" strike="noStrike" cap="none" dirty="0">
                <a:solidFill>
                  <a:schemeClr val="dk1"/>
                </a:solidFill>
                <a:effectLst/>
                <a:latin typeface="Calibri"/>
                <a:ea typeface="Calibri"/>
                <a:cs typeface="Calibri"/>
                <a:sym typeface="Calibri"/>
              </a:rPr>
              <a:t> does not have to be in the </a:t>
            </a:r>
            <a:r>
              <a:rPr lang="en-US" sz="1200" b="0" i="0" u="none" strike="noStrike" cap="none" dirty="0" err="1">
                <a:solidFill>
                  <a:schemeClr val="dk1"/>
                </a:solidFill>
                <a:effectLst/>
                <a:latin typeface="Calibri"/>
                <a:ea typeface="Calibri"/>
                <a:cs typeface="Calibri"/>
                <a:sym typeface="Calibri"/>
              </a:rPr>
              <a:t>scenegraph</a:t>
            </a:r>
            <a:r>
              <a:rPr lang="en-US" sz="1200" b="0" i="0" u="none" strike="noStrike" cap="none" dirty="0">
                <a:solidFill>
                  <a:schemeClr val="dk1"/>
                </a:solidFill>
                <a:effectLst/>
                <a:latin typeface="Calibri"/>
                <a:ea typeface="Calibri"/>
                <a:cs typeface="Calibri"/>
                <a:sym typeface="Calibri"/>
              </a:rPr>
              <a:t> to function. Just like other objects, a </a:t>
            </a:r>
            <a:r>
              <a:rPr lang="en-US" sz="1200" b="0" i="0" u="none" strike="noStrike" cap="none" dirty="0">
                <a:solidFill>
                  <a:schemeClr val="dk1"/>
                </a:solidFill>
                <a:effectLst/>
                <a:latin typeface="Calibri"/>
                <a:ea typeface="Calibri"/>
                <a:cs typeface="Calibri"/>
                <a:sym typeface="Calibri"/>
                <a:hlinkClick r:id="rId5"/>
              </a:rPr>
              <a:t>Camera</a:t>
            </a:r>
            <a:r>
              <a:rPr lang="en-US" sz="1200" b="0" i="0" u="none" strike="noStrike" cap="none" dirty="0">
                <a:solidFill>
                  <a:schemeClr val="dk1"/>
                </a:solidFill>
                <a:effectLst/>
                <a:latin typeface="Calibri"/>
                <a:ea typeface="Calibri"/>
                <a:cs typeface="Calibri"/>
                <a:sym typeface="Calibri"/>
              </a:rPr>
              <a:t>, as a child of some other object, will move and orient relative to its parent object. There is an example of putting multiple </a:t>
            </a:r>
            <a:r>
              <a:rPr lang="en-US" sz="1200" b="0" i="0" u="none" strike="noStrike" cap="none" dirty="0">
                <a:solidFill>
                  <a:schemeClr val="dk1"/>
                </a:solidFill>
                <a:effectLst/>
                <a:latin typeface="Calibri"/>
                <a:ea typeface="Calibri"/>
                <a:cs typeface="Calibri"/>
                <a:sym typeface="Calibri"/>
                <a:hlinkClick r:id="rId5"/>
              </a:rPr>
              <a:t>Camera</a:t>
            </a:r>
            <a:r>
              <a:rPr lang="en-US" sz="1200" b="0" i="0" u="none" strike="noStrike" cap="none" dirty="0">
                <a:solidFill>
                  <a:schemeClr val="dk1"/>
                </a:solidFill>
                <a:effectLst/>
                <a:latin typeface="Calibri"/>
                <a:ea typeface="Calibri"/>
                <a:cs typeface="Calibri"/>
                <a:sym typeface="Calibri"/>
              </a:rPr>
              <a:t> objects in a </a:t>
            </a:r>
            <a:r>
              <a:rPr lang="en-US" sz="1200" b="0" i="0" u="none" strike="noStrike" cap="none" dirty="0" err="1">
                <a:solidFill>
                  <a:schemeClr val="dk1"/>
                </a:solidFill>
                <a:effectLst/>
                <a:latin typeface="Calibri"/>
                <a:ea typeface="Calibri"/>
                <a:cs typeface="Calibri"/>
                <a:sym typeface="Calibri"/>
              </a:rPr>
              <a:t>scenegraph</a:t>
            </a:r>
            <a:r>
              <a:rPr lang="en-US" sz="1200" b="0" i="0" u="none" strike="noStrike" cap="none" dirty="0">
                <a:solidFill>
                  <a:schemeClr val="dk1"/>
                </a:solidFill>
                <a:effectLst/>
                <a:latin typeface="Calibri"/>
                <a:ea typeface="Calibri"/>
                <a:cs typeface="Calibri"/>
                <a:sym typeface="Calibri"/>
              </a:rPr>
              <a:t> at the end of </a:t>
            </a:r>
            <a:r>
              <a:rPr lang="en-US" sz="1200" b="0" i="0" u="none" strike="noStrike" cap="none" dirty="0">
                <a:solidFill>
                  <a:schemeClr val="dk1"/>
                </a:solidFill>
                <a:effectLst/>
                <a:latin typeface="Calibri"/>
                <a:ea typeface="Calibri"/>
                <a:cs typeface="Calibri"/>
                <a:sym typeface="Calibri"/>
                <a:hlinkClick r:id="rId6"/>
              </a:rPr>
              <a:t>the article on </a:t>
            </a:r>
            <a:r>
              <a:rPr lang="en-US" sz="1200" b="0" i="0" u="none" strike="noStrike" cap="none" dirty="0" err="1">
                <a:solidFill>
                  <a:schemeClr val="dk1"/>
                </a:solidFill>
                <a:effectLst/>
                <a:latin typeface="Calibri"/>
                <a:ea typeface="Calibri"/>
                <a:cs typeface="Calibri"/>
                <a:sym typeface="Calibri"/>
                <a:hlinkClick r:id="rId6"/>
              </a:rPr>
              <a:t>scenegraphs</a:t>
            </a:r>
            <a:r>
              <a:rPr lang="en-US" sz="1200" b="0" i="0" u="none" strike="noStrike" cap="none" dirty="0">
                <a:solidFill>
                  <a:schemeClr val="dk1"/>
                </a:solidFill>
                <a:effectLst/>
                <a:latin typeface="Calibri"/>
                <a:ea typeface="Calibri"/>
                <a:cs typeface="Calibri"/>
                <a:sym typeface="Calibri"/>
              </a:rPr>
              <a:t>.</a:t>
            </a:r>
          </a:p>
          <a:p>
            <a:pPr algn="just">
              <a:buFontTx/>
              <a:buChar char="-"/>
            </a:pPr>
            <a:endParaRPr lang="en-US" sz="1200" b="0" i="0" u="none" strike="noStrike" cap="none" dirty="0">
              <a:solidFill>
                <a:schemeClr val="dk1"/>
              </a:solidFill>
              <a:effectLst/>
              <a:latin typeface="Calibri"/>
              <a:ea typeface="Calibri"/>
              <a:cs typeface="Calibri"/>
              <a:sym typeface="Calibri"/>
              <a:hlinkClick r:id="rId7"/>
            </a:endParaRPr>
          </a:p>
          <a:p>
            <a:pPr algn="just">
              <a:buFontTx/>
              <a:buChar char="-"/>
            </a:pPr>
            <a:r>
              <a:rPr lang="en-US" sz="1200" b="0" i="0" u="none" strike="noStrike" cap="none" dirty="0">
                <a:solidFill>
                  <a:schemeClr val="dk1"/>
                </a:solidFill>
                <a:effectLst/>
                <a:latin typeface="Calibri"/>
                <a:ea typeface="Calibri"/>
                <a:cs typeface="Calibri"/>
                <a:sym typeface="Calibri"/>
                <a:hlinkClick r:id="rId7"/>
              </a:rPr>
              <a:t>Mesh</a:t>
            </a:r>
            <a:r>
              <a:rPr lang="en-US" sz="1200" b="0" i="0" u="none" strike="noStrike" cap="none" dirty="0">
                <a:solidFill>
                  <a:schemeClr val="dk1"/>
                </a:solidFill>
                <a:effectLst/>
                <a:latin typeface="Calibri"/>
                <a:ea typeface="Calibri"/>
                <a:cs typeface="Calibri"/>
                <a:sym typeface="Calibri"/>
              </a:rPr>
              <a:t> objects represent drawing a specific Geometry with a specific </a:t>
            </a:r>
            <a:r>
              <a:rPr lang="en-US" sz="1200" b="0" i="0" u="none" strike="noStrike" cap="none" dirty="0">
                <a:solidFill>
                  <a:schemeClr val="dk1"/>
                </a:solidFill>
                <a:effectLst/>
                <a:latin typeface="Calibri"/>
                <a:ea typeface="Calibri"/>
                <a:cs typeface="Calibri"/>
                <a:sym typeface="Calibri"/>
                <a:hlinkClick r:id="rId11"/>
              </a:rPr>
              <a:t>Material</a:t>
            </a:r>
            <a:r>
              <a:rPr lang="en-US" sz="1200" b="0" i="0" u="none" strike="noStrike" cap="none" dirty="0">
                <a:solidFill>
                  <a:schemeClr val="dk1"/>
                </a:solidFill>
                <a:effectLst/>
                <a:latin typeface="Calibri"/>
                <a:ea typeface="Calibri"/>
                <a:cs typeface="Calibri"/>
                <a:sym typeface="Calibri"/>
              </a:rPr>
              <a:t>. Both </a:t>
            </a:r>
            <a:r>
              <a:rPr lang="en-US" sz="1200" b="0" i="0" u="none" strike="noStrike" cap="none" dirty="0">
                <a:solidFill>
                  <a:schemeClr val="dk1"/>
                </a:solidFill>
                <a:effectLst/>
                <a:latin typeface="Calibri"/>
                <a:ea typeface="Calibri"/>
                <a:cs typeface="Calibri"/>
                <a:sym typeface="Calibri"/>
                <a:hlinkClick r:id="rId11"/>
              </a:rPr>
              <a:t>Material</a:t>
            </a:r>
            <a:r>
              <a:rPr lang="en-US" sz="1200" b="0" i="0" u="none" strike="noStrike" cap="none" dirty="0">
                <a:solidFill>
                  <a:schemeClr val="dk1"/>
                </a:solidFill>
                <a:effectLst/>
                <a:latin typeface="Calibri"/>
                <a:ea typeface="Calibri"/>
                <a:cs typeface="Calibri"/>
                <a:sym typeface="Calibri"/>
              </a:rPr>
              <a:t> objects and Geometry objects can be used by multiple </a:t>
            </a:r>
            <a:r>
              <a:rPr lang="en-US" sz="1200" b="0" i="0" u="none" strike="noStrike" cap="none" dirty="0">
                <a:solidFill>
                  <a:schemeClr val="dk1"/>
                </a:solidFill>
                <a:effectLst/>
                <a:latin typeface="Calibri"/>
                <a:ea typeface="Calibri"/>
                <a:cs typeface="Calibri"/>
                <a:sym typeface="Calibri"/>
                <a:hlinkClick r:id="rId7"/>
              </a:rPr>
              <a:t>Mesh</a:t>
            </a:r>
            <a:r>
              <a:rPr lang="en-US" sz="1200" b="0" i="0" u="none" strike="noStrike" cap="none" dirty="0">
                <a:solidFill>
                  <a:schemeClr val="dk1"/>
                </a:solidFill>
                <a:effectLst/>
                <a:latin typeface="Calibri"/>
                <a:ea typeface="Calibri"/>
                <a:cs typeface="Calibri"/>
                <a:sym typeface="Calibri"/>
              </a:rPr>
              <a:t> objects. For example to draw two blue cubes in different locations we could need two </a:t>
            </a:r>
            <a:r>
              <a:rPr lang="en-US" sz="1200" b="0" i="0" u="none" strike="noStrike" cap="none" dirty="0">
                <a:solidFill>
                  <a:schemeClr val="dk1"/>
                </a:solidFill>
                <a:effectLst/>
                <a:latin typeface="Calibri"/>
                <a:ea typeface="Calibri"/>
                <a:cs typeface="Calibri"/>
                <a:sym typeface="Calibri"/>
                <a:hlinkClick r:id="rId7"/>
              </a:rPr>
              <a:t>Mesh</a:t>
            </a:r>
            <a:r>
              <a:rPr lang="en-US" sz="1200" b="0" i="0" u="none" strike="noStrike" cap="none" dirty="0">
                <a:solidFill>
                  <a:schemeClr val="dk1"/>
                </a:solidFill>
                <a:effectLst/>
                <a:latin typeface="Calibri"/>
                <a:ea typeface="Calibri"/>
                <a:cs typeface="Calibri"/>
                <a:sym typeface="Calibri"/>
              </a:rPr>
              <a:t> objects to represent the position and orientation of each cube. We would only need one Geometry to hold the vertex data for a cube and we would only need one </a:t>
            </a:r>
            <a:r>
              <a:rPr lang="en-US" sz="1200" b="0" i="0" u="none" strike="noStrike" cap="none" dirty="0">
                <a:solidFill>
                  <a:schemeClr val="dk1"/>
                </a:solidFill>
                <a:effectLst/>
                <a:latin typeface="Calibri"/>
                <a:ea typeface="Calibri"/>
                <a:cs typeface="Calibri"/>
                <a:sym typeface="Calibri"/>
                <a:hlinkClick r:id="rId11"/>
              </a:rPr>
              <a:t>Material</a:t>
            </a:r>
            <a:r>
              <a:rPr lang="en-US" sz="1200" b="0" i="0" u="none" strike="noStrike" cap="none" dirty="0">
                <a:solidFill>
                  <a:schemeClr val="dk1"/>
                </a:solidFill>
                <a:effectLst/>
                <a:latin typeface="Calibri"/>
                <a:ea typeface="Calibri"/>
                <a:cs typeface="Calibri"/>
                <a:sym typeface="Calibri"/>
              </a:rPr>
              <a:t> to specify the color blue. Both </a:t>
            </a:r>
            <a:r>
              <a:rPr lang="en-US" sz="1200" b="0" i="0" u="none" strike="noStrike" cap="none" dirty="0">
                <a:solidFill>
                  <a:schemeClr val="dk1"/>
                </a:solidFill>
                <a:effectLst/>
                <a:latin typeface="Calibri"/>
                <a:ea typeface="Calibri"/>
                <a:cs typeface="Calibri"/>
                <a:sym typeface="Calibri"/>
                <a:hlinkClick r:id="rId7"/>
              </a:rPr>
              <a:t>Mesh</a:t>
            </a:r>
            <a:r>
              <a:rPr lang="en-US" sz="1200" b="0" i="0" u="none" strike="noStrike" cap="none" dirty="0">
                <a:solidFill>
                  <a:schemeClr val="dk1"/>
                </a:solidFill>
                <a:effectLst/>
                <a:latin typeface="Calibri"/>
                <a:ea typeface="Calibri"/>
                <a:cs typeface="Calibri"/>
                <a:sym typeface="Calibri"/>
              </a:rPr>
              <a:t> objects could reference the same Geometry object and the same </a:t>
            </a:r>
            <a:r>
              <a:rPr lang="en-US" sz="1200" b="0" i="0" u="none" strike="noStrike" cap="none" dirty="0">
                <a:solidFill>
                  <a:schemeClr val="dk1"/>
                </a:solidFill>
                <a:effectLst/>
                <a:latin typeface="Calibri"/>
                <a:ea typeface="Calibri"/>
                <a:cs typeface="Calibri"/>
                <a:sym typeface="Calibri"/>
                <a:hlinkClick r:id="rId11"/>
              </a:rPr>
              <a:t>Material</a:t>
            </a:r>
            <a:r>
              <a:rPr lang="en-US" sz="1200" b="0" i="0" u="none" strike="noStrike" cap="none" dirty="0">
                <a:solidFill>
                  <a:schemeClr val="dk1"/>
                </a:solidFill>
                <a:effectLst/>
                <a:latin typeface="Calibri"/>
                <a:ea typeface="Calibri"/>
                <a:cs typeface="Calibri"/>
                <a:sym typeface="Calibri"/>
              </a:rPr>
              <a:t> object.</a:t>
            </a:r>
          </a:p>
          <a:p>
            <a:pPr algn="just"/>
            <a:endParaRPr lang="en-US" sz="1200" b="0" i="0" u="none" strike="noStrike" cap="none" dirty="0">
              <a:solidFill>
                <a:schemeClr val="dk1"/>
              </a:solidFill>
              <a:effectLst/>
              <a:latin typeface="Calibri"/>
              <a:ea typeface="Calibri"/>
              <a:cs typeface="Calibri"/>
              <a:sym typeface="Calibri"/>
            </a:endParaRPr>
          </a:p>
          <a:p>
            <a:pPr algn="just">
              <a:buFontTx/>
              <a:buChar char="-"/>
            </a:pPr>
            <a:r>
              <a:rPr lang="en-US" sz="1200" b="0" i="0" u="none" strike="noStrike" cap="none" dirty="0">
                <a:solidFill>
                  <a:schemeClr val="dk1"/>
                </a:solidFill>
                <a:effectLst/>
                <a:latin typeface="Calibri"/>
                <a:ea typeface="Calibri"/>
                <a:cs typeface="Calibri"/>
                <a:sym typeface="Calibri"/>
              </a:rPr>
              <a:t>Geometry objects represent the vertex data of some piece of geometry like a sphere, cube, plane, dog, cat, human, tree, building, etc... Three.js provides many kinds of built in </a:t>
            </a:r>
            <a:r>
              <a:rPr lang="en-US" sz="1200" b="0" i="0" u="none" strike="noStrike" cap="none" dirty="0">
                <a:solidFill>
                  <a:schemeClr val="dk1"/>
                </a:solidFill>
                <a:effectLst/>
                <a:latin typeface="Calibri"/>
                <a:ea typeface="Calibri"/>
                <a:cs typeface="Calibri"/>
                <a:sym typeface="Calibri"/>
                <a:hlinkClick r:id="rId12"/>
              </a:rPr>
              <a:t>geometry primitives</a:t>
            </a:r>
            <a:r>
              <a:rPr lang="en-US" sz="1200" b="0" i="0" u="none" strike="noStrike" cap="none" dirty="0">
                <a:solidFill>
                  <a:schemeClr val="dk1"/>
                </a:solidFill>
                <a:effectLst/>
                <a:latin typeface="Calibri"/>
                <a:ea typeface="Calibri"/>
                <a:cs typeface="Calibri"/>
                <a:sym typeface="Calibri"/>
              </a:rPr>
              <a:t>. You can also </a:t>
            </a:r>
            <a:r>
              <a:rPr lang="en-US" sz="1200" b="0" i="0" u="none" strike="noStrike" cap="none" dirty="0">
                <a:solidFill>
                  <a:schemeClr val="dk1"/>
                </a:solidFill>
                <a:effectLst/>
                <a:latin typeface="Calibri"/>
                <a:ea typeface="Calibri"/>
                <a:cs typeface="Calibri"/>
                <a:sym typeface="Calibri"/>
                <a:hlinkClick r:id="rId13"/>
              </a:rPr>
              <a:t>create custom geometry</a:t>
            </a:r>
            <a:r>
              <a:rPr lang="en-US" sz="1200" b="0" i="0" u="none" strike="noStrike" cap="none" dirty="0">
                <a:solidFill>
                  <a:schemeClr val="dk1"/>
                </a:solidFill>
                <a:effectLst/>
                <a:latin typeface="Calibri"/>
                <a:ea typeface="Calibri"/>
                <a:cs typeface="Calibri"/>
                <a:sym typeface="Calibri"/>
              </a:rPr>
              <a:t> as well as </a:t>
            </a:r>
            <a:r>
              <a:rPr lang="en-US" sz="1200" b="0" i="0" u="none" strike="noStrike" cap="none" dirty="0">
                <a:solidFill>
                  <a:schemeClr val="dk1"/>
                </a:solidFill>
                <a:effectLst/>
                <a:latin typeface="Calibri"/>
                <a:ea typeface="Calibri"/>
                <a:cs typeface="Calibri"/>
                <a:sym typeface="Calibri"/>
                <a:hlinkClick r:id="rId14"/>
              </a:rPr>
              <a:t>load geometry from files</a:t>
            </a:r>
            <a:r>
              <a:rPr lang="en-US" sz="1200" b="0" i="0" u="none" strike="noStrike" cap="none" dirty="0">
                <a:solidFill>
                  <a:schemeClr val="dk1"/>
                </a:solidFill>
                <a:effectLst/>
                <a:latin typeface="Calibri"/>
                <a:ea typeface="Calibri"/>
                <a:cs typeface="Calibri"/>
                <a:sym typeface="Calibri"/>
              </a:rPr>
              <a:t>.</a:t>
            </a:r>
          </a:p>
          <a:p>
            <a:pPr algn="just">
              <a:buFontTx/>
              <a:buChar char="-"/>
            </a:pPr>
            <a:endParaRPr lang="en-US" sz="1200" b="0" i="0" u="none" strike="noStrike" cap="none" dirty="0">
              <a:solidFill>
                <a:schemeClr val="dk1"/>
              </a:solidFill>
              <a:effectLst/>
              <a:latin typeface="Calibri"/>
              <a:ea typeface="Calibri"/>
              <a:cs typeface="Calibri"/>
              <a:sym typeface="Calibri"/>
            </a:endParaRPr>
          </a:p>
          <a:p>
            <a:pPr algn="just">
              <a:buFontTx/>
              <a:buChar char="-"/>
            </a:pPr>
            <a:r>
              <a:rPr lang="en-US" sz="1200" b="0" i="0" u="none" strike="noStrike" cap="none" dirty="0">
                <a:solidFill>
                  <a:schemeClr val="dk1"/>
                </a:solidFill>
                <a:effectLst/>
                <a:latin typeface="Calibri"/>
                <a:ea typeface="Calibri"/>
                <a:cs typeface="Calibri"/>
                <a:sym typeface="Calibri"/>
                <a:hlinkClick r:id="rId11"/>
              </a:rPr>
              <a:t>Material</a:t>
            </a:r>
            <a:r>
              <a:rPr lang="en-US" sz="1200" b="0" i="0" u="none" strike="noStrike" cap="none" dirty="0">
                <a:solidFill>
                  <a:schemeClr val="dk1"/>
                </a:solidFill>
                <a:effectLst/>
                <a:latin typeface="Calibri"/>
                <a:ea typeface="Calibri"/>
                <a:cs typeface="Calibri"/>
                <a:sym typeface="Calibri"/>
              </a:rPr>
              <a:t> objects represent </a:t>
            </a:r>
            <a:r>
              <a:rPr lang="en-US" sz="1200" b="0" i="0" u="none" strike="noStrike" cap="none" dirty="0">
                <a:solidFill>
                  <a:schemeClr val="dk1"/>
                </a:solidFill>
                <a:effectLst/>
                <a:latin typeface="Calibri"/>
                <a:ea typeface="Calibri"/>
                <a:cs typeface="Calibri"/>
                <a:sym typeface="Calibri"/>
                <a:hlinkClick r:id="rId15"/>
              </a:rPr>
              <a:t>the surface properties used to draw geometry</a:t>
            </a:r>
            <a:r>
              <a:rPr lang="en-US" sz="1200" b="0" i="0" u="none" strike="noStrike" cap="none" dirty="0">
                <a:solidFill>
                  <a:schemeClr val="dk1"/>
                </a:solidFill>
                <a:effectLst/>
                <a:latin typeface="Calibri"/>
                <a:ea typeface="Calibri"/>
                <a:cs typeface="Calibri"/>
                <a:sym typeface="Calibri"/>
              </a:rPr>
              <a:t> including things like the color to use and how shiny it is. A </a:t>
            </a:r>
            <a:r>
              <a:rPr lang="en-US" sz="1200" b="0" i="0" u="none" strike="noStrike" cap="none" dirty="0">
                <a:solidFill>
                  <a:schemeClr val="dk1"/>
                </a:solidFill>
                <a:effectLst/>
                <a:latin typeface="Calibri"/>
                <a:ea typeface="Calibri"/>
                <a:cs typeface="Calibri"/>
                <a:sym typeface="Calibri"/>
                <a:hlinkClick r:id="rId11"/>
              </a:rPr>
              <a:t>Material</a:t>
            </a:r>
            <a:r>
              <a:rPr lang="en-US" sz="1200" b="0" i="0" u="none" strike="noStrike" cap="none" dirty="0">
                <a:solidFill>
                  <a:schemeClr val="dk1"/>
                </a:solidFill>
                <a:effectLst/>
                <a:latin typeface="Calibri"/>
                <a:ea typeface="Calibri"/>
                <a:cs typeface="Calibri"/>
                <a:sym typeface="Calibri"/>
              </a:rPr>
              <a:t> can also reference one or more </a:t>
            </a:r>
            <a:r>
              <a:rPr lang="en-US" sz="1200" b="0" i="0" u="none" strike="noStrike" cap="none" dirty="0">
                <a:solidFill>
                  <a:schemeClr val="dk1"/>
                </a:solidFill>
                <a:effectLst/>
                <a:latin typeface="Calibri"/>
                <a:ea typeface="Calibri"/>
                <a:cs typeface="Calibri"/>
                <a:sym typeface="Calibri"/>
                <a:hlinkClick r:id="rId16"/>
              </a:rPr>
              <a:t>Texture</a:t>
            </a:r>
            <a:r>
              <a:rPr lang="en-US" sz="1200" b="0" i="0" u="none" strike="noStrike" cap="none" dirty="0">
                <a:solidFill>
                  <a:schemeClr val="dk1"/>
                </a:solidFill>
                <a:effectLst/>
                <a:latin typeface="Calibri"/>
                <a:ea typeface="Calibri"/>
                <a:cs typeface="Calibri"/>
                <a:sym typeface="Calibri"/>
              </a:rPr>
              <a:t> objects which can be used, for example, to wrap an image onto the surface of a geometry.</a:t>
            </a:r>
          </a:p>
          <a:p>
            <a:pPr algn="just">
              <a:buFontTx/>
              <a:buChar char="-"/>
            </a:pPr>
            <a:endParaRPr lang="en-US" sz="1200" b="0" i="0" u="none" strike="noStrike" cap="none" dirty="0">
              <a:solidFill>
                <a:schemeClr val="dk1"/>
              </a:solidFill>
              <a:effectLst/>
              <a:latin typeface="Calibri"/>
              <a:ea typeface="Calibri"/>
              <a:cs typeface="Calibri"/>
              <a:sym typeface="Calibri"/>
              <a:hlinkClick r:id="rId16"/>
            </a:endParaRPr>
          </a:p>
          <a:p>
            <a:pPr algn="just">
              <a:buFontTx/>
              <a:buChar char="-"/>
            </a:pPr>
            <a:r>
              <a:rPr lang="en-US" sz="1200" b="0" i="0" u="none" strike="noStrike" cap="none" dirty="0">
                <a:solidFill>
                  <a:schemeClr val="dk1"/>
                </a:solidFill>
                <a:effectLst/>
                <a:latin typeface="Calibri"/>
                <a:ea typeface="Calibri"/>
                <a:cs typeface="Calibri"/>
                <a:sym typeface="Calibri"/>
                <a:hlinkClick r:id="rId16"/>
              </a:rPr>
              <a:t>Texture</a:t>
            </a:r>
            <a:r>
              <a:rPr lang="en-US" sz="1200" b="0" i="0" u="none" strike="noStrike" cap="none" dirty="0">
                <a:solidFill>
                  <a:schemeClr val="dk1"/>
                </a:solidFill>
                <a:effectLst/>
                <a:latin typeface="Calibri"/>
                <a:ea typeface="Calibri"/>
                <a:cs typeface="Calibri"/>
                <a:sym typeface="Calibri"/>
              </a:rPr>
              <a:t> objects generally represent images either </a:t>
            </a:r>
            <a:r>
              <a:rPr lang="en-US" sz="1200" b="0" i="0" u="none" strike="noStrike" cap="none" dirty="0">
                <a:solidFill>
                  <a:schemeClr val="dk1"/>
                </a:solidFill>
                <a:effectLst/>
                <a:latin typeface="Calibri"/>
                <a:ea typeface="Calibri"/>
                <a:cs typeface="Calibri"/>
                <a:sym typeface="Calibri"/>
                <a:hlinkClick r:id="rId17"/>
              </a:rPr>
              <a:t>loaded from image files</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hlinkClick r:id="rId18"/>
              </a:rPr>
              <a:t>generated from a canvas</a:t>
            </a:r>
            <a:r>
              <a:rPr lang="en-US" sz="1200" b="0" i="0" u="none" strike="noStrike" cap="none" dirty="0">
                <a:solidFill>
                  <a:schemeClr val="dk1"/>
                </a:solidFill>
                <a:effectLst/>
                <a:latin typeface="Calibri"/>
                <a:ea typeface="Calibri"/>
                <a:cs typeface="Calibri"/>
                <a:sym typeface="Calibri"/>
              </a:rPr>
              <a:t> or </a:t>
            </a:r>
            <a:r>
              <a:rPr lang="en-US" sz="1200" b="0" i="0" u="none" strike="noStrike" cap="none" dirty="0">
                <a:solidFill>
                  <a:schemeClr val="dk1"/>
                </a:solidFill>
                <a:effectLst/>
                <a:latin typeface="Calibri"/>
                <a:ea typeface="Calibri"/>
                <a:cs typeface="Calibri"/>
                <a:sym typeface="Calibri"/>
                <a:hlinkClick r:id="rId19"/>
              </a:rPr>
              <a:t>rendered from another scene</a:t>
            </a:r>
            <a:r>
              <a:rPr lang="en-US" sz="1200" b="0" i="0" u="none" strike="noStrike" cap="none" dirty="0">
                <a:solidFill>
                  <a:schemeClr val="dk1"/>
                </a:solidFill>
                <a:effectLst/>
                <a:latin typeface="Calibri"/>
                <a:ea typeface="Calibri"/>
                <a:cs typeface="Calibri"/>
                <a:sym typeface="Calibri"/>
              </a:rPr>
              <a:t>.</a:t>
            </a:r>
          </a:p>
          <a:p>
            <a:pPr algn="just">
              <a:buFontTx/>
              <a:buChar char="-"/>
            </a:pPr>
            <a:endParaRPr lang="en-US" sz="1200" b="0" i="0" u="none" strike="noStrike" cap="none" dirty="0">
              <a:solidFill>
                <a:schemeClr val="dk1"/>
              </a:solidFill>
              <a:effectLst/>
              <a:latin typeface="Calibri"/>
              <a:ea typeface="Calibri"/>
              <a:cs typeface="Calibri"/>
              <a:sym typeface="Calibri"/>
              <a:hlinkClick r:id="rId8"/>
            </a:endParaRPr>
          </a:p>
          <a:p>
            <a:pPr algn="just">
              <a:buFontTx/>
              <a:buChar char="-"/>
            </a:pPr>
            <a:r>
              <a:rPr lang="en-US" sz="1200" b="0" i="0" u="none" strike="noStrike" cap="none" dirty="0">
                <a:solidFill>
                  <a:schemeClr val="dk1"/>
                </a:solidFill>
                <a:effectLst/>
                <a:latin typeface="Calibri"/>
                <a:ea typeface="Calibri"/>
                <a:cs typeface="Calibri"/>
                <a:sym typeface="Calibri"/>
                <a:hlinkClick r:id="rId8"/>
              </a:rPr>
              <a:t>Light</a:t>
            </a:r>
            <a:r>
              <a:rPr lang="en-US" sz="1200" b="0" i="0" u="none" strike="noStrike" cap="none" dirty="0">
                <a:solidFill>
                  <a:schemeClr val="dk1"/>
                </a:solidFill>
                <a:effectLst/>
                <a:latin typeface="Calibri"/>
                <a:ea typeface="Calibri"/>
                <a:cs typeface="Calibri"/>
                <a:sym typeface="Calibri"/>
              </a:rPr>
              <a:t> objects represent </a:t>
            </a:r>
            <a:r>
              <a:rPr lang="en-US" sz="1200" b="0" i="0" u="none" strike="noStrike" cap="none" dirty="0">
                <a:solidFill>
                  <a:schemeClr val="dk1"/>
                </a:solidFill>
                <a:effectLst/>
                <a:latin typeface="Calibri"/>
                <a:ea typeface="Calibri"/>
                <a:cs typeface="Calibri"/>
                <a:sym typeface="Calibri"/>
                <a:hlinkClick r:id="rId20"/>
              </a:rPr>
              <a:t>different kinds of lights</a:t>
            </a:r>
            <a:r>
              <a:rPr lang="en-US" sz="1200" b="0" i="0" u="none" strike="noStrike" cap="none" dirty="0">
                <a:solidFill>
                  <a:schemeClr val="dk1"/>
                </a:solidFill>
                <a:effectLst/>
                <a:latin typeface="Calibri"/>
                <a:ea typeface="Calibri"/>
                <a:cs typeface="Calibri"/>
                <a:sym typeface="Calibri"/>
              </a:rPr>
              <a:t>.</a:t>
            </a:r>
          </a:p>
          <a:p>
            <a:pPr marL="0" lvl="0" indent="0" algn="l" rtl="0">
              <a:spcBef>
                <a:spcPts val="0"/>
              </a:spcBef>
              <a:spcAft>
                <a:spcPts val="0"/>
              </a:spcAft>
              <a:buNone/>
            </a:pPr>
            <a:endParaRPr dirty="0"/>
          </a:p>
        </p:txBody>
      </p:sp>
      <p:sp>
        <p:nvSpPr>
          <p:cNvPr id="132" name="Google Shape;132;p3:notes">
            <a:extLst>
              <a:ext uri="{FF2B5EF4-FFF2-40B4-BE49-F238E27FC236}">
                <a16:creationId xmlns:a16="http://schemas.microsoft.com/office/drawing/2014/main" id="{C0DAEBE7-F9B7-0A88-13C9-07F7E4DD2744}"/>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6E32A4AA-4EE5-C432-DFFB-A235B5E4FB64}"/>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13712478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D36B0032-8587-3F8B-C7BF-BAB2A60ACCD7}"/>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FB4E7CC5-19F2-4903-C027-AA53A1828EAF}"/>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3C22222D-37D7-DAB6-0E76-6203780C1A9B}"/>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Camera parameters:</a:t>
            </a:r>
          </a:p>
          <a:p>
            <a:pPr>
              <a:buFontTx/>
              <a:buChar char="-"/>
            </a:pPr>
            <a:r>
              <a:rPr lang="en-US" sz="1200" b="1" i="0" u="none" strike="noStrike" cap="none" dirty="0" err="1">
                <a:solidFill>
                  <a:schemeClr val="dk1"/>
                </a:solidFill>
                <a:effectLst/>
                <a:latin typeface="Calibri"/>
                <a:ea typeface="Calibri"/>
                <a:cs typeface="Calibri"/>
                <a:sym typeface="Calibri"/>
              </a:rPr>
              <a:t>fov</a:t>
            </a:r>
            <a:r>
              <a:rPr lang="en-US" sz="1200" b="1"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short for field of view. In this case 75 degrees in the vertical dimension. Note that most angles in three.js are in radians but for some reason the perspective camera takes degrees.</a:t>
            </a:r>
          </a:p>
          <a:p>
            <a:pPr>
              <a:buFontTx/>
              <a:buChar char="-"/>
            </a:pPr>
            <a:r>
              <a:rPr lang="en-US" sz="1200" b="1" i="0" u="none" strike="noStrike" cap="none" dirty="0">
                <a:solidFill>
                  <a:schemeClr val="dk1"/>
                </a:solidFill>
                <a:effectLst/>
                <a:latin typeface="Calibri"/>
                <a:ea typeface="Calibri"/>
                <a:cs typeface="Calibri"/>
                <a:sym typeface="Calibri"/>
              </a:rPr>
              <a:t>aspect </a:t>
            </a:r>
            <a:r>
              <a:rPr lang="en-US" sz="1200" b="0" i="0" u="none" strike="noStrike" cap="none" dirty="0">
                <a:solidFill>
                  <a:schemeClr val="dk1"/>
                </a:solidFill>
                <a:effectLst/>
                <a:latin typeface="Calibri"/>
                <a:ea typeface="Calibri"/>
                <a:cs typeface="Calibri"/>
                <a:sym typeface="Calibri"/>
              </a:rPr>
              <a:t>is the display aspect of the canvas. We'll go over the details </a:t>
            </a:r>
            <a:r>
              <a:rPr lang="en-US" sz="1200" b="0" i="0" u="none" strike="noStrike" cap="none" dirty="0">
                <a:solidFill>
                  <a:schemeClr val="dk1"/>
                </a:solidFill>
                <a:effectLst/>
                <a:latin typeface="Calibri"/>
                <a:ea typeface="Calibri"/>
                <a:cs typeface="Calibri"/>
                <a:sym typeface="Calibri"/>
                <a:hlinkClick r:id="rId3"/>
              </a:rPr>
              <a:t>in another article</a:t>
            </a:r>
            <a:r>
              <a:rPr lang="en-US" sz="1200" b="0" i="0" u="none" strike="noStrike" cap="none" dirty="0">
                <a:solidFill>
                  <a:schemeClr val="dk1"/>
                </a:solidFill>
                <a:effectLst/>
                <a:latin typeface="Calibri"/>
                <a:ea typeface="Calibri"/>
                <a:cs typeface="Calibri"/>
                <a:sym typeface="Calibri"/>
              </a:rPr>
              <a:t> but by default a canvas is 300x150 pixels which makes the aspect 300/150 or 2.</a:t>
            </a:r>
          </a:p>
          <a:p>
            <a:pPr>
              <a:buFontTx/>
              <a:buChar char="-"/>
            </a:pPr>
            <a:r>
              <a:rPr lang="en-US" sz="1200" b="1" i="0" u="none" strike="noStrike" cap="none" dirty="0">
                <a:solidFill>
                  <a:schemeClr val="dk1"/>
                </a:solidFill>
                <a:effectLst/>
                <a:latin typeface="Calibri"/>
                <a:ea typeface="Calibri"/>
                <a:cs typeface="Calibri"/>
                <a:sym typeface="Calibri"/>
              </a:rPr>
              <a:t>near </a:t>
            </a:r>
            <a:r>
              <a:rPr lang="en-US" sz="1200" b="0" i="0" u="none" strike="noStrike" cap="none" dirty="0">
                <a:solidFill>
                  <a:schemeClr val="dk1"/>
                </a:solidFill>
                <a:effectLst/>
                <a:latin typeface="Calibri"/>
                <a:ea typeface="Calibri"/>
                <a:cs typeface="Calibri"/>
                <a:sym typeface="Calibri"/>
              </a:rPr>
              <a:t>and </a:t>
            </a:r>
            <a:r>
              <a:rPr lang="en-US" sz="1200" b="1" i="0" u="none" strike="noStrike" cap="none" dirty="0">
                <a:solidFill>
                  <a:schemeClr val="dk1"/>
                </a:solidFill>
                <a:effectLst/>
                <a:latin typeface="Calibri"/>
                <a:ea typeface="Calibri"/>
                <a:cs typeface="Calibri"/>
                <a:sym typeface="Calibri"/>
              </a:rPr>
              <a:t>far </a:t>
            </a:r>
            <a:r>
              <a:rPr lang="en-US" sz="1200" b="0" i="0" u="none" strike="noStrike" cap="none" dirty="0">
                <a:solidFill>
                  <a:schemeClr val="dk1"/>
                </a:solidFill>
                <a:effectLst/>
                <a:latin typeface="Calibri"/>
                <a:ea typeface="Calibri"/>
                <a:cs typeface="Calibri"/>
                <a:sym typeface="Calibri"/>
              </a:rPr>
              <a:t>represent the space in front of the camera that will be rendered. Anything before that range or after that range will be clipped (not drawn).</a:t>
            </a:r>
          </a:p>
          <a:p>
            <a:pPr>
              <a:buFontTx/>
              <a:buChar char="-"/>
            </a:pPr>
            <a:r>
              <a:rPr lang="en-US" sz="1200" b="0" i="0" u="none" strike="noStrike" cap="none" dirty="0">
                <a:solidFill>
                  <a:schemeClr val="dk1"/>
                </a:solidFill>
                <a:effectLst/>
                <a:latin typeface="Calibri"/>
                <a:ea typeface="Calibri"/>
                <a:cs typeface="Calibri"/>
                <a:sym typeface="Calibri"/>
              </a:rPr>
              <a:t>The height of the near and far planes are determined by the field of view. The width of both planes is determined by the field of view and the aspect.</a:t>
            </a:r>
          </a:p>
          <a:p>
            <a:pPr>
              <a:buFontTx/>
              <a:buChar char="-"/>
            </a:pPr>
            <a:r>
              <a:rPr lang="en-US" sz="1200" b="0" i="0" u="none" strike="noStrike" cap="none" dirty="0">
                <a:solidFill>
                  <a:schemeClr val="dk1"/>
                </a:solidFill>
                <a:effectLst/>
                <a:latin typeface="Calibri"/>
                <a:ea typeface="Calibri"/>
                <a:cs typeface="Calibri"/>
                <a:sym typeface="Calibri"/>
              </a:rPr>
              <a:t>Anything inside the defined frustum will be drawn. Anything outside will not.</a:t>
            </a:r>
          </a:p>
          <a:p>
            <a:pPr>
              <a:buFontTx/>
              <a:buChar char="-"/>
            </a:pPr>
            <a:r>
              <a:rPr lang="en-US" sz="1200" b="0" i="0" u="none" strike="noStrike" cap="none" dirty="0">
                <a:solidFill>
                  <a:schemeClr val="dk1"/>
                </a:solidFill>
                <a:effectLst/>
                <a:latin typeface="Calibri"/>
                <a:ea typeface="Calibri"/>
                <a:cs typeface="Calibri"/>
                <a:sym typeface="Calibri"/>
              </a:rPr>
              <a:t>The camera defaults to looking down the -Z axis with +Y up. We'll put our cube at the origin so we need to move the camera back a little from the origin in order to see anything.</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Coordinate system:</a:t>
            </a:r>
          </a:p>
          <a:p>
            <a:pPr marL="0" lvl="0" indent="0" algn="l" rtl="0">
              <a:spcBef>
                <a:spcPts val="0"/>
              </a:spcBef>
              <a:spcAft>
                <a:spcPts val="0"/>
              </a:spcAft>
              <a:buNone/>
            </a:pPr>
            <a:r>
              <a:rPr lang="en-US" sz="1200" b="0" i="0" u="none" strike="noStrike" cap="none" dirty="0">
                <a:solidFill>
                  <a:schemeClr val="dk1"/>
                </a:solidFill>
                <a:effectLst/>
                <a:latin typeface="Calibri"/>
                <a:ea typeface="Calibri"/>
                <a:cs typeface="Calibri"/>
                <a:sym typeface="Calibri"/>
              </a:rPr>
              <a:t>In the diagram above we can see our camera is at z = 2. It's looking down the -Z axis. Our frustum starts 0.1 units from the front of the camera and goes to 5 units in front of the camera. Because in this diagram we are looking down, the field of view is affected by the aspect. Our canvas is twice as wide as it is tall so across the canvas the field of view will be much wider than our specified 75 degrees which is the vertical field of view.</a:t>
            </a:r>
            <a:endParaRPr dirty="0"/>
          </a:p>
        </p:txBody>
      </p:sp>
      <p:sp>
        <p:nvSpPr>
          <p:cNvPr id="132" name="Google Shape;132;p3:notes">
            <a:extLst>
              <a:ext uri="{FF2B5EF4-FFF2-40B4-BE49-F238E27FC236}">
                <a16:creationId xmlns:a16="http://schemas.microsoft.com/office/drawing/2014/main" id="{6D05285E-EA4C-5836-FC04-809E919F9112}"/>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36FB1DAA-8CAB-4840-76B5-F2A6DABFF995}"/>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6983324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869C29C0-1EDE-E6EB-A583-B639F9CEC6F3}"/>
            </a:ext>
          </a:extLst>
        </p:cNvPr>
        <p:cNvGrpSpPr/>
        <p:nvPr/>
      </p:nvGrpSpPr>
      <p:grpSpPr>
        <a:xfrm>
          <a:off x="0" y="0"/>
          <a:ext cx="0" cy="0"/>
          <a:chOff x="0" y="0"/>
          <a:chExt cx="0" cy="0"/>
        </a:xfrm>
      </p:grpSpPr>
      <p:sp>
        <p:nvSpPr>
          <p:cNvPr id="122" name="Google Shape;122;p2:notes">
            <a:extLst>
              <a:ext uri="{FF2B5EF4-FFF2-40B4-BE49-F238E27FC236}">
                <a16:creationId xmlns:a16="http://schemas.microsoft.com/office/drawing/2014/main" id="{32318B2D-C694-E16D-1FC9-D908E9E9F585}"/>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2:notes">
            <a:extLst>
              <a:ext uri="{FF2B5EF4-FFF2-40B4-BE49-F238E27FC236}">
                <a16:creationId xmlns:a16="http://schemas.microsoft.com/office/drawing/2014/main" id="{2AD9BA31-65E1-72B9-A96D-C2EE81F91F88}"/>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Slide Number Placeholder 1">
            <a:extLst>
              <a:ext uri="{FF2B5EF4-FFF2-40B4-BE49-F238E27FC236}">
                <a16:creationId xmlns:a16="http://schemas.microsoft.com/office/drawing/2014/main" id="{DD7BA5CB-CDB3-3636-B010-D750980B3C08}"/>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454429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9D4B0853-2A0C-7925-FC43-2DBDB03AA328}"/>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3A4A1BCD-0B76-52F4-37FA-88380E0445B5}"/>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p4:notes">
            <a:extLst>
              <a:ext uri="{FF2B5EF4-FFF2-40B4-BE49-F238E27FC236}">
                <a16:creationId xmlns:a16="http://schemas.microsoft.com/office/drawing/2014/main" id="{4A19B633-43CB-AF03-7407-6B8DC8ABD5D6}"/>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4:notes">
            <a:extLst>
              <a:ext uri="{FF2B5EF4-FFF2-40B4-BE49-F238E27FC236}">
                <a16:creationId xmlns:a16="http://schemas.microsoft.com/office/drawing/2014/main" id="{EA937228-A2B1-856F-5427-6A427C52CD92}"/>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44" name="Google Shape;144;p4:notes">
            <a:extLst>
              <a:ext uri="{FF2B5EF4-FFF2-40B4-BE49-F238E27FC236}">
                <a16:creationId xmlns:a16="http://schemas.microsoft.com/office/drawing/2014/main" id="{C14DBE39-69BC-1EBD-6F82-D4D16F968FE5}"/>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2400510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400AC3BA-28E9-D3C4-831C-7784D721F9BE}"/>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6FA4CB42-3444-D956-4690-5870F4A2DB6B}"/>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p4:notes">
            <a:extLst>
              <a:ext uri="{FF2B5EF4-FFF2-40B4-BE49-F238E27FC236}">
                <a16:creationId xmlns:a16="http://schemas.microsoft.com/office/drawing/2014/main" id="{369A90BA-7FFC-7FF5-E295-85BED7CEF178}"/>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Cho </a:t>
            </a:r>
            <a:r>
              <a:rPr lang="en-US" dirty="0" err="1"/>
              <a:t>lớp</a:t>
            </a:r>
            <a:r>
              <a:rPr lang="en-US" dirty="0"/>
              <a:t> </a:t>
            </a:r>
            <a:r>
              <a:rPr lang="en-US" dirty="0" err="1"/>
              <a:t>ngồi</a:t>
            </a:r>
            <a:r>
              <a:rPr lang="en-US" dirty="0"/>
              <a:t> 20 </a:t>
            </a:r>
            <a:r>
              <a:rPr lang="en-US" dirty="0" err="1"/>
              <a:t>phút</a:t>
            </a:r>
            <a:r>
              <a:rPr lang="en-US" dirty="0"/>
              <a:t> </a:t>
            </a:r>
            <a:r>
              <a:rPr lang="en-US" dirty="0" err="1"/>
              <a:t>đọc</a:t>
            </a:r>
            <a:r>
              <a:rPr lang="en-US" dirty="0"/>
              <a:t> code </a:t>
            </a:r>
            <a:r>
              <a:rPr lang="en-US" dirty="0" err="1"/>
              <a:t>mẫu</a:t>
            </a:r>
            <a:r>
              <a:rPr lang="en-US" dirty="0"/>
              <a:t> </a:t>
            </a:r>
            <a:r>
              <a:rPr lang="en-US" dirty="0" err="1"/>
              <a:t>trên</a:t>
            </a:r>
            <a:r>
              <a:rPr lang="en-US" dirty="0"/>
              <a:t> documentation, </a:t>
            </a:r>
            <a:r>
              <a:rPr lang="en-US" dirty="0" err="1"/>
              <a:t>thực</a:t>
            </a:r>
            <a:r>
              <a:rPr lang="en-US" dirty="0"/>
              <a:t> </a:t>
            </a:r>
            <a:r>
              <a:rPr lang="en-US" dirty="0" err="1"/>
              <a:t>hành</a:t>
            </a:r>
            <a:r>
              <a:rPr lang="en-US" dirty="0"/>
              <a:t> </a:t>
            </a:r>
            <a:r>
              <a:rPr lang="en-US" dirty="0" err="1"/>
              <a:t>và</a:t>
            </a:r>
            <a:r>
              <a:rPr lang="en-US" dirty="0"/>
              <a:t> </a:t>
            </a:r>
            <a:r>
              <a:rPr lang="en-US" dirty="0" err="1"/>
              <a:t>gọi</a:t>
            </a:r>
            <a:r>
              <a:rPr lang="en-US" dirty="0"/>
              <a:t> </a:t>
            </a:r>
            <a:r>
              <a:rPr lang="en-US" dirty="0" err="1"/>
              <a:t>xung</a:t>
            </a:r>
            <a:r>
              <a:rPr lang="en-US" dirty="0"/>
              <a:t> </a:t>
            </a:r>
            <a:r>
              <a:rPr lang="en-US" dirty="0" err="1"/>
              <a:t>phong</a:t>
            </a:r>
            <a:r>
              <a:rPr lang="en-US" dirty="0"/>
              <a:t> demo + </a:t>
            </a:r>
            <a:r>
              <a:rPr lang="en-US" dirty="0" err="1"/>
              <a:t>giải</a:t>
            </a:r>
            <a:r>
              <a:rPr lang="en-US" dirty="0"/>
              <a:t> </a:t>
            </a:r>
            <a:r>
              <a:rPr lang="en-US" dirty="0" err="1"/>
              <a:t>thích</a:t>
            </a:r>
            <a:r>
              <a:rPr lang="en-US" dirty="0"/>
              <a:t> </a:t>
            </a:r>
            <a:r>
              <a:rPr lang="en-US" dirty="0" err="1"/>
              <a:t>các</a:t>
            </a:r>
            <a:r>
              <a:rPr lang="en-US" dirty="0"/>
              <a:t> </a:t>
            </a:r>
            <a:r>
              <a:rPr lang="en-US" dirty="0" err="1"/>
              <a:t>thuộc</a:t>
            </a:r>
            <a:r>
              <a:rPr lang="en-US" dirty="0"/>
              <a:t> </a:t>
            </a:r>
            <a:r>
              <a:rPr lang="en-US" dirty="0" err="1"/>
              <a:t>tính</a:t>
            </a:r>
            <a:r>
              <a:rPr lang="en-US" dirty="0"/>
              <a:t> </a:t>
            </a:r>
            <a:r>
              <a:rPr lang="en-US" dirty="0" err="1"/>
              <a:t>của</a:t>
            </a:r>
            <a:r>
              <a:rPr lang="en-US" dirty="0"/>
              <a:t> object</a:t>
            </a:r>
            <a:endParaRPr dirty="0"/>
          </a:p>
        </p:txBody>
      </p:sp>
      <p:sp>
        <p:nvSpPr>
          <p:cNvPr id="143" name="Google Shape;143;p4:notes">
            <a:extLst>
              <a:ext uri="{FF2B5EF4-FFF2-40B4-BE49-F238E27FC236}">
                <a16:creationId xmlns:a16="http://schemas.microsoft.com/office/drawing/2014/main" id="{729B3A0D-6D7C-BAA4-7BE8-A551229827CD}"/>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44" name="Google Shape;144;p4:notes">
            <a:extLst>
              <a:ext uri="{FF2B5EF4-FFF2-40B4-BE49-F238E27FC236}">
                <a16:creationId xmlns:a16="http://schemas.microsoft.com/office/drawing/2014/main" id="{0E9C0142-8227-55DA-4659-046ADFAD3AC9}"/>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31672794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C7342B6F-9AAA-283C-A8E2-2BD9DE6E1E82}"/>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06792ACE-6E4B-59D0-531F-44DAE35256B2}"/>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p4:notes">
            <a:extLst>
              <a:ext uri="{FF2B5EF4-FFF2-40B4-BE49-F238E27FC236}">
                <a16:creationId xmlns:a16="http://schemas.microsoft.com/office/drawing/2014/main" id="{D5EF80CA-9466-7FF5-007B-40D5B72837B8}"/>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4:notes">
            <a:extLst>
              <a:ext uri="{FF2B5EF4-FFF2-40B4-BE49-F238E27FC236}">
                <a16:creationId xmlns:a16="http://schemas.microsoft.com/office/drawing/2014/main" id="{557C1D6C-EE15-548A-CCC0-40912F1A2431}"/>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44" name="Google Shape;144;p4:notes">
            <a:extLst>
              <a:ext uri="{FF2B5EF4-FFF2-40B4-BE49-F238E27FC236}">
                <a16:creationId xmlns:a16="http://schemas.microsoft.com/office/drawing/2014/main" id="{BED80645-32B7-75EF-55A1-E430D7841152}"/>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36546786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0BFEA765-C8E5-08F6-03B3-649BF64134FB}"/>
            </a:ext>
          </a:extLst>
        </p:cNvPr>
        <p:cNvGrpSpPr/>
        <p:nvPr/>
      </p:nvGrpSpPr>
      <p:grpSpPr>
        <a:xfrm>
          <a:off x="0" y="0"/>
          <a:ext cx="0" cy="0"/>
          <a:chOff x="0" y="0"/>
          <a:chExt cx="0" cy="0"/>
        </a:xfrm>
      </p:grpSpPr>
      <p:sp>
        <p:nvSpPr>
          <p:cNvPr id="122" name="Google Shape;122;p2:notes">
            <a:extLst>
              <a:ext uri="{FF2B5EF4-FFF2-40B4-BE49-F238E27FC236}">
                <a16:creationId xmlns:a16="http://schemas.microsoft.com/office/drawing/2014/main" id="{67135A92-5661-353C-87A0-33C6A4868DCC}"/>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2:notes">
            <a:extLst>
              <a:ext uri="{FF2B5EF4-FFF2-40B4-BE49-F238E27FC236}">
                <a16:creationId xmlns:a16="http://schemas.microsoft.com/office/drawing/2014/main" id="{E7E20B84-E249-562D-77D2-CFA4B991D5AD}"/>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Slide Number Placeholder 1">
            <a:extLst>
              <a:ext uri="{FF2B5EF4-FFF2-40B4-BE49-F238E27FC236}">
                <a16:creationId xmlns:a16="http://schemas.microsoft.com/office/drawing/2014/main" id="{486DAE9B-FCBB-95AE-EAF4-9861E9462B43}"/>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768596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73B2C784-9CAD-71FD-4598-5826A4FB51C8}"/>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B31781EB-B824-34A4-7137-40CE4BAB1056}"/>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BD095EAB-923D-4A69-EED9-52512783CACB}"/>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2" name="Google Shape;132;p3:notes">
            <a:extLst>
              <a:ext uri="{FF2B5EF4-FFF2-40B4-BE49-F238E27FC236}">
                <a16:creationId xmlns:a16="http://schemas.microsoft.com/office/drawing/2014/main" id="{C778DBB4-D8FD-C660-3374-3649FAB3D5CA}"/>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03BD98DD-1BDB-5B3A-C702-C4D3B8F785E9}"/>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31868818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8"/>
        <p:cNvGrpSpPr/>
        <p:nvPr/>
      </p:nvGrpSpPr>
      <p:grpSpPr>
        <a:xfrm>
          <a:off x="0" y="0"/>
          <a:ext cx="0" cy="0"/>
          <a:chOff x="0" y="0"/>
          <a:chExt cx="0" cy="0"/>
        </a:xfrm>
      </p:grpSpPr>
      <p:sp>
        <p:nvSpPr>
          <p:cNvPr id="19" name="Google Shape;19;p30"/>
          <p:cNvSpPr txBox="1">
            <a:spLocks noGrp="1"/>
          </p:cNvSpPr>
          <p:nvPr>
            <p:ph type="ctrTitle"/>
          </p:nvPr>
        </p:nvSpPr>
        <p:spPr>
          <a:xfrm>
            <a:off x="1219200" y="3886200"/>
            <a:ext cx="6858000" cy="990600"/>
          </a:xfrm>
          <a:prstGeom prst="rect">
            <a:avLst/>
          </a:prstGeom>
          <a:noFill/>
          <a:ln>
            <a:noFill/>
          </a:ln>
        </p:spPr>
        <p:txBody>
          <a:bodyPr spcFirstLastPara="1" wrap="square" lIns="91425" tIns="45700" rIns="91425" bIns="45700" anchor="t" anchorCtr="0">
            <a:normAutofit/>
          </a:bodyPr>
          <a:lstStyle>
            <a:lvl1pPr lvl="0" algn="r">
              <a:spcBef>
                <a:spcPts val="0"/>
              </a:spcBef>
              <a:spcAft>
                <a:spcPts val="0"/>
              </a:spcAft>
              <a:buClr>
                <a:schemeClr val="dk1"/>
              </a:buClr>
              <a:buSzPts val="3200"/>
              <a:buFont typeface="Bookman Old Style"/>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30"/>
          <p:cNvSpPr txBox="1">
            <a:spLocks noGrp="1"/>
          </p:cNvSpPr>
          <p:nvPr>
            <p:ph type="subTitle" idx="1"/>
          </p:nvPr>
        </p:nvSpPr>
        <p:spPr>
          <a:xfrm>
            <a:off x="1219200" y="5124450"/>
            <a:ext cx="6858000" cy="533400"/>
          </a:xfrm>
          <a:prstGeom prst="rect">
            <a:avLst/>
          </a:prstGeom>
          <a:noFill/>
          <a:ln>
            <a:noFill/>
          </a:ln>
        </p:spPr>
        <p:txBody>
          <a:bodyPr spcFirstLastPara="1" wrap="square" lIns="91425" tIns="45700" rIns="91425" bIns="45700" anchor="t" anchorCtr="0">
            <a:normAutofit/>
          </a:bodyPr>
          <a:lstStyle>
            <a:lvl1pPr lvl="0" algn="r">
              <a:spcBef>
                <a:spcPts val="600"/>
              </a:spcBef>
              <a:spcAft>
                <a:spcPts val="0"/>
              </a:spcAft>
              <a:buSzPts val="1520"/>
              <a:buNone/>
              <a:defRPr sz="2000">
                <a:solidFill>
                  <a:schemeClr val="dk2"/>
                </a:solidFill>
                <a:latin typeface="Bookman Old Style"/>
                <a:ea typeface="Bookman Old Style"/>
                <a:cs typeface="Bookman Old Style"/>
                <a:sym typeface="Bookman Old Style"/>
              </a:defRPr>
            </a:lvl1pPr>
            <a:lvl2pPr lvl="1" algn="ctr">
              <a:spcBef>
                <a:spcPts val="500"/>
              </a:spcBef>
              <a:spcAft>
                <a:spcPts val="0"/>
              </a:spcAft>
              <a:buSzPts val="1368"/>
              <a:buNone/>
              <a:defRPr/>
            </a:lvl2pPr>
            <a:lvl3pPr lvl="2" algn="ctr">
              <a:spcBef>
                <a:spcPts val="500"/>
              </a:spcBef>
              <a:spcAft>
                <a:spcPts val="0"/>
              </a:spcAft>
              <a:buSzPts val="1368"/>
              <a:buNone/>
              <a:defRPr/>
            </a:lvl3pPr>
            <a:lvl4pPr lvl="3" algn="ctr">
              <a:spcBef>
                <a:spcPts val="400"/>
              </a:spcBef>
              <a:spcAft>
                <a:spcPts val="0"/>
              </a:spcAft>
              <a:buSzPts val="1260"/>
              <a:buNone/>
              <a:defRPr/>
            </a:lvl4pPr>
            <a:lvl5pPr lvl="4" algn="ctr">
              <a:spcBef>
                <a:spcPts val="300"/>
              </a:spcBef>
              <a:spcAft>
                <a:spcPts val="0"/>
              </a:spcAft>
              <a:buSzPts val="1260"/>
              <a:buNone/>
              <a:defRPr/>
            </a:lvl5pPr>
            <a:lvl6pPr lvl="5" algn="ctr">
              <a:spcBef>
                <a:spcPts val="300"/>
              </a:spcBef>
              <a:spcAft>
                <a:spcPts val="0"/>
              </a:spcAft>
              <a:buSzPts val="1350"/>
              <a:buNone/>
              <a:defRPr/>
            </a:lvl6pPr>
            <a:lvl7pPr lvl="6" algn="ctr">
              <a:spcBef>
                <a:spcPts val="300"/>
              </a:spcBef>
              <a:spcAft>
                <a:spcPts val="0"/>
              </a:spcAft>
              <a:buSzPts val="1350"/>
              <a:buNone/>
              <a:defRPr/>
            </a:lvl7pPr>
            <a:lvl8pPr lvl="7" algn="ctr">
              <a:spcBef>
                <a:spcPts val="300"/>
              </a:spcBef>
              <a:spcAft>
                <a:spcPts val="0"/>
              </a:spcAft>
              <a:buSzPts val="1350"/>
              <a:buNone/>
              <a:defRPr/>
            </a:lvl8pPr>
            <a:lvl9pPr lvl="8" algn="ctr">
              <a:spcBef>
                <a:spcPts val="300"/>
              </a:spcBef>
              <a:spcAft>
                <a:spcPts val="0"/>
              </a:spcAft>
              <a:buSzPts val="1350"/>
              <a:buNone/>
              <a:defRPr/>
            </a:lvl9pPr>
          </a:lstStyle>
          <a:p>
            <a:endParaRPr/>
          </a:p>
        </p:txBody>
      </p:sp>
      <p:sp>
        <p:nvSpPr>
          <p:cNvPr id="21" name="Google Shape;21;p30"/>
          <p:cNvSpPr txBox="1">
            <a:spLocks noGrp="1"/>
          </p:cNvSpPr>
          <p:nvPr>
            <p:ph type="dt" idx="10"/>
          </p:nvPr>
        </p:nvSpPr>
        <p:spPr>
          <a:xfrm>
            <a:off x="6400800" y="6355080"/>
            <a:ext cx="2286000"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0"/>
          <p:cNvSpPr txBox="1">
            <a:spLocks noGrp="1"/>
          </p:cNvSpPr>
          <p:nvPr>
            <p:ph type="ftr" idx="11"/>
          </p:nvPr>
        </p:nvSpPr>
        <p:spPr>
          <a:xfrm>
            <a:off x="2898648" y="6355080"/>
            <a:ext cx="3474720" cy="36576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0"/>
          <p:cNvSpPr txBox="1">
            <a:spLocks noGrp="1"/>
          </p:cNvSpPr>
          <p:nvPr>
            <p:ph type="sldNum" idx="12"/>
          </p:nvPr>
        </p:nvSpPr>
        <p:spPr>
          <a:xfrm>
            <a:off x="1216152" y="6355080"/>
            <a:ext cx="1219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24" name="Google Shape;24;p30"/>
          <p:cNvSpPr/>
          <p:nvPr/>
        </p:nvSpPr>
        <p:spPr>
          <a:xfrm>
            <a:off x="904875" y="3648075"/>
            <a:ext cx="7315200" cy="1280160"/>
          </a:xfrm>
          <a:prstGeom prst="rect">
            <a:avLst/>
          </a:prstGeom>
          <a:noFill/>
          <a:ln w="9525" cap="rnd"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25" name="Google Shape;25;p30"/>
          <p:cNvSpPr/>
          <p:nvPr/>
        </p:nvSpPr>
        <p:spPr>
          <a:xfrm>
            <a:off x="914400" y="5048250"/>
            <a:ext cx="7315200" cy="685800"/>
          </a:xfrm>
          <a:prstGeom prst="rect">
            <a:avLst/>
          </a:prstGeom>
          <a:noFill/>
          <a:ln w="952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26" name="Google Shape;26;p30"/>
          <p:cNvSpPr/>
          <p:nvPr/>
        </p:nvSpPr>
        <p:spPr>
          <a:xfrm>
            <a:off x="904875" y="3648075"/>
            <a:ext cx="228600" cy="128016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27" name="Google Shape;27;p30"/>
          <p:cNvSpPr/>
          <p:nvPr/>
        </p:nvSpPr>
        <p:spPr>
          <a:xfrm>
            <a:off x="914400" y="5048250"/>
            <a:ext cx="228600" cy="6858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8"/>
        <p:cNvGrpSpPr/>
        <p:nvPr/>
      </p:nvGrpSpPr>
      <p:grpSpPr>
        <a:xfrm>
          <a:off x="0" y="0"/>
          <a:ext cx="0" cy="0"/>
          <a:chOff x="0" y="0"/>
          <a:chExt cx="0" cy="0"/>
        </a:xfrm>
      </p:grpSpPr>
      <p:sp>
        <p:nvSpPr>
          <p:cNvPr id="29" name="Google Shape;29;p31"/>
          <p:cNvSpPr txBox="1">
            <a:spLocks noGrp="1"/>
          </p:cNvSpPr>
          <p:nvPr>
            <p:ph type="title"/>
          </p:nvPr>
        </p:nvSpPr>
        <p:spPr>
          <a:xfrm>
            <a:off x="1219200" y="2971800"/>
            <a:ext cx="6858000" cy="1066800"/>
          </a:xfrm>
          <a:prstGeom prst="rect">
            <a:avLst/>
          </a:prstGeom>
          <a:noFill/>
          <a:ln>
            <a:noFill/>
          </a:ln>
        </p:spPr>
        <p:txBody>
          <a:bodyPr spcFirstLastPara="1" wrap="square" lIns="91425" tIns="45700" rIns="91425" bIns="45700" anchor="t" anchorCtr="0">
            <a:normAutofit/>
          </a:bodyPr>
          <a:lstStyle>
            <a:lvl1pPr lvl="0" algn="r">
              <a:spcBef>
                <a:spcPts val="0"/>
              </a:spcBef>
              <a:spcAft>
                <a:spcPts val="0"/>
              </a:spcAft>
              <a:buClr>
                <a:schemeClr val="dk2"/>
              </a:buClr>
              <a:buSzPts val="3200"/>
              <a:buFont typeface="Bookman Old Style"/>
              <a:buNone/>
              <a:defRPr sz="3200" b="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31"/>
          <p:cNvSpPr txBox="1">
            <a:spLocks noGrp="1"/>
          </p:cNvSpPr>
          <p:nvPr>
            <p:ph type="body" idx="1"/>
          </p:nvPr>
        </p:nvSpPr>
        <p:spPr>
          <a:xfrm>
            <a:off x="1295400" y="4267200"/>
            <a:ext cx="6781800" cy="1143000"/>
          </a:xfrm>
          <a:prstGeom prst="rect">
            <a:avLst/>
          </a:prstGeom>
          <a:noFill/>
          <a:ln>
            <a:noFill/>
          </a:ln>
        </p:spPr>
        <p:txBody>
          <a:bodyPr spcFirstLastPara="1" wrap="square" lIns="91425" tIns="45700" rIns="91425" bIns="45700" anchor="t" anchorCtr="0">
            <a:normAutofit/>
          </a:bodyPr>
          <a:lstStyle>
            <a:lvl1pPr marL="457200" lvl="0" indent="-228600" algn="r">
              <a:spcBef>
                <a:spcPts val="600"/>
              </a:spcBef>
              <a:spcAft>
                <a:spcPts val="0"/>
              </a:spcAft>
              <a:buSzPts val="1520"/>
              <a:buNone/>
              <a:defRPr sz="2000">
                <a:solidFill>
                  <a:srgbClr val="888888"/>
                </a:solidFill>
              </a:defRPr>
            </a:lvl1pPr>
            <a:lvl2pPr marL="914400" lvl="1" indent="-228600" algn="l">
              <a:spcBef>
                <a:spcPts val="500"/>
              </a:spcBef>
              <a:spcAft>
                <a:spcPts val="0"/>
              </a:spcAft>
              <a:buSzPts val="1368"/>
              <a:buNone/>
              <a:defRPr sz="1800">
                <a:solidFill>
                  <a:srgbClr val="888888"/>
                </a:solidFill>
              </a:defRPr>
            </a:lvl2pPr>
            <a:lvl3pPr marL="1371600" lvl="2" indent="-228600" algn="l">
              <a:spcBef>
                <a:spcPts val="500"/>
              </a:spcBef>
              <a:spcAft>
                <a:spcPts val="0"/>
              </a:spcAft>
              <a:buSzPts val="1216"/>
              <a:buNone/>
              <a:defRPr sz="1600">
                <a:solidFill>
                  <a:srgbClr val="888888"/>
                </a:solidFill>
              </a:defRPr>
            </a:lvl3pPr>
            <a:lvl4pPr marL="1828800" lvl="3" indent="-228600" algn="l">
              <a:spcBef>
                <a:spcPts val="400"/>
              </a:spcBef>
              <a:spcAft>
                <a:spcPts val="0"/>
              </a:spcAft>
              <a:buSzPts val="980"/>
              <a:buNone/>
              <a:defRPr sz="1400">
                <a:solidFill>
                  <a:srgbClr val="888888"/>
                </a:solidFill>
              </a:defRPr>
            </a:lvl4pPr>
            <a:lvl5pPr marL="2286000" lvl="4" indent="-228600" algn="l">
              <a:spcBef>
                <a:spcPts val="300"/>
              </a:spcBef>
              <a:spcAft>
                <a:spcPts val="0"/>
              </a:spcAft>
              <a:buSzPts val="980"/>
              <a:buNone/>
              <a:defRPr sz="1400">
                <a:solidFill>
                  <a:srgbClr val="888888"/>
                </a:solidFill>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31" name="Google Shape;31;p31"/>
          <p:cNvSpPr txBox="1">
            <a:spLocks noGrp="1"/>
          </p:cNvSpPr>
          <p:nvPr>
            <p:ph type="dt" idx="10"/>
          </p:nvPr>
        </p:nvSpPr>
        <p:spPr>
          <a:xfrm>
            <a:off x="6400800" y="6355080"/>
            <a:ext cx="2286000"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1"/>
          <p:cNvSpPr txBox="1">
            <a:spLocks noGrp="1"/>
          </p:cNvSpPr>
          <p:nvPr>
            <p:ph type="ftr" idx="11"/>
          </p:nvPr>
        </p:nvSpPr>
        <p:spPr>
          <a:xfrm>
            <a:off x="2898648" y="6355080"/>
            <a:ext cx="3474720" cy="36576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31"/>
          <p:cNvSpPr txBox="1">
            <a:spLocks noGrp="1"/>
          </p:cNvSpPr>
          <p:nvPr>
            <p:ph type="sldNum" idx="12"/>
          </p:nvPr>
        </p:nvSpPr>
        <p:spPr>
          <a:xfrm>
            <a:off x="1069848" y="6355080"/>
            <a:ext cx="1520952"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34" name="Google Shape;34;p31"/>
          <p:cNvSpPr/>
          <p:nvPr/>
        </p:nvSpPr>
        <p:spPr>
          <a:xfrm>
            <a:off x="914400" y="2819400"/>
            <a:ext cx="7315200" cy="1280160"/>
          </a:xfrm>
          <a:prstGeom prst="rect">
            <a:avLst/>
          </a:prstGeom>
          <a:noFill/>
          <a:ln w="9525" cap="rnd"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35" name="Google Shape;35;p31"/>
          <p:cNvSpPr/>
          <p:nvPr/>
        </p:nvSpPr>
        <p:spPr>
          <a:xfrm>
            <a:off x="914400" y="2819400"/>
            <a:ext cx="228600" cy="128016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6"/>
        <p:cNvGrpSpPr/>
        <p:nvPr/>
      </p:nvGrpSpPr>
      <p:grpSpPr>
        <a:xfrm>
          <a:off x="0" y="0"/>
          <a:ext cx="0" cy="0"/>
          <a:chOff x="0" y="0"/>
          <a:chExt cx="0" cy="0"/>
        </a:xfrm>
      </p:grpSpPr>
      <p:sp>
        <p:nvSpPr>
          <p:cNvPr id="37" name="Google Shape;37;p32"/>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32"/>
          <p:cNvSpPr txBox="1">
            <a:spLocks noGrp="1"/>
          </p:cNvSpPr>
          <p:nvPr>
            <p:ph type="dt" idx="10"/>
          </p:nvPr>
        </p:nvSpPr>
        <p:spPr>
          <a:xfrm>
            <a:off x="609600" y="6353304"/>
            <a:ext cx="2289048" cy="369072"/>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2"/>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solidFill>
                  <a:srgbClr val="BFBFB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32"/>
          <p:cNvSpPr txBox="1">
            <a:spLocks noGrp="1"/>
          </p:cNvSpPr>
          <p:nvPr>
            <p:ph type="sldNum" idx="12"/>
          </p:nvPr>
        </p:nvSpPr>
        <p:spPr>
          <a:xfrm>
            <a:off x="6705600" y="6356340"/>
            <a:ext cx="1981200" cy="34926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sz="1400" b="0" i="0" u="none" strike="noStrike" cap="none">
                <a:solidFill>
                  <a:schemeClr val="dk2"/>
                </a:solidFill>
                <a:latin typeface="Gill Sans"/>
                <a:ea typeface="Gill Sans"/>
                <a:cs typeface="Gill Sans"/>
                <a:sym typeface="Gill Sans"/>
              </a:defRPr>
            </a:lvl1pPr>
            <a:lvl2pPr marL="0" lvl="1" indent="0" algn="r">
              <a:spcBef>
                <a:spcPts val="0"/>
              </a:spcBef>
              <a:buNone/>
              <a:defRPr sz="1400" b="0" i="0" u="none" strike="noStrike" cap="none">
                <a:solidFill>
                  <a:schemeClr val="dk2"/>
                </a:solidFill>
                <a:latin typeface="Gill Sans"/>
                <a:ea typeface="Gill Sans"/>
                <a:cs typeface="Gill Sans"/>
                <a:sym typeface="Gill Sans"/>
              </a:defRPr>
            </a:lvl2pPr>
            <a:lvl3pPr marL="0" lvl="2" indent="0" algn="r">
              <a:spcBef>
                <a:spcPts val="0"/>
              </a:spcBef>
              <a:buNone/>
              <a:defRPr sz="1400" b="0" i="0" u="none" strike="noStrike" cap="none">
                <a:solidFill>
                  <a:schemeClr val="dk2"/>
                </a:solidFill>
                <a:latin typeface="Gill Sans"/>
                <a:ea typeface="Gill Sans"/>
                <a:cs typeface="Gill Sans"/>
                <a:sym typeface="Gill Sans"/>
              </a:defRPr>
            </a:lvl3pPr>
            <a:lvl4pPr marL="0" lvl="3" indent="0" algn="r">
              <a:spcBef>
                <a:spcPts val="0"/>
              </a:spcBef>
              <a:buNone/>
              <a:defRPr sz="1400" b="0" i="0" u="none" strike="noStrike" cap="none">
                <a:solidFill>
                  <a:schemeClr val="dk2"/>
                </a:solidFill>
                <a:latin typeface="Gill Sans"/>
                <a:ea typeface="Gill Sans"/>
                <a:cs typeface="Gill Sans"/>
                <a:sym typeface="Gill Sans"/>
              </a:defRPr>
            </a:lvl4pPr>
            <a:lvl5pPr marL="0" lvl="4" indent="0" algn="r">
              <a:spcBef>
                <a:spcPts val="0"/>
              </a:spcBef>
              <a:buNone/>
              <a:defRPr sz="1400" b="0" i="0" u="none" strike="noStrike" cap="none">
                <a:solidFill>
                  <a:schemeClr val="dk2"/>
                </a:solidFill>
                <a:latin typeface="Gill Sans"/>
                <a:ea typeface="Gill Sans"/>
                <a:cs typeface="Gill Sans"/>
                <a:sym typeface="Gill Sans"/>
              </a:defRPr>
            </a:lvl5pPr>
            <a:lvl6pPr marL="0" lvl="5" indent="0" algn="r">
              <a:spcBef>
                <a:spcPts val="0"/>
              </a:spcBef>
              <a:buNone/>
              <a:defRPr sz="1400" b="0" i="0" u="none" strike="noStrike" cap="none">
                <a:solidFill>
                  <a:schemeClr val="dk2"/>
                </a:solidFill>
                <a:latin typeface="Gill Sans"/>
                <a:ea typeface="Gill Sans"/>
                <a:cs typeface="Gill Sans"/>
                <a:sym typeface="Gill Sans"/>
              </a:defRPr>
            </a:lvl6pPr>
            <a:lvl7pPr marL="0" lvl="6" indent="0" algn="r">
              <a:spcBef>
                <a:spcPts val="0"/>
              </a:spcBef>
              <a:buNone/>
              <a:defRPr sz="1400" b="0" i="0" u="none" strike="noStrike" cap="none">
                <a:solidFill>
                  <a:schemeClr val="dk2"/>
                </a:solidFill>
                <a:latin typeface="Gill Sans"/>
                <a:ea typeface="Gill Sans"/>
                <a:cs typeface="Gill Sans"/>
                <a:sym typeface="Gill Sans"/>
              </a:defRPr>
            </a:lvl7pPr>
            <a:lvl8pPr marL="0" lvl="7" indent="0" algn="r">
              <a:spcBef>
                <a:spcPts val="0"/>
              </a:spcBef>
              <a:buNone/>
              <a:defRPr sz="1400" b="0" i="0" u="none" strike="noStrike" cap="none">
                <a:solidFill>
                  <a:schemeClr val="dk2"/>
                </a:solidFill>
                <a:latin typeface="Gill Sans"/>
                <a:ea typeface="Gill Sans"/>
                <a:cs typeface="Gill Sans"/>
                <a:sym typeface="Gill Sans"/>
              </a:defRPr>
            </a:lvl8pPr>
            <a:lvl9pPr marL="0" lvl="8" indent="0" algn="r">
              <a:spcBef>
                <a:spcPts val="0"/>
              </a:spcBef>
              <a:buNone/>
              <a:defRPr sz="1400" b="0" i="0" u="none" strike="noStrike" cap="none">
                <a:solidFill>
                  <a:schemeClr val="dk2"/>
                </a:solidFill>
                <a:latin typeface="Gill Sans"/>
                <a:ea typeface="Gill Sans"/>
                <a:cs typeface="Gill Sans"/>
                <a:sym typeface="Gill Sans"/>
              </a:defRPr>
            </a:lvl9pPr>
          </a:lstStyle>
          <a:p>
            <a:pPr marL="0" lvl="0" indent="0" algn="r" rtl="0">
              <a:spcBef>
                <a:spcPts val="0"/>
              </a:spcBef>
              <a:spcAft>
                <a:spcPts val="0"/>
              </a:spcAft>
              <a:buNone/>
            </a:pPr>
            <a:endParaRPr/>
          </a:p>
        </p:txBody>
      </p:sp>
      <p:sp>
        <p:nvSpPr>
          <p:cNvPr id="41" name="Google Shape;41;p32"/>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1"/>
        <p:cNvGrpSpPr/>
        <p:nvPr/>
      </p:nvGrpSpPr>
      <p:grpSpPr>
        <a:xfrm>
          <a:off x="0" y="0"/>
          <a:ext cx="0" cy="0"/>
          <a:chOff x="0" y="0"/>
          <a:chExt cx="0" cy="0"/>
        </a:xfrm>
      </p:grpSpPr>
      <p:sp>
        <p:nvSpPr>
          <p:cNvPr id="52" name="Google Shape;52;p34"/>
          <p:cNvSpPr txBox="1">
            <a:spLocks noGrp="1"/>
          </p:cNvSpPr>
          <p:nvPr>
            <p:ph type="title"/>
          </p:nvPr>
        </p:nvSpPr>
        <p:spPr>
          <a:xfrm>
            <a:off x="457200" y="228600"/>
            <a:ext cx="8229600" cy="914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34"/>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34"/>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34"/>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56" name="Google Shape;56;p34"/>
          <p:cNvSpPr txBox="1">
            <a:spLocks noGrp="1"/>
          </p:cNvSpPr>
          <p:nvPr>
            <p:ph type="body" idx="1"/>
          </p:nvPr>
        </p:nvSpPr>
        <p:spPr>
          <a:xfrm>
            <a:off x="457200" y="1219200"/>
            <a:ext cx="4041648" cy="493776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57" name="Google Shape;57;p34"/>
          <p:cNvSpPr txBox="1">
            <a:spLocks noGrp="1"/>
          </p:cNvSpPr>
          <p:nvPr>
            <p:ph type="body" idx="2"/>
          </p:nvPr>
        </p:nvSpPr>
        <p:spPr>
          <a:xfrm>
            <a:off x="4632198" y="1216152"/>
            <a:ext cx="4041648" cy="493776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8"/>
        <p:cNvGrpSpPr/>
        <p:nvPr/>
      </p:nvGrpSpPr>
      <p:grpSpPr>
        <a:xfrm>
          <a:off x="0" y="0"/>
          <a:ext cx="0" cy="0"/>
          <a:chOff x="0" y="0"/>
          <a:chExt cx="0" cy="0"/>
        </a:xfrm>
      </p:grpSpPr>
      <p:sp>
        <p:nvSpPr>
          <p:cNvPr id="59" name="Google Shape;59;p35"/>
          <p:cNvSpPr txBox="1">
            <a:spLocks noGrp="1"/>
          </p:cNvSpPr>
          <p:nvPr>
            <p:ph type="title"/>
          </p:nvPr>
        </p:nvSpPr>
        <p:spPr>
          <a:xfrm>
            <a:off x="457200" y="228600"/>
            <a:ext cx="8229600" cy="914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35"/>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35"/>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35"/>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63" name="Google Shape;63;p35"/>
          <p:cNvSpPr/>
          <p:nvPr/>
        </p:nvSpPr>
        <p:spPr>
          <a:xfrm rot="5400000">
            <a:off x="419100" y="6467475"/>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64"/>
        <p:cNvGrpSpPr/>
        <p:nvPr/>
      </p:nvGrpSpPr>
      <p:grpSpPr>
        <a:xfrm>
          <a:off x="0" y="0"/>
          <a:ext cx="0" cy="0"/>
          <a:chOff x="0" y="0"/>
          <a:chExt cx="0" cy="0"/>
        </a:xfrm>
      </p:grpSpPr>
      <p:sp>
        <p:nvSpPr>
          <p:cNvPr id="65" name="Google Shape;65;p36"/>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6"/>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6"/>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cxnSp>
        <p:nvCxnSpPr>
          <p:cNvPr id="68" name="Google Shape;68;p36"/>
          <p:cNvCxnSpPr/>
          <p:nvPr/>
        </p:nvCxnSpPr>
        <p:spPr>
          <a:xfrm>
            <a:off x="457200" y="6353175"/>
            <a:ext cx="8229600" cy="0"/>
          </a:xfrm>
          <a:prstGeom prst="straightConnector1">
            <a:avLst/>
          </a:prstGeom>
          <a:noFill/>
          <a:ln w="9525" cap="flat" cmpd="sng">
            <a:solidFill>
              <a:schemeClr val="accent2"/>
            </a:solidFill>
            <a:prstDash val="dash"/>
            <a:round/>
            <a:headEnd type="none" w="sm" len="sm"/>
            <a:tailEnd type="none" w="sm" len="sm"/>
          </a:ln>
        </p:spPr>
      </p:cxnSp>
      <p:sp>
        <p:nvSpPr>
          <p:cNvPr id="69" name="Google Shape;69;p36"/>
          <p:cNvSpPr/>
          <p:nvPr/>
        </p:nvSpPr>
        <p:spPr>
          <a:xfrm rot="5400000">
            <a:off x="419100" y="6467475"/>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70"/>
        <p:cNvGrpSpPr/>
        <p:nvPr/>
      </p:nvGrpSpPr>
      <p:grpSpPr>
        <a:xfrm>
          <a:off x="0" y="0"/>
          <a:ext cx="0" cy="0"/>
          <a:chOff x="0" y="0"/>
          <a:chExt cx="0" cy="0"/>
        </a:xfrm>
      </p:grpSpPr>
      <p:sp>
        <p:nvSpPr>
          <p:cNvPr id="71" name="Google Shape;71;p37"/>
          <p:cNvSpPr txBox="1">
            <a:spLocks noGrp="1"/>
          </p:cNvSpPr>
          <p:nvPr>
            <p:ph type="title"/>
          </p:nvPr>
        </p:nvSpPr>
        <p:spPr>
          <a:xfrm>
            <a:off x="6324600" y="304800"/>
            <a:ext cx="2514600" cy="838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2"/>
              </a:buClr>
              <a:buSzPts val="2000"/>
              <a:buFont typeface="Gill Sans"/>
              <a:buNone/>
              <a:defRPr sz="2000" b="1">
                <a:solidFill>
                  <a:schemeClr val="dk2"/>
                </a:solidFill>
                <a:latin typeface="Gill Sans"/>
                <a:ea typeface="Gill Sans"/>
                <a:cs typeface="Gill Sans"/>
                <a:sym typeface="Gill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37"/>
          <p:cNvSpPr txBox="1">
            <a:spLocks noGrp="1"/>
          </p:cNvSpPr>
          <p:nvPr>
            <p:ph type="body" idx="1"/>
          </p:nvPr>
        </p:nvSpPr>
        <p:spPr>
          <a:xfrm>
            <a:off x="6324600" y="1219200"/>
            <a:ext cx="2514600" cy="4843463"/>
          </a:xfrm>
          <a:prstGeom prst="rect">
            <a:avLst/>
          </a:prstGeom>
          <a:noFill/>
          <a:ln>
            <a:noFill/>
          </a:ln>
        </p:spPr>
        <p:txBody>
          <a:bodyPr spcFirstLastPara="1" wrap="square" lIns="91425" tIns="45700" rIns="91425" bIns="45700" anchor="t" anchorCtr="0">
            <a:normAutofit/>
          </a:bodyPr>
          <a:lstStyle>
            <a:lvl1pPr marL="457200" lvl="0" indent="-228600" algn="l">
              <a:lnSpc>
                <a:spcPct val="137500"/>
              </a:lnSpc>
              <a:spcBef>
                <a:spcPts val="600"/>
              </a:spcBef>
              <a:spcAft>
                <a:spcPts val="0"/>
              </a:spcAft>
              <a:buSzPts val="1216"/>
              <a:buNone/>
              <a:defRPr sz="1600">
                <a:solidFill>
                  <a:schemeClr val="dk2"/>
                </a:solidFill>
              </a:defRPr>
            </a:lvl1pPr>
            <a:lvl2pPr marL="914400" lvl="1" indent="-228600" algn="l">
              <a:spcBef>
                <a:spcPts val="1000"/>
              </a:spcBef>
              <a:spcAft>
                <a:spcPts val="0"/>
              </a:spcAft>
              <a:buSzPts val="912"/>
              <a:buNone/>
              <a:defRPr sz="1200"/>
            </a:lvl2pPr>
            <a:lvl3pPr marL="1371600" lvl="2" indent="-228600" algn="l">
              <a:spcBef>
                <a:spcPts val="500"/>
              </a:spcBef>
              <a:spcAft>
                <a:spcPts val="0"/>
              </a:spcAft>
              <a:buSzPts val="760"/>
              <a:buNone/>
              <a:defRPr sz="1000"/>
            </a:lvl3pPr>
            <a:lvl4pPr marL="1828800" lvl="3" indent="-228600" algn="l">
              <a:spcBef>
                <a:spcPts val="400"/>
              </a:spcBef>
              <a:spcAft>
                <a:spcPts val="0"/>
              </a:spcAft>
              <a:buSzPts val="630"/>
              <a:buNone/>
              <a:defRPr sz="900"/>
            </a:lvl4pPr>
            <a:lvl5pPr marL="2286000" lvl="4" indent="-228600" algn="l">
              <a:spcBef>
                <a:spcPts val="300"/>
              </a:spcBef>
              <a:spcAft>
                <a:spcPts val="0"/>
              </a:spcAft>
              <a:buSzPts val="630"/>
              <a:buNone/>
              <a:defRPr sz="900"/>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73" name="Google Shape;73;p37"/>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37"/>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37"/>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cxnSp>
        <p:nvCxnSpPr>
          <p:cNvPr id="76" name="Google Shape;76;p37"/>
          <p:cNvCxnSpPr/>
          <p:nvPr/>
        </p:nvCxnSpPr>
        <p:spPr>
          <a:xfrm>
            <a:off x="457200" y="6353175"/>
            <a:ext cx="8229600" cy="0"/>
          </a:xfrm>
          <a:prstGeom prst="straightConnector1">
            <a:avLst/>
          </a:prstGeom>
          <a:noFill/>
          <a:ln w="9525" cap="flat" cmpd="sng">
            <a:solidFill>
              <a:schemeClr val="accent2"/>
            </a:solidFill>
            <a:prstDash val="dash"/>
            <a:round/>
            <a:headEnd type="none" w="sm" len="sm"/>
            <a:tailEnd type="none" w="sm" len="sm"/>
          </a:ln>
        </p:spPr>
      </p:cxnSp>
      <p:cxnSp>
        <p:nvCxnSpPr>
          <p:cNvPr id="77" name="Google Shape;77;p37"/>
          <p:cNvCxnSpPr/>
          <p:nvPr/>
        </p:nvCxnSpPr>
        <p:spPr>
          <a:xfrm rot="5400000">
            <a:off x="3160645" y="3324225"/>
            <a:ext cx="6035040" cy="0"/>
          </a:xfrm>
          <a:prstGeom prst="straightConnector1">
            <a:avLst/>
          </a:prstGeom>
          <a:noFill/>
          <a:ln w="9525" cap="flat" cmpd="sng">
            <a:solidFill>
              <a:schemeClr val="accent2"/>
            </a:solidFill>
            <a:prstDash val="dash"/>
            <a:round/>
            <a:headEnd type="none" w="sm" len="sm"/>
            <a:tailEnd type="none" w="sm" len="sm"/>
          </a:ln>
        </p:spPr>
      </p:cxnSp>
      <p:sp>
        <p:nvSpPr>
          <p:cNvPr id="78" name="Google Shape;78;p37"/>
          <p:cNvSpPr/>
          <p:nvPr/>
        </p:nvSpPr>
        <p:spPr>
          <a:xfrm rot="5400000">
            <a:off x="419100" y="6467475"/>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79" name="Google Shape;79;p37"/>
          <p:cNvSpPr txBox="1">
            <a:spLocks noGrp="1"/>
          </p:cNvSpPr>
          <p:nvPr>
            <p:ph type="body" idx="2"/>
          </p:nvPr>
        </p:nvSpPr>
        <p:spPr>
          <a:xfrm>
            <a:off x="304800" y="304800"/>
            <a:ext cx="5715000" cy="571500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80"/>
        <p:cNvGrpSpPr/>
        <p:nvPr/>
      </p:nvGrpSpPr>
      <p:grpSpPr>
        <a:xfrm>
          <a:off x="0" y="0"/>
          <a:ext cx="0" cy="0"/>
          <a:chOff x="0" y="0"/>
          <a:chExt cx="0" cy="0"/>
        </a:xfrm>
      </p:grpSpPr>
      <p:sp>
        <p:nvSpPr>
          <p:cNvPr id="81" name="Google Shape;81;p38"/>
          <p:cNvSpPr txBox="1">
            <a:spLocks noGrp="1"/>
          </p:cNvSpPr>
          <p:nvPr>
            <p:ph type="title"/>
          </p:nvPr>
        </p:nvSpPr>
        <p:spPr>
          <a:xfrm>
            <a:off x="457200" y="500856"/>
            <a:ext cx="8229600" cy="674688"/>
          </a:xfrm>
          <a:prstGeom prst="rect">
            <a:avLst/>
          </a:prstGeom>
          <a:noFill/>
          <a:ln w="9525" cap="flat" cmpd="sng">
            <a:solidFill>
              <a:schemeClr val="accent1"/>
            </a:solidFill>
            <a:prstDash val="solid"/>
            <a:round/>
            <a:headEnd type="none" w="sm" len="sm"/>
            <a:tailEnd type="none" w="sm" len="sm"/>
          </a:ln>
        </p:spPr>
        <p:txBody>
          <a:bodyPr spcFirstLastPara="1" wrap="square" lIns="274300" tIns="45700" rIns="91425" bIns="45700" anchor="ctr" anchorCtr="0">
            <a:normAutofit/>
          </a:bodyPr>
          <a:lstStyle>
            <a:lvl1pPr lvl="0" algn="r">
              <a:spcBef>
                <a:spcPts val="0"/>
              </a:spcBef>
              <a:spcAft>
                <a:spcPts val="0"/>
              </a:spcAft>
              <a:buClr>
                <a:schemeClr val="dk1"/>
              </a:buClr>
              <a:buSzPts val="2000"/>
              <a:buFont typeface="Bookman Old Style"/>
              <a:buNone/>
              <a:defRPr sz="2000" b="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38"/>
          <p:cNvSpPr>
            <a:spLocks noGrp="1"/>
          </p:cNvSpPr>
          <p:nvPr>
            <p:ph type="pic" idx="2"/>
          </p:nvPr>
        </p:nvSpPr>
        <p:spPr>
          <a:xfrm>
            <a:off x="457200" y="1905000"/>
            <a:ext cx="8229600" cy="4270248"/>
          </a:xfrm>
          <a:prstGeom prst="rect">
            <a:avLst/>
          </a:prstGeom>
          <a:solidFill>
            <a:schemeClr val="dk1"/>
          </a:solidFill>
          <a:ln>
            <a:noFill/>
          </a:ln>
        </p:spPr>
      </p:sp>
      <p:sp>
        <p:nvSpPr>
          <p:cNvPr id="83" name="Google Shape;83;p38"/>
          <p:cNvSpPr txBox="1">
            <a:spLocks noGrp="1"/>
          </p:cNvSpPr>
          <p:nvPr>
            <p:ph type="body" idx="1"/>
          </p:nvPr>
        </p:nvSpPr>
        <p:spPr>
          <a:xfrm>
            <a:off x="457200" y="1219200"/>
            <a:ext cx="8229600" cy="533400"/>
          </a:xfrm>
          <a:prstGeom prst="rect">
            <a:avLst/>
          </a:prstGeom>
          <a:noFill/>
          <a:ln>
            <a:noFill/>
          </a:ln>
        </p:spPr>
        <p:txBody>
          <a:bodyPr spcFirstLastPara="1" wrap="square" lIns="91425" tIns="45700" rIns="91425" bIns="45700" anchor="ctr" anchorCtr="0">
            <a:normAutofit/>
          </a:bodyPr>
          <a:lstStyle>
            <a:lvl1pPr marL="457200" lvl="0" indent="-228600" algn="l">
              <a:spcBef>
                <a:spcPts val="600"/>
              </a:spcBef>
              <a:spcAft>
                <a:spcPts val="0"/>
              </a:spcAft>
              <a:buSzPts val="1064"/>
              <a:buFont typeface="Gill Sans"/>
              <a:buNone/>
              <a:defRPr sz="1400"/>
            </a:lvl1pPr>
            <a:lvl2pPr marL="914400" lvl="1" indent="-286512" algn="l">
              <a:spcBef>
                <a:spcPts val="500"/>
              </a:spcBef>
              <a:spcAft>
                <a:spcPts val="0"/>
              </a:spcAft>
              <a:buSzPts val="912"/>
              <a:buChar char="🞂"/>
              <a:defRPr sz="1200"/>
            </a:lvl2pPr>
            <a:lvl3pPr marL="1371600" lvl="2" indent="-276860" algn="l">
              <a:spcBef>
                <a:spcPts val="500"/>
              </a:spcBef>
              <a:spcAft>
                <a:spcPts val="0"/>
              </a:spcAft>
              <a:buSzPts val="760"/>
              <a:buChar char="🞂"/>
              <a:defRPr sz="1000"/>
            </a:lvl3pPr>
            <a:lvl4pPr marL="1828800" lvl="3" indent="-268605" algn="l">
              <a:spcBef>
                <a:spcPts val="400"/>
              </a:spcBef>
              <a:spcAft>
                <a:spcPts val="0"/>
              </a:spcAft>
              <a:buSzPts val="630"/>
              <a:buChar char="◻"/>
              <a:defRPr sz="900"/>
            </a:lvl4pPr>
            <a:lvl5pPr marL="2286000" lvl="4" indent="-268604" algn="l">
              <a:spcBef>
                <a:spcPts val="300"/>
              </a:spcBef>
              <a:spcAft>
                <a:spcPts val="0"/>
              </a:spcAft>
              <a:buSzPts val="630"/>
              <a:buChar char="◻"/>
              <a:defRPr sz="900"/>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84" name="Google Shape;84;p38"/>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38"/>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38"/>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cxnSp>
        <p:nvCxnSpPr>
          <p:cNvPr id="87" name="Google Shape;87;p38"/>
          <p:cNvCxnSpPr/>
          <p:nvPr/>
        </p:nvCxnSpPr>
        <p:spPr>
          <a:xfrm>
            <a:off x="457200" y="6353175"/>
            <a:ext cx="8229600" cy="0"/>
          </a:xfrm>
          <a:prstGeom prst="straightConnector1">
            <a:avLst/>
          </a:prstGeom>
          <a:noFill/>
          <a:ln w="9525" cap="flat" cmpd="sng">
            <a:solidFill>
              <a:schemeClr val="accent2"/>
            </a:solidFill>
            <a:prstDash val="dash"/>
            <a:round/>
            <a:headEnd type="none" w="sm" len="sm"/>
            <a:tailEnd type="none" w="sm" len="sm"/>
          </a:ln>
        </p:spPr>
      </p:cxnSp>
      <p:sp>
        <p:nvSpPr>
          <p:cNvPr id="88" name="Google Shape;88;p38"/>
          <p:cNvSpPr/>
          <p:nvPr/>
        </p:nvSpPr>
        <p:spPr>
          <a:xfrm rot="5400000">
            <a:off x="419100" y="6467475"/>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89" name="Google Shape;89;p38"/>
          <p:cNvSpPr/>
          <p:nvPr/>
        </p:nvSpPr>
        <p:spPr>
          <a:xfrm>
            <a:off x="457200" y="500856"/>
            <a:ext cx="182880" cy="6858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0"/>
        <p:cNvGrpSpPr/>
        <p:nvPr/>
      </p:nvGrpSpPr>
      <p:grpSpPr>
        <a:xfrm>
          <a:off x="0" y="0"/>
          <a:ext cx="0" cy="0"/>
          <a:chOff x="0" y="0"/>
          <a:chExt cx="0" cy="0"/>
        </a:xfrm>
      </p:grpSpPr>
      <p:sp>
        <p:nvSpPr>
          <p:cNvPr id="91" name="Google Shape;91;p39"/>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39"/>
          <p:cNvSpPr txBox="1">
            <a:spLocks noGrp="1"/>
          </p:cNvSpPr>
          <p:nvPr>
            <p:ph type="body" idx="1"/>
          </p:nvPr>
        </p:nvSpPr>
        <p:spPr>
          <a:xfrm rot="5400000">
            <a:off x="2116836" y="-440436"/>
            <a:ext cx="4910328" cy="822960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93" name="Google Shape;93;p39"/>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39"/>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39"/>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96"/>
        <p:cNvGrpSpPr/>
        <p:nvPr/>
      </p:nvGrpSpPr>
      <p:grpSpPr>
        <a:xfrm>
          <a:off x="0" y="0"/>
          <a:ext cx="0" cy="0"/>
          <a:chOff x="0" y="0"/>
          <a:chExt cx="0" cy="0"/>
        </a:xfrm>
      </p:grpSpPr>
      <p:sp>
        <p:nvSpPr>
          <p:cNvPr id="97" name="Google Shape;97;p4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4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99" name="Google Shape;99;p40"/>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40"/>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40"/>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cxnSp>
        <p:nvCxnSpPr>
          <p:cNvPr id="102" name="Google Shape;102;p40"/>
          <p:cNvCxnSpPr/>
          <p:nvPr/>
        </p:nvCxnSpPr>
        <p:spPr>
          <a:xfrm>
            <a:off x="457200" y="6353175"/>
            <a:ext cx="8229600" cy="0"/>
          </a:xfrm>
          <a:prstGeom prst="straightConnector1">
            <a:avLst/>
          </a:prstGeom>
          <a:noFill/>
          <a:ln w="9525" cap="flat" cmpd="sng">
            <a:solidFill>
              <a:schemeClr val="accent2"/>
            </a:solidFill>
            <a:prstDash val="dash"/>
            <a:round/>
            <a:headEnd type="none" w="sm" len="sm"/>
            <a:tailEnd type="none" w="sm" len="sm"/>
          </a:ln>
        </p:spPr>
      </p:cxnSp>
      <p:sp>
        <p:nvSpPr>
          <p:cNvPr id="103" name="Google Shape;103;p40"/>
          <p:cNvSpPr/>
          <p:nvPr/>
        </p:nvSpPr>
        <p:spPr>
          <a:xfrm rot="5400000">
            <a:off x="419100" y="6467475"/>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cxnSp>
        <p:nvCxnSpPr>
          <p:cNvPr id="104" name="Google Shape;104;p40"/>
          <p:cNvCxnSpPr/>
          <p:nvPr/>
        </p:nvCxnSpPr>
        <p:spPr>
          <a:xfrm rot="5400000">
            <a:off x="3629607" y="3201952"/>
            <a:ext cx="5852160" cy="0"/>
          </a:xfrm>
          <a:prstGeom prst="straightConnector1">
            <a:avLst/>
          </a:prstGeom>
          <a:noFill/>
          <a:ln w="9525" cap="flat" cmpd="sng">
            <a:solidFill>
              <a:schemeClr val="accent2"/>
            </a:solidFill>
            <a:prstDash val="dash"/>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9"/>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lvl1pPr marR="0" lvl="0" algn="l" rtl="0">
              <a:spcBef>
                <a:spcPts val="0"/>
              </a:spcBef>
              <a:spcAft>
                <a:spcPts val="0"/>
              </a:spcAft>
              <a:buClr>
                <a:schemeClr val="dk2"/>
              </a:buClr>
              <a:buSzPts val="3200"/>
              <a:buFont typeface="Bookman Old Style"/>
              <a:buNone/>
              <a:defRPr sz="3200" b="0" i="0" u="none" strike="noStrike" cap="none">
                <a:solidFill>
                  <a:schemeClr val="dk2"/>
                </a:solidFill>
                <a:latin typeface="Bookman Old Style"/>
                <a:ea typeface="Bookman Old Style"/>
                <a:cs typeface="Bookman Old Style"/>
                <a:sym typeface="Bookman Old Styl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9"/>
          <p:cNvSpPr txBox="1">
            <a:spLocks noGrp="1"/>
          </p:cNvSpPr>
          <p:nvPr>
            <p:ph type="body" idx="1"/>
          </p:nvPr>
        </p:nvSpPr>
        <p:spPr>
          <a:xfrm>
            <a:off x="457200" y="1219200"/>
            <a:ext cx="8229600" cy="4910328"/>
          </a:xfrm>
          <a:prstGeom prst="rect">
            <a:avLst/>
          </a:prstGeom>
          <a:noFill/>
          <a:ln>
            <a:noFill/>
          </a:ln>
        </p:spPr>
        <p:txBody>
          <a:bodyPr spcFirstLastPara="1" wrap="square" lIns="91425" tIns="45700" rIns="91425" bIns="45700" anchor="t" anchorCtr="0">
            <a:normAutofit/>
          </a:bodyPr>
          <a:lstStyle>
            <a:lvl1pPr marL="457200" marR="0" lvl="0" indent="-354076" algn="l" rtl="0">
              <a:spcBef>
                <a:spcPts val="600"/>
              </a:spcBef>
              <a:spcAft>
                <a:spcPts val="0"/>
              </a:spcAft>
              <a:buClr>
                <a:schemeClr val="accent1"/>
              </a:buClr>
              <a:buSzPts val="1976"/>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39597" algn="l" rtl="0">
              <a:spcBef>
                <a:spcPts val="500"/>
              </a:spcBef>
              <a:spcAft>
                <a:spcPts val="0"/>
              </a:spcAft>
              <a:buClr>
                <a:schemeClr val="accent2"/>
              </a:buClr>
              <a:buSzPts val="174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25119" algn="l" rtl="0">
              <a:spcBef>
                <a:spcPts val="500"/>
              </a:spcBef>
              <a:spcAft>
                <a:spcPts val="0"/>
              </a:spcAft>
              <a:buClr>
                <a:srgbClr val="BABABA"/>
              </a:buClr>
              <a:buSzPts val="1520"/>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spcBef>
                <a:spcPts val="400"/>
              </a:spcBef>
              <a:spcAft>
                <a:spcPts val="0"/>
              </a:spcAft>
              <a:buClr>
                <a:srgbClr val="8BA1B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299720" algn="l" rtl="0">
              <a:spcBef>
                <a:spcPts val="300"/>
              </a:spcBef>
              <a:spcAft>
                <a:spcPts val="0"/>
              </a:spcAft>
              <a:buClr>
                <a:schemeClr val="accent2"/>
              </a:buClr>
              <a:buSzPts val="112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04800" algn="l" rtl="0">
              <a:spcBef>
                <a:spcPts val="300"/>
              </a:spcBef>
              <a:spcAft>
                <a:spcPts val="0"/>
              </a:spcAft>
              <a:buClr>
                <a:srgbClr val="8BA1B3"/>
              </a:buClr>
              <a:buSzPts val="120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295275" algn="l" rtl="0">
              <a:spcBef>
                <a:spcPts val="300"/>
              </a:spcBef>
              <a:spcAft>
                <a:spcPts val="0"/>
              </a:spcAft>
              <a:buClr>
                <a:srgbClr val="646C8F"/>
              </a:buClr>
              <a:buSzPts val="10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295275" algn="l" rtl="0">
              <a:spcBef>
                <a:spcPts val="300"/>
              </a:spcBef>
              <a:spcAft>
                <a:spcPts val="0"/>
              </a:spcAft>
              <a:buClr>
                <a:srgbClr val="BABABA"/>
              </a:buClr>
              <a:buSzPts val="10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285750" algn="l" rtl="0">
              <a:spcBef>
                <a:spcPts val="300"/>
              </a:spcBef>
              <a:spcAft>
                <a:spcPts val="0"/>
              </a:spcAft>
              <a:buClr>
                <a:srgbClr val="9FB8CD"/>
              </a:buClr>
              <a:buSzPts val="900"/>
              <a:buFont typeface="Noto Sans Symbols"/>
              <a:buChar char="🞂"/>
              <a:defRPr sz="1200" b="0" i="0" u="none" strike="noStrike" cap="none">
                <a:solidFill>
                  <a:schemeClr val="dk1"/>
                </a:solidFill>
                <a:latin typeface="Gill Sans"/>
                <a:ea typeface="Gill Sans"/>
                <a:cs typeface="Gill Sans"/>
                <a:sym typeface="Gill Sans"/>
              </a:defRPr>
            </a:lvl9pPr>
          </a:lstStyle>
          <a:p>
            <a:endParaRPr/>
          </a:p>
        </p:txBody>
      </p:sp>
      <p:sp>
        <p:nvSpPr>
          <p:cNvPr id="12" name="Google Shape;12;p29"/>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400" b="0" i="0" u="none" strike="noStrike" cap="none">
                <a:solidFill>
                  <a:schemeClr val="dk2"/>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3" name="Google Shape;13;p29"/>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800" b="0" i="0" u="none" strike="noStrike" cap="none">
                <a:solidFill>
                  <a:schemeClr val="dk2"/>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4" name="Google Shape;14;p29"/>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400" b="0" i="0" u="none" strike="noStrike" cap="none">
                <a:solidFill>
                  <a:schemeClr val="dk2"/>
                </a:solidFill>
                <a:latin typeface="Gill Sans"/>
                <a:ea typeface="Gill Sans"/>
                <a:cs typeface="Gill Sans"/>
                <a:sym typeface="Gill Sans"/>
              </a:defRPr>
            </a:lvl1pPr>
            <a:lvl2pPr marL="0" marR="0" lvl="1" indent="0" algn="l" rtl="0">
              <a:spcBef>
                <a:spcPts val="0"/>
              </a:spcBef>
              <a:buNone/>
              <a:defRPr sz="1400" b="0" i="0" u="none" strike="noStrike" cap="none">
                <a:solidFill>
                  <a:schemeClr val="dk2"/>
                </a:solidFill>
                <a:latin typeface="Gill Sans"/>
                <a:ea typeface="Gill Sans"/>
                <a:cs typeface="Gill Sans"/>
                <a:sym typeface="Gill Sans"/>
              </a:defRPr>
            </a:lvl2pPr>
            <a:lvl3pPr marL="0" marR="0" lvl="2" indent="0" algn="l" rtl="0">
              <a:spcBef>
                <a:spcPts val="0"/>
              </a:spcBef>
              <a:buNone/>
              <a:defRPr sz="1400" b="0" i="0" u="none" strike="noStrike" cap="none">
                <a:solidFill>
                  <a:schemeClr val="dk2"/>
                </a:solidFill>
                <a:latin typeface="Gill Sans"/>
                <a:ea typeface="Gill Sans"/>
                <a:cs typeface="Gill Sans"/>
                <a:sym typeface="Gill Sans"/>
              </a:defRPr>
            </a:lvl3pPr>
            <a:lvl4pPr marL="0" marR="0" lvl="3" indent="0" algn="l" rtl="0">
              <a:spcBef>
                <a:spcPts val="0"/>
              </a:spcBef>
              <a:buNone/>
              <a:defRPr sz="1400" b="0" i="0" u="none" strike="noStrike" cap="none">
                <a:solidFill>
                  <a:schemeClr val="dk2"/>
                </a:solidFill>
                <a:latin typeface="Gill Sans"/>
                <a:ea typeface="Gill Sans"/>
                <a:cs typeface="Gill Sans"/>
                <a:sym typeface="Gill Sans"/>
              </a:defRPr>
            </a:lvl4pPr>
            <a:lvl5pPr marL="0" marR="0" lvl="4" indent="0" algn="l" rtl="0">
              <a:spcBef>
                <a:spcPts val="0"/>
              </a:spcBef>
              <a:buNone/>
              <a:defRPr sz="1400" b="0" i="0" u="none" strike="noStrike" cap="none">
                <a:solidFill>
                  <a:schemeClr val="dk2"/>
                </a:solidFill>
                <a:latin typeface="Gill Sans"/>
                <a:ea typeface="Gill Sans"/>
                <a:cs typeface="Gill Sans"/>
                <a:sym typeface="Gill Sans"/>
              </a:defRPr>
            </a:lvl5pPr>
            <a:lvl6pPr marL="0" marR="0" lvl="5" indent="0" algn="l" rtl="0">
              <a:spcBef>
                <a:spcPts val="0"/>
              </a:spcBef>
              <a:buNone/>
              <a:defRPr sz="1400" b="0" i="0" u="none" strike="noStrike" cap="none">
                <a:solidFill>
                  <a:schemeClr val="dk2"/>
                </a:solidFill>
                <a:latin typeface="Gill Sans"/>
                <a:ea typeface="Gill Sans"/>
                <a:cs typeface="Gill Sans"/>
                <a:sym typeface="Gill Sans"/>
              </a:defRPr>
            </a:lvl6pPr>
            <a:lvl7pPr marL="0" marR="0" lvl="6" indent="0" algn="l" rtl="0">
              <a:spcBef>
                <a:spcPts val="0"/>
              </a:spcBef>
              <a:buNone/>
              <a:defRPr sz="1400" b="0" i="0" u="none" strike="noStrike" cap="none">
                <a:solidFill>
                  <a:schemeClr val="dk2"/>
                </a:solidFill>
                <a:latin typeface="Gill Sans"/>
                <a:ea typeface="Gill Sans"/>
                <a:cs typeface="Gill Sans"/>
                <a:sym typeface="Gill Sans"/>
              </a:defRPr>
            </a:lvl7pPr>
            <a:lvl8pPr marL="0" marR="0" lvl="7" indent="0" algn="l" rtl="0">
              <a:spcBef>
                <a:spcPts val="0"/>
              </a:spcBef>
              <a:buNone/>
              <a:defRPr sz="1400" b="0" i="0" u="none" strike="noStrike" cap="none">
                <a:solidFill>
                  <a:schemeClr val="dk2"/>
                </a:solidFill>
                <a:latin typeface="Gill Sans"/>
                <a:ea typeface="Gill Sans"/>
                <a:cs typeface="Gill Sans"/>
                <a:sym typeface="Gill Sans"/>
              </a:defRPr>
            </a:lvl8pPr>
            <a:lvl9pPr marL="0" marR="0" lvl="8" indent="0" algn="l" rtl="0">
              <a:spcBef>
                <a:spcPts val="0"/>
              </a:spcBef>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cxnSp>
        <p:nvCxnSpPr>
          <p:cNvPr id="15" name="Google Shape;15;p29"/>
          <p:cNvCxnSpPr/>
          <p:nvPr/>
        </p:nvCxnSpPr>
        <p:spPr>
          <a:xfrm>
            <a:off x="457200" y="6353175"/>
            <a:ext cx="8229600" cy="0"/>
          </a:xfrm>
          <a:prstGeom prst="straightConnector1">
            <a:avLst/>
          </a:prstGeom>
          <a:noFill/>
          <a:ln w="9525" cap="flat" cmpd="sng">
            <a:solidFill>
              <a:schemeClr val="accent2"/>
            </a:solidFill>
            <a:prstDash val="dash"/>
            <a:round/>
            <a:headEnd type="none" w="sm" len="sm"/>
            <a:tailEnd type="none" w="sm" len="sm"/>
          </a:ln>
        </p:spPr>
      </p:cxnSp>
      <p:cxnSp>
        <p:nvCxnSpPr>
          <p:cNvPr id="16" name="Google Shape;16;p29"/>
          <p:cNvCxnSpPr/>
          <p:nvPr/>
        </p:nvCxnSpPr>
        <p:spPr>
          <a:xfrm>
            <a:off x="457200" y="1143000"/>
            <a:ext cx="8229600" cy="0"/>
          </a:xfrm>
          <a:prstGeom prst="straightConnector1">
            <a:avLst/>
          </a:prstGeom>
          <a:noFill/>
          <a:ln w="9525" cap="flat" cmpd="sng">
            <a:solidFill>
              <a:schemeClr val="accent2"/>
            </a:solidFill>
            <a:prstDash val="dash"/>
            <a:round/>
            <a:headEnd type="none" w="sm" len="sm"/>
            <a:tailEnd type="none" w="sm" len="sm"/>
          </a:ln>
        </p:spPr>
      </p:cxnSp>
      <p:sp>
        <p:nvSpPr>
          <p:cNvPr id="17" name="Google Shape;17;p29"/>
          <p:cNvSpPr/>
          <p:nvPr/>
        </p:nvSpPr>
        <p:spPr>
          <a:xfrm rot="5400000">
            <a:off x="419100" y="6467475"/>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code.visualstudio.com/"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hyperlink" Target="https://nodejs.org/en/download"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microsoft.com/office/2007/relationships/hdphoto" Target="../media/hdphoto3.wdp"/><Relationship Id="rId13"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0.png"/><Relationship Id="rId12" Type="http://schemas.microsoft.com/office/2007/relationships/hdphoto" Target="../media/hdphoto5.wdp"/><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microsoft.com/office/2007/relationships/hdphoto" Target="../media/hdphoto2.wdp"/><Relationship Id="rId11" Type="http://schemas.openxmlformats.org/officeDocument/2006/relationships/image" Target="../media/image12.png"/><Relationship Id="rId5" Type="http://schemas.openxmlformats.org/officeDocument/2006/relationships/image" Target="../media/image9.pn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
          <p:cNvSpPr txBox="1">
            <a:spLocks noGrp="1"/>
          </p:cNvSpPr>
          <p:nvPr>
            <p:ph type="ctrTitle"/>
          </p:nvPr>
        </p:nvSpPr>
        <p:spPr>
          <a:xfrm>
            <a:off x="1219200" y="3886200"/>
            <a:ext cx="6934200" cy="990600"/>
          </a:xfrm>
          <a:prstGeom prst="rect">
            <a:avLst/>
          </a:prstGeom>
          <a:noFill/>
          <a:ln>
            <a:noFill/>
          </a:ln>
        </p:spPr>
        <p:txBody>
          <a:bodyPr spcFirstLastPara="1" wrap="square" lIns="91425" tIns="45700" rIns="91425" bIns="45700" anchor="t" anchorCtr="0">
            <a:noAutofit/>
          </a:bodyPr>
          <a:lstStyle/>
          <a:p>
            <a:pPr lvl="0">
              <a:buSzPts val="3000"/>
            </a:pPr>
            <a:r>
              <a:rPr lang="en-US" sz="3000" dirty="0"/>
              <a:t>CTE 2059 - Computer Graphic</a:t>
            </a:r>
            <a:br>
              <a:rPr lang="en-US" sz="3000" dirty="0"/>
            </a:br>
            <a:r>
              <a:rPr lang="en-US" sz="3000" dirty="0"/>
              <a:t>Lecture 1 – Scene &amp; Primitives</a:t>
            </a:r>
            <a:endParaRPr sz="3000" dirty="0"/>
          </a:p>
        </p:txBody>
      </p:sp>
      <p:sp>
        <p:nvSpPr>
          <p:cNvPr id="112" name="Google Shape;112;p1"/>
          <p:cNvSpPr txBox="1">
            <a:spLocks noGrp="1"/>
          </p:cNvSpPr>
          <p:nvPr>
            <p:ph type="subTitle" idx="1"/>
          </p:nvPr>
        </p:nvSpPr>
        <p:spPr>
          <a:xfrm>
            <a:off x="1143000" y="5029200"/>
            <a:ext cx="7086600" cy="685800"/>
          </a:xfrm>
          <a:prstGeom prst="rect">
            <a:avLst/>
          </a:prstGeom>
          <a:noFill/>
          <a:ln>
            <a:noFill/>
          </a:ln>
        </p:spPr>
        <p:txBody>
          <a:bodyPr spcFirstLastPara="1" wrap="square" lIns="91425" tIns="45700" rIns="91425" bIns="45700" anchor="t" anchorCtr="0">
            <a:noAutofit/>
          </a:bodyPr>
          <a:lstStyle/>
          <a:p>
            <a:pPr marL="0" lvl="0" indent="0">
              <a:spcBef>
                <a:spcPts val="0"/>
              </a:spcBef>
            </a:pPr>
            <a:r>
              <a:rPr lang="en-US" dirty="0">
                <a:solidFill>
                  <a:schemeClr val="dk1"/>
                </a:solidFill>
                <a:latin typeface="Cambria"/>
                <a:ea typeface="Cambria"/>
                <a:cs typeface="Cambria"/>
                <a:sym typeface="Cambria"/>
              </a:rPr>
              <a:t>University of Engineering and Technology</a:t>
            </a:r>
          </a:p>
          <a:p>
            <a:pPr marL="0" lvl="0" indent="0"/>
            <a:r>
              <a:rPr lang="en-US" dirty="0">
                <a:solidFill>
                  <a:schemeClr val="dk1"/>
                </a:solidFill>
                <a:latin typeface="Cambria"/>
                <a:ea typeface="Cambria"/>
                <a:sym typeface="Cambria"/>
              </a:rPr>
              <a:t>VIETNAM NATIONAL UNIVERSITY, HANOI</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g38848204ce3_0_96"/>
          <p:cNvSpPr txBox="1">
            <a:spLocks noGrp="1"/>
          </p:cNvSpPr>
          <p:nvPr>
            <p:ph type="title"/>
          </p:nvPr>
        </p:nvSpPr>
        <p:spPr>
          <a:xfrm>
            <a:off x="457200" y="152400"/>
            <a:ext cx="8229600" cy="9906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Outline</a:t>
            </a:r>
            <a:endParaRPr/>
          </a:p>
        </p:txBody>
      </p:sp>
      <p:sp>
        <p:nvSpPr>
          <p:cNvPr id="119" name="Google Shape;119;g38848204ce3_0_96"/>
          <p:cNvSpPr txBox="1">
            <a:spLocks noGrp="1"/>
          </p:cNvSpPr>
          <p:nvPr>
            <p:ph type="body" idx="1"/>
          </p:nvPr>
        </p:nvSpPr>
        <p:spPr>
          <a:xfrm>
            <a:off x="457200" y="1219200"/>
            <a:ext cx="8229600" cy="4937700"/>
          </a:xfrm>
          <a:prstGeom prst="rect">
            <a:avLst/>
          </a:prstGeom>
        </p:spPr>
        <p:txBody>
          <a:bodyPr spcFirstLastPara="1" wrap="square" lIns="91425" tIns="45700" rIns="91425" bIns="45700" anchor="t" anchorCtr="0">
            <a:normAutofit/>
          </a:bodyPr>
          <a:lstStyle/>
          <a:p>
            <a:pPr lvl="0">
              <a:spcBef>
                <a:spcPts val="0"/>
              </a:spcBef>
            </a:pPr>
            <a:r>
              <a:rPr lang="en-US" sz="2400" b="1" dirty="0"/>
              <a:t>Getting Started</a:t>
            </a:r>
          </a:p>
          <a:p>
            <a:pPr lvl="1">
              <a:spcBef>
                <a:spcPts val="0"/>
              </a:spcBef>
            </a:pPr>
            <a:r>
              <a:rPr lang="en-US" sz="2100" dirty="0"/>
              <a:t>Installation</a:t>
            </a:r>
          </a:p>
          <a:p>
            <a:pPr lvl="1">
              <a:spcBef>
                <a:spcPts val="0"/>
              </a:spcBef>
            </a:pPr>
            <a:r>
              <a:rPr lang="en-US" sz="2100" dirty="0"/>
              <a:t>Creating a Scene</a:t>
            </a:r>
          </a:p>
          <a:p>
            <a:pPr marL="457200" lvl="0" indent="-315468" algn="l" rtl="0">
              <a:spcBef>
                <a:spcPts val="0"/>
              </a:spcBef>
              <a:spcAft>
                <a:spcPts val="0"/>
              </a:spcAft>
              <a:buSzPts val="1368"/>
              <a:buChar char="🞂"/>
            </a:pPr>
            <a:r>
              <a:rPr lang="en-US" sz="2400" b="1" dirty="0"/>
              <a:t>Fundamentals</a:t>
            </a:r>
          </a:p>
          <a:p>
            <a:pPr marL="457200" lvl="0" indent="-315468" algn="l" rtl="0">
              <a:spcBef>
                <a:spcPts val="0"/>
              </a:spcBef>
              <a:spcAft>
                <a:spcPts val="0"/>
              </a:spcAft>
              <a:buSzPts val="1368"/>
              <a:buChar char="🞂"/>
            </a:pPr>
            <a:r>
              <a:rPr lang="en-US" sz="2400" b="1" dirty="0"/>
              <a:t>Primitives</a:t>
            </a:r>
          </a:p>
          <a:p>
            <a:pPr lvl="1">
              <a:spcBef>
                <a:spcPts val="0"/>
              </a:spcBef>
            </a:pPr>
            <a:r>
              <a:rPr lang="en-US" sz="2100" dirty="0"/>
              <a:t>Box, Sphere, Cylinder, Torus, Cone, Capsule, Plane</a:t>
            </a:r>
          </a:p>
          <a:p>
            <a:pPr lvl="1">
              <a:spcBef>
                <a:spcPts val="0"/>
              </a:spcBef>
            </a:pPr>
            <a:r>
              <a:rPr lang="en-US" sz="2100" dirty="0"/>
              <a:t>Grouping &amp; Hierarchy</a:t>
            </a:r>
          </a:p>
          <a:p>
            <a:pPr marL="457200" marR="0" lvl="0" indent="-315468" algn="l" rtl="0">
              <a:lnSpc>
                <a:spcPct val="100000"/>
              </a:lnSpc>
              <a:spcBef>
                <a:spcPts val="0"/>
              </a:spcBef>
              <a:spcAft>
                <a:spcPts val="0"/>
              </a:spcAft>
              <a:buSzPts val="1368"/>
              <a:buChar char="🞂"/>
            </a:pPr>
            <a:r>
              <a:rPr lang="en-US" sz="2400" b="1" dirty="0"/>
              <a:t>Hands-On Activity</a:t>
            </a:r>
            <a:endParaRPr sz="2400" b="1" dirty="0"/>
          </a:p>
        </p:txBody>
      </p:sp>
      <p:sp>
        <p:nvSpPr>
          <p:cNvPr id="3" name="Slide Number Placeholder 2">
            <a:extLst>
              <a:ext uri="{FF2B5EF4-FFF2-40B4-BE49-F238E27FC236}">
                <a16:creationId xmlns:a16="http://schemas.microsoft.com/office/drawing/2014/main" id="{74317003-EBEA-9A4F-45E5-043B1E3A5283}"/>
              </a:ext>
            </a:extLst>
          </p:cNvPr>
          <p:cNvSpPr>
            <a:spLocks noGrp="1"/>
          </p:cNvSpPr>
          <p:nvPr>
            <p:ph type="sldNum" idx="12"/>
          </p:nvPr>
        </p:nvSpPr>
        <p:spPr/>
        <p:txBody>
          <a:bodyPr/>
          <a:lstStyle/>
          <a:p>
            <a:pPr marL="0" lvl="0" indent="0" algn="r" rtl="0">
              <a:spcBef>
                <a:spcPts val="0"/>
              </a:spcBef>
              <a:spcAft>
                <a:spcPts val="0"/>
              </a:spcAft>
              <a:buNone/>
            </a:pPr>
            <a:r>
              <a:rPr lang="en-US" dirty="0"/>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4">
          <a:extLst>
            <a:ext uri="{FF2B5EF4-FFF2-40B4-BE49-F238E27FC236}">
              <a16:creationId xmlns:a16="http://schemas.microsoft.com/office/drawing/2014/main" id="{B71CDE8D-0AB8-F4B6-B5DC-B89DBC4DB41F}"/>
            </a:ext>
          </a:extLst>
        </p:cNvPr>
        <p:cNvGrpSpPr/>
        <p:nvPr/>
      </p:nvGrpSpPr>
      <p:grpSpPr>
        <a:xfrm>
          <a:off x="0" y="0"/>
          <a:ext cx="0" cy="0"/>
          <a:chOff x="0" y="0"/>
          <a:chExt cx="0" cy="0"/>
        </a:xfrm>
      </p:grpSpPr>
      <p:sp>
        <p:nvSpPr>
          <p:cNvPr id="125" name="Google Shape;125;p2">
            <a:extLst>
              <a:ext uri="{FF2B5EF4-FFF2-40B4-BE49-F238E27FC236}">
                <a16:creationId xmlns:a16="http://schemas.microsoft.com/office/drawing/2014/main" id="{6A082B44-AD99-4326-7163-8925182B5DD4}"/>
              </a:ext>
            </a:extLst>
          </p:cNvPr>
          <p:cNvSpPr txBox="1">
            <a:spLocks noGrp="1"/>
          </p:cNvSpPr>
          <p:nvPr>
            <p:ph type="title"/>
          </p:nvPr>
        </p:nvSpPr>
        <p:spPr>
          <a:xfrm>
            <a:off x="1219200" y="2971800"/>
            <a:ext cx="6858000" cy="1066800"/>
          </a:xfrm>
          <a:prstGeom prst="rect">
            <a:avLst/>
          </a:prstGeom>
          <a:noFill/>
          <a:ln>
            <a:noFill/>
          </a:ln>
        </p:spPr>
        <p:txBody>
          <a:bodyPr spcFirstLastPara="1" wrap="square" lIns="91425" tIns="45700" rIns="91425" bIns="45700" anchor="t" anchorCtr="0">
            <a:normAutofit/>
          </a:bodyPr>
          <a:lstStyle/>
          <a:p>
            <a:pPr marL="0" lvl="0" indent="0" algn="r" rtl="0">
              <a:spcBef>
                <a:spcPts val="0"/>
              </a:spcBef>
              <a:spcAft>
                <a:spcPts val="0"/>
              </a:spcAft>
              <a:buClr>
                <a:schemeClr val="dk2"/>
              </a:buClr>
              <a:buSzPts val="3200"/>
              <a:buFont typeface="Bookman Old Style"/>
              <a:buNone/>
            </a:pPr>
            <a:r>
              <a:rPr lang="en-US" dirty="0"/>
              <a:t>Getting Started</a:t>
            </a:r>
            <a:endParaRPr dirty="0"/>
          </a:p>
        </p:txBody>
      </p:sp>
      <p:sp>
        <p:nvSpPr>
          <p:cNvPr id="126" name="Google Shape;126;p2">
            <a:extLst>
              <a:ext uri="{FF2B5EF4-FFF2-40B4-BE49-F238E27FC236}">
                <a16:creationId xmlns:a16="http://schemas.microsoft.com/office/drawing/2014/main" id="{9BAD3AD8-3231-B169-F538-D9951DEF3F5A}"/>
              </a:ext>
            </a:extLst>
          </p:cNvPr>
          <p:cNvSpPr txBox="1">
            <a:spLocks noGrp="1"/>
          </p:cNvSpPr>
          <p:nvPr>
            <p:ph type="body" idx="1"/>
          </p:nvPr>
        </p:nvSpPr>
        <p:spPr>
          <a:xfrm>
            <a:off x="1295400" y="4267200"/>
            <a:ext cx="6781800" cy="1143000"/>
          </a:xfrm>
          <a:prstGeom prst="rect">
            <a:avLst/>
          </a:prstGeom>
          <a:noFill/>
          <a:ln>
            <a:noFill/>
          </a:ln>
        </p:spPr>
        <p:txBody>
          <a:bodyPr spcFirstLastPara="1" wrap="square" lIns="91425" tIns="45700" rIns="91425" bIns="45700" anchor="t" anchorCtr="0">
            <a:normAutofit/>
          </a:bodyPr>
          <a:lstStyle/>
          <a:p>
            <a:pPr marL="0" lvl="0" indent="0" algn="r" rtl="0">
              <a:spcBef>
                <a:spcPts val="0"/>
              </a:spcBef>
              <a:spcAft>
                <a:spcPts val="0"/>
              </a:spcAft>
              <a:buSzPts val="1520"/>
              <a:buNone/>
            </a:pPr>
            <a:endParaRPr/>
          </a:p>
        </p:txBody>
      </p:sp>
      <p:sp>
        <p:nvSpPr>
          <p:cNvPr id="4" name="Slide Number Placeholder 3">
            <a:extLst>
              <a:ext uri="{FF2B5EF4-FFF2-40B4-BE49-F238E27FC236}">
                <a16:creationId xmlns:a16="http://schemas.microsoft.com/office/drawing/2014/main" id="{4CFA1DE5-9444-E256-9F4D-E48C5397ADA6}"/>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2</a:t>
            </a:fld>
            <a:endParaRPr lang="en-US"/>
          </a:p>
        </p:txBody>
      </p:sp>
    </p:spTree>
    <p:extLst>
      <p:ext uri="{BB962C8B-B14F-4D97-AF65-F5344CB8AC3E}">
        <p14:creationId xmlns:p14="http://schemas.microsoft.com/office/powerpoint/2010/main" val="37379726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EF039324-9B43-F2AE-67CB-56B64C79215E}"/>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B873D605-D0F4-2EDD-C5A3-524CF60AC775}"/>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dirty="0"/>
              <a:t>Installation</a:t>
            </a:r>
            <a:endParaRPr dirty="0"/>
          </a:p>
        </p:txBody>
      </p:sp>
      <p:sp>
        <p:nvSpPr>
          <p:cNvPr id="138" name="Google Shape;138;p3">
            <a:extLst>
              <a:ext uri="{FF2B5EF4-FFF2-40B4-BE49-F238E27FC236}">
                <a16:creationId xmlns:a16="http://schemas.microsoft.com/office/drawing/2014/main" id="{969670E5-13A2-54B5-2689-3C5565386C7F}"/>
              </a:ext>
            </a:extLst>
          </p:cNvPr>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Autofit/>
          </a:bodyPr>
          <a:lstStyle/>
          <a:p>
            <a:pPr lvl="0" indent="-457200" algn="just" rtl="0">
              <a:lnSpc>
                <a:spcPct val="150000"/>
              </a:lnSpc>
              <a:spcAft>
                <a:spcPts val="0"/>
              </a:spcAft>
              <a:buClr>
                <a:schemeClr val="accent4">
                  <a:lumMod val="75000"/>
                </a:schemeClr>
              </a:buClr>
              <a:buSzPts val="1976"/>
              <a:buFont typeface="Wingdings" panose="05000000000000000000" pitchFamily="2" charset="2"/>
              <a:buChar char="q"/>
            </a:pPr>
            <a:r>
              <a:rPr lang="en-US" sz="1800" b="1" dirty="0"/>
              <a:t>Installing </a:t>
            </a:r>
            <a:r>
              <a:rPr lang="en-US" sz="1800" b="1" dirty="0" err="1"/>
              <a:t>VSCode</a:t>
            </a:r>
            <a:r>
              <a:rPr lang="en-US" sz="1800" b="1" dirty="0"/>
              <a:t>: </a:t>
            </a:r>
            <a:r>
              <a:rPr lang="en-US" sz="1800" b="1" dirty="0">
                <a:hlinkClick r:id="rId3"/>
              </a:rPr>
              <a:t>https://code.visualstudio.com/</a:t>
            </a:r>
            <a:endParaRPr lang="en-US" sz="1800" b="1" dirty="0"/>
          </a:p>
          <a:p>
            <a:pPr lvl="0" indent="-457200" algn="just" rtl="0">
              <a:lnSpc>
                <a:spcPct val="150000"/>
              </a:lnSpc>
              <a:spcAft>
                <a:spcPts val="0"/>
              </a:spcAft>
              <a:buClr>
                <a:schemeClr val="accent4">
                  <a:lumMod val="75000"/>
                </a:schemeClr>
              </a:buClr>
              <a:buSzPts val="1976"/>
              <a:buFont typeface="Wingdings" panose="05000000000000000000" pitchFamily="2" charset="2"/>
              <a:buChar char="q"/>
            </a:pPr>
            <a:r>
              <a:rPr lang="en-US" sz="1800" b="1" dirty="0"/>
              <a:t>Installing Node.js and </a:t>
            </a:r>
            <a:r>
              <a:rPr lang="en-US" sz="1800" b="1" dirty="0" err="1"/>
              <a:t>npm</a:t>
            </a:r>
            <a:r>
              <a:rPr lang="en-US" sz="1800" b="1" dirty="0"/>
              <a:t>: </a:t>
            </a:r>
            <a:r>
              <a:rPr lang="en-US" sz="1800" dirty="0">
                <a:hlinkClick r:id="rId4"/>
              </a:rPr>
              <a:t>https://nodejs.org/en/download</a:t>
            </a:r>
            <a:r>
              <a:rPr lang="en-US" sz="1800" dirty="0"/>
              <a:t> (Window Installer)</a:t>
            </a:r>
          </a:p>
          <a:p>
            <a:pPr lvl="0" indent="-457200" algn="just" rtl="0">
              <a:lnSpc>
                <a:spcPct val="150000"/>
              </a:lnSpc>
              <a:spcAft>
                <a:spcPts val="0"/>
              </a:spcAft>
              <a:buClr>
                <a:schemeClr val="accent4">
                  <a:lumMod val="75000"/>
                </a:schemeClr>
              </a:buClr>
              <a:buSzPts val="1976"/>
              <a:buFont typeface="Wingdings" panose="05000000000000000000" pitchFamily="2" charset="2"/>
              <a:buChar char="q"/>
            </a:pPr>
            <a:r>
              <a:rPr lang="en-US" sz="1800" b="1" dirty="0"/>
              <a:t>Check installation: Open Command Prompt and type these commands</a:t>
            </a:r>
          </a:p>
          <a:p>
            <a:pPr lvl="1" indent="-457200" algn="just">
              <a:lnSpc>
                <a:spcPct val="150000"/>
              </a:lnSpc>
              <a:buClr>
                <a:schemeClr val="accent4">
                  <a:lumMod val="75000"/>
                </a:schemeClr>
              </a:buClr>
              <a:buSzPts val="1976"/>
              <a:buFont typeface="Wingdings" panose="05000000000000000000" pitchFamily="2" charset="2"/>
              <a:buChar char="q"/>
            </a:pPr>
            <a:r>
              <a:rPr lang="en-US" sz="1700" dirty="0"/>
              <a:t>node --version</a:t>
            </a:r>
          </a:p>
          <a:p>
            <a:pPr lvl="1" indent="-457200" algn="just">
              <a:lnSpc>
                <a:spcPct val="150000"/>
              </a:lnSpc>
              <a:buClr>
                <a:schemeClr val="accent4">
                  <a:lumMod val="75000"/>
                </a:schemeClr>
              </a:buClr>
              <a:buSzPts val="1976"/>
              <a:buFont typeface="Wingdings" panose="05000000000000000000" pitchFamily="2" charset="2"/>
              <a:buChar char="q"/>
            </a:pPr>
            <a:r>
              <a:rPr lang="en-US" sz="1700" dirty="0" err="1"/>
              <a:t>npm</a:t>
            </a:r>
            <a:r>
              <a:rPr lang="en-US" sz="1700" dirty="0"/>
              <a:t> --version</a:t>
            </a:r>
          </a:p>
          <a:p>
            <a:pPr marL="514350" indent="-514350" algn="just">
              <a:lnSpc>
                <a:spcPct val="150000"/>
              </a:lnSpc>
              <a:buClr>
                <a:srgbClr val="FFC000"/>
              </a:buClr>
              <a:buSzPts val="1976"/>
              <a:buFont typeface="Wingdings" panose="05000000000000000000" pitchFamily="2" charset="2"/>
              <a:buChar char="q"/>
            </a:pPr>
            <a:r>
              <a:rPr lang="en-US" sz="1800" b="1" dirty="0"/>
              <a:t>Installing Three.js: Type these commands in Command Prompt</a:t>
            </a:r>
          </a:p>
          <a:p>
            <a:pPr marL="971550" lvl="1" indent="-514350" algn="just">
              <a:lnSpc>
                <a:spcPct val="150000"/>
              </a:lnSpc>
              <a:buClr>
                <a:srgbClr val="FFC000"/>
              </a:buClr>
              <a:buSzPts val="1976"/>
              <a:buFont typeface="Wingdings" panose="05000000000000000000" pitchFamily="2" charset="2"/>
              <a:buChar char="q"/>
            </a:pPr>
            <a:r>
              <a:rPr lang="en-US" sz="1700" dirty="0" err="1"/>
              <a:t>npm</a:t>
            </a:r>
            <a:r>
              <a:rPr lang="en-US" sz="1700" dirty="0"/>
              <a:t> install --save three</a:t>
            </a:r>
          </a:p>
          <a:p>
            <a:pPr marL="971550" lvl="1" indent="-514350" algn="just">
              <a:lnSpc>
                <a:spcPct val="150000"/>
              </a:lnSpc>
              <a:buClr>
                <a:srgbClr val="FFC000"/>
              </a:buClr>
              <a:buSzPts val="1976"/>
              <a:buFont typeface="Wingdings" panose="05000000000000000000" pitchFamily="2" charset="2"/>
              <a:buChar char="q"/>
            </a:pPr>
            <a:r>
              <a:rPr lang="en-US" sz="1700" dirty="0" err="1"/>
              <a:t>npm</a:t>
            </a:r>
            <a:r>
              <a:rPr lang="en-US" sz="1700" dirty="0"/>
              <a:t> install --save-dev </a:t>
            </a:r>
            <a:r>
              <a:rPr lang="en-US" sz="1700" dirty="0" err="1"/>
              <a:t>vite</a:t>
            </a:r>
            <a:endParaRPr lang="en-US" sz="1700" dirty="0"/>
          </a:p>
          <a:p>
            <a:pPr marL="514350" indent="-514350" algn="just">
              <a:lnSpc>
                <a:spcPct val="150000"/>
              </a:lnSpc>
              <a:buClr>
                <a:srgbClr val="FFC000"/>
              </a:buClr>
              <a:buSzPts val="1976"/>
              <a:buFont typeface="Wingdings" panose="05000000000000000000" pitchFamily="2" charset="2"/>
              <a:buChar char="q"/>
            </a:pPr>
            <a:r>
              <a:rPr lang="en-US" sz="1800" b="1" dirty="0" err="1"/>
              <a:t>VSCode</a:t>
            </a:r>
            <a:r>
              <a:rPr lang="en-US" sz="1800" b="1" dirty="0"/>
              <a:t> Live Server Extension </a:t>
            </a:r>
            <a:r>
              <a:rPr lang="en-US" sz="1800" dirty="0"/>
              <a:t>(Optional)</a:t>
            </a:r>
          </a:p>
        </p:txBody>
      </p:sp>
      <p:sp>
        <p:nvSpPr>
          <p:cNvPr id="3" name="Slide Number Placeholder 2">
            <a:extLst>
              <a:ext uri="{FF2B5EF4-FFF2-40B4-BE49-F238E27FC236}">
                <a16:creationId xmlns:a16="http://schemas.microsoft.com/office/drawing/2014/main" id="{71120C1D-0606-742F-EADA-2FC1C52EA1F5}"/>
              </a:ext>
            </a:extLst>
          </p:cNvPr>
          <p:cNvSpPr>
            <a:spLocks noGrp="1"/>
          </p:cNvSpPr>
          <p:nvPr>
            <p:ph type="sldNum" idx="12"/>
          </p:nvPr>
        </p:nvSpPr>
        <p:spPr/>
        <p:txBody>
          <a:bodyPr/>
          <a:lstStyle/>
          <a:p>
            <a:pPr marL="0" lvl="0" indent="0" algn="r" rtl="0">
              <a:spcBef>
                <a:spcPts val="0"/>
              </a:spcBef>
              <a:spcAft>
                <a:spcPts val="0"/>
              </a:spcAft>
              <a:buNone/>
            </a:pPr>
            <a:r>
              <a:rPr lang="en-US" dirty="0"/>
              <a:t>3</a:t>
            </a:r>
          </a:p>
        </p:txBody>
      </p:sp>
    </p:spTree>
    <p:extLst>
      <p:ext uri="{BB962C8B-B14F-4D97-AF65-F5344CB8AC3E}">
        <p14:creationId xmlns:p14="http://schemas.microsoft.com/office/powerpoint/2010/main" val="34217263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844001A6-F5D3-CF35-C98A-62E09CF4640C}"/>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3F12B326-3893-4D9C-75F9-5AD7E9539AC8}"/>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dirty="0"/>
              <a:t>Creating a Scene</a:t>
            </a:r>
            <a:endParaRPr dirty="0"/>
          </a:p>
        </p:txBody>
      </p:sp>
      <p:sp>
        <p:nvSpPr>
          <p:cNvPr id="138" name="Google Shape;138;p3">
            <a:extLst>
              <a:ext uri="{FF2B5EF4-FFF2-40B4-BE49-F238E27FC236}">
                <a16:creationId xmlns:a16="http://schemas.microsoft.com/office/drawing/2014/main" id="{5D451120-AE0E-770C-43E2-A76D0FF41F30}"/>
              </a:ext>
            </a:extLst>
          </p:cNvPr>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Autofit/>
          </a:bodyPr>
          <a:lstStyle/>
          <a:p>
            <a:pPr lvl="0" indent="-457200" algn="just" rtl="0">
              <a:lnSpc>
                <a:spcPct val="150000"/>
              </a:lnSpc>
              <a:spcAft>
                <a:spcPts val="0"/>
              </a:spcAft>
              <a:buClr>
                <a:schemeClr val="accent4">
                  <a:lumMod val="75000"/>
                </a:schemeClr>
              </a:buClr>
              <a:buSzPts val="1976"/>
              <a:buFont typeface="Wingdings" panose="05000000000000000000" pitchFamily="2" charset="2"/>
              <a:buChar char="q"/>
            </a:pPr>
            <a:r>
              <a:rPr lang="en-US" sz="2000" b="1" dirty="0"/>
              <a:t>Basic Structure: </a:t>
            </a:r>
          </a:p>
          <a:p>
            <a:pPr lvl="1" indent="-457200" algn="just">
              <a:lnSpc>
                <a:spcPct val="150000"/>
              </a:lnSpc>
              <a:buClr>
                <a:schemeClr val="accent4">
                  <a:lumMod val="75000"/>
                </a:schemeClr>
              </a:buClr>
              <a:buSzPts val="1976"/>
              <a:buFont typeface="Wingdings" panose="05000000000000000000" pitchFamily="2" charset="2"/>
              <a:buChar char="q"/>
            </a:pPr>
            <a:r>
              <a:rPr lang="en-US" sz="1700" dirty="0"/>
              <a:t>At least one HTML file to define the webpage.</a:t>
            </a:r>
          </a:p>
          <a:p>
            <a:pPr lvl="1" indent="-457200" algn="just">
              <a:lnSpc>
                <a:spcPct val="150000"/>
              </a:lnSpc>
              <a:buClr>
                <a:schemeClr val="accent4">
                  <a:lumMod val="75000"/>
                </a:schemeClr>
              </a:buClr>
              <a:buSzPts val="1976"/>
              <a:buFont typeface="Wingdings" panose="05000000000000000000" pitchFamily="2" charset="2"/>
              <a:buChar char="q"/>
            </a:pPr>
            <a:r>
              <a:rPr lang="en-US" sz="1700" dirty="0"/>
              <a:t>At least a JavaScript file to run your three.js code.</a:t>
            </a:r>
          </a:p>
          <a:p>
            <a:pPr lvl="1" indent="-457200" algn="just">
              <a:lnSpc>
                <a:spcPct val="150000"/>
              </a:lnSpc>
              <a:buClr>
                <a:schemeClr val="accent4">
                  <a:lumMod val="75000"/>
                </a:schemeClr>
              </a:buClr>
              <a:buSzPts val="1976"/>
              <a:buFont typeface="Wingdings" panose="05000000000000000000" pitchFamily="2" charset="2"/>
              <a:buChar char="q"/>
            </a:pPr>
            <a:r>
              <a:rPr lang="en-US" sz="1700" dirty="0"/>
              <a:t>Static folder: resources such as textures, audio, 3D models will go here.</a:t>
            </a:r>
          </a:p>
          <a:p>
            <a:pPr marL="514350" indent="-514350" algn="just">
              <a:lnSpc>
                <a:spcPct val="150000"/>
              </a:lnSpc>
              <a:buClr>
                <a:srgbClr val="FFC000"/>
              </a:buClr>
              <a:buSzPts val="1976"/>
              <a:buFont typeface="Wingdings" panose="05000000000000000000" pitchFamily="2" charset="2"/>
              <a:buChar char="q"/>
            </a:pPr>
            <a:r>
              <a:rPr lang="en-US" sz="2000" b="1" dirty="0"/>
              <a:t>How to run the code: </a:t>
            </a:r>
            <a:r>
              <a:rPr lang="en-US" sz="2000" dirty="0"/>
              <a:t>(using source code from three.js manual)</a:t>
            </a:r>
          </a:p>
          <a:p>
            <a:pPr marL="971550" lvl="1" indent="-514350" algn="just">
              <a:lnSpc>
                <a:spcPct val="150000"/>
              </a:lnSpc>
              <a:buClr>
                <a:srgbClr val="FFC000"/>
              </a:buClr>
              <a:buSzPts val="1976"/>
              <a:buFont typeface="Wingdings" panose="05000000000000000000" pitchFamily="2" charset="2"/>
              <a:buChar char="q"/>
            </a:pPr>
            <a:r>
              <a:rPr lang="en-US" sz="1700" dirty="0"/>
              <a:t>From your terminal, run: </a:t>
            </a:r>
            <a:r>
              <a:rPr lang="en-US" sz="1700" b="1" dirty="0" err="1"/>
              <a:t>npx</a:t>
            </a:r>
            <a:r>
              <a:rPr lang="en-US" sz="1700" b="1" dirty="0"/>
              <a:t> </a:t>
            </a:r>
            <a:r>
              <a:rPr lang="en-US" sz="1700" b="1" dirty="0" err="1"/>
              <a:t>vite</a:t>
            </a:r>
            <a:endParaRPr lang="en-US" sz="1700" b="1" dirty="0"/>
          </a:p>
          <a:p>
            <a:pPr marL="971550" lvl="1" indent="-514350" algn="just">
              <a:lnSpc>
                <a:spcPct val="150000"/>
              </a:lnSpc>
              <a:buClr>
                <a:srgbClr val="FFC000"/>
              </a:buClr>
              <a:buSzPts val="1976"/>
              <a:buFont typeface="Wingdings" panose="05000000000000000000" pitchFamily="2" charset="2"/>
              <a:buChar char="q"/>
            </a:pPr>
            <a:r>
              <a:rPr lang="en-US" sz="1700" dirty="0"/>
              <a:t>From your html file, “go live” with Live Server Extension.</a:t>
            </a:r>
          </a:p>
          <a:p>
            <a:pPr marL="971550" lvl="1" indent="-514350" algn="just">
              <a:lnSpc>
                <a:spcPct val="150000"/>
              </a:lnSpc>
              <a:buClr>
                <a:srgbClr val="FFC000"/>
              </a:buClr>
              <a:buSzPts val="1976"/>
              <a:buFont typeface="Wingdings" panose="05000000000000000000" pitchFamily="2" charset="2"/>
              <a:buChar char="q"/>
            </a:pPr>
            <a:r>
              <a:rPr lang="en-US" sz="1700" dirty="0"/>
              <a:t>You should see a localhost URL linked to your web application </a:t>
            </a:r>
          </a:p>
          <a:p>
            <a:pPr marL="914400" lvl="2" indent="0" algn="just">
              <a:lnSpc>
                <a:spcPct val="150000"/>
              </a:lnSpc>
              <a:buClr>
                <a:srgbClr val="FFC000"/>
              </a:buClr>
              <a:buSzPts val="1976"/>
              <a:buNone/>
            </a:pPr>
            <a:r>
              <a:rPr lang="en-US" sz="1400" dirty="0"/>
              <a:t>(It should be a blank page at this point).</a:t>
            </a:r>
            <a:r>
              <a:rPr lang="en-US" sz="1100" dirty="0"/>
              <a:t> </a:t>
            </a:r>
          </a:p>
        </p:txBody>
      </p:sp>
      <p:sp>
        <p:nvSpPr>
          <p:cNvPr id="3" name="Slide Number Placeholder 2">
            <a:extLst>
              <a:ext uri="{FF2B5EF4-FFF2-40B4-BE49-F238E27FC236}">
                <a16:creationId xmlns:a16="http://schemas.microsoft.com/office/drawing/2014/main" id="{62D926D4-154D-7B41-8784-1897CDDF4CAD}"/>
              </a:ext>
            </a:extLst>
          </p:cNvPr>
          <p:cNvSpPr>
            <a:spLocks noGrp="1"/>
          </p:cNvSpPr>
          <p:nvPr>
            <p:ph type="sldNum" idx="12"/>
          </p:nvPr>
        </p:nvSpPr>
        <p:spPr/>
        <p:txBody>
          <a:bodyPr/>
          <a:lstStyle/>
          <a:p>
            <a:pPr marL="0" lvl="0" indent="0" algn="r" rtl="0">
              <a:spcBef>
                <a:spcPts val="0"/>
              </a:spcBef>
              <a:spcAft>
                <a:spcPts val="0"/>
              </a:spcAft>
              <a:buNone/>
            </a:pPr>
            <a:r>
              <a:rPr lang="en-US" dirty="0"/>
              <a:t>3</a:t>
            </a:r>
          </a:p>
        </p:txBody>
      </p:sp>
    </p:spTree>
    <p:extLst>
      <p:ext uri="{BB962C8B-B14F-4D97-AF65-F5344CB8AC3E}">
        <p14:creationId xmlns:p14="http://schemas.microsoft.com/office/powerpoint/2010/main" val="601390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04A03E73-2E20-BB2B-8612-AF237E9DD8BF}"/>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E19B58B9-92D7-3C44-B6C0-BFB7D00AD13B}"/>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dirty="0"/>
              <a:t>Creating a Scene</a:t>
            </a:r>
            <a:endParaRPr dirty="0"/>
          </a:p>
        </p:txBody>
      </p:sp>
      <p:sp>
        <p:nvSpPr>
          <p:cNvPr id="138" name="Google Shape;138;p3">
            <a:extLst>
              <a:ext uri="{FF2B5EF4-FFF2-40B4-BE49-F238E27FC236}">
                <a16:creationId xmlns:a16="http://schemas.microsoft.com/office/drawing/2014/main" id="{4A715CEF-CB87-C12A-00EA-D438574FF329}"/>
              </a:ext>
            </a:extLst>
          </p:cNvPr>
          <p:cNvSpPr txBox="1">
            <a:spLocks noGrp="1"/>
          </p:cNvSpPr>
          <p:nvPr>
            <p:ph type="body" idx="1"/>
          </p:nvPr>
        </p:nvSpPr>
        <p:spPr>
          <a:xfrm>
            <a:off x="457200" y="1219200"/>
            <a:ext cx="2965938" cy="709246"/>
          </a:xfrm>
          <a:prstGeom prst="rect">
            <a:avLst/>
          </a:prstGeom>
          <a:noFill/>
          <a:ln>
            <a:noFill/>
          </a:ln>
        </p:spPr>
        <p:txBody>
          <a:bodyPr spcFirstLastPara="1" wrap="square" lIns="91425" tIns="45700" rIns="91425" bIns="45700" anchor="t" anchorCtr="0">
            <a:noAutofit/>
          </a:bodyPr>
          <a:lstStyle/>
          <a:p>
            <a:pPr lvl="0" indent="-457200" algn="just" rtl="0">
              <a:lnSpc>
                <a:spcPct val="150000"/>
              </a:lnSpc>
              <a:spcAft>
                <a:spcPts val="0"/>
              </a:spcAft>
              <a:buClr>
                <a:schemeClr val="accent4">
                  <a:lumMod val="75000"/>
                </a:schemeClr>
              </a:buClr>
              <a:buSzPts val="1976"/>
              <a:buFont typeface="Wingdings" panose="05000000000000000000" pitchFamily="2" charset="2"/>
              <a:buChar char="q"/>
            </a:pPr>
            <a:r>
              <a:rPr lang="en-US" sz="2000" b="1" dirty="0"/>
              <a:t>Creating the scene: </a:t>
            </a:r>
          </a:p>
          <a:p>
            <a:pPr marL="0" lvl="0" indent="0" algn="just" rtl="0">
              <a:lnSpc>
                <a:spcPct val="150000"/>
              </a:lnSpc>
              <a:spcAft>
                <a:spcPts val="0"/>
              </a:spcAft>
              <a:buClr>
                <a:schemeClr val="accent4">
                  <a:lumMod val="75000"/>
                </a:schemeClr>
              </a:buClr>
              <a:buSzPts val="1976"/>
              <a:buNone/>
            </a:pPr>
            <a:endParaRPr lang="en-US" sz="2000" b="1" dirty="0"/>
          </a:p>
        </p:txBody>
      </p:sp>
      <p:sp>
        <p:nvSpPr>
          <p:cNvPr id="3" name="Slide Number Placeholder 2">
            <a:extLst>
              <a:ext uri="{FF2B5EF4-FFF2-40B4-BE49-F238E27FC236}">
                <a16:creationId xmlns:a16="http://schemas.microsoft.com/office/drawing/2014/main" id="{A69C6CC0-5C99-937F-D6E1-9DA576FC82E3}"/>
              </a:ext>
            </a:extLst>
          </p:cNvPr>
          <p:cNvSpPr>
            <a:spLocks noGrp="1"/>
          </p:cNvSpPr>
          <p:nvPr>
            <p:ph type="sldNum" idx="12"/>
          </p:nvPr>
        </p:nvSpPr>
        <p:spPr/>
        <p:txBody>
          <a:bodyPr/>
          <a:lstStyle/>
          <a:p>
            <a:pPr marL="0" lvl="0" indent="0" algn="r" rtl="0">
              <a:spcBef>
                <a:spcPts val="0"/>
              </a:spcBef>
              <a:spcAft>
                <a:spcPts val="0"/>
              </a:spcAft>
              <a:buNone/>
            </a:pPr>
            <a:r>
              <a:rPr lang="en-US" dirty="0"/>
              <a:t>3</a:t>
            </a:r>
          </a:p>
        </p:txBody>
      </p:sp>
      <p:pic>
        <p:nvPicPr>
          <p:cNvPr id="5" name="Picture 4">
            <a:extLst>
              <a:ext uri="{FF2B5EF4-FFF2-40B4-BE49-F238E27FC236}">
                <a16:creationId xmlns:a16="http://schemas.microsoft.com/office/drawing/2014/main" id="{E87DDD83-C63E-82F6-BB69-71FAD93E436C}"/>
              </a:ext>
            </a:extLst>
          </p:cNvPr>
          <p:cNvPicPr>
            <a:picLocks noChangeAspect="1"/>
          </p:cNvPicPr>
          <p:nvPr/>
        </p:nvPicPr>
        <p:blipFill>
          <a:blip r:embed="rId3"/>
          <a:srcRect l="4530" t="12066" r="24027" b="7036"/>
          <a:stretch>
            <a:fillRect/>
          </a:stretch>
        </p:blipFill>
        <p:spPr>
          <a:xfrm>
            <a:off x="533401" y="1879838"/>
            <a:ext cx="5328137" cy="2046430"/>
          </a:xfrm>
          <a:prstGeom prst="rect">
            <a:avLst/>
          </a:prstGeom>
        </p:spPr>
      </p:pic>
      <p:sp>
        <p:nvSpPr>
          <p:cNvPr id="6" name="Google Shape;138;p3">
            <a:extLst>
              <a:ext uri="{FF2B5EF4-FFF2-40B4-BE49-F238E27FC236}">
                <a16:creationId xmlns:a16="http://schemas.microsoft.com/office/drawing/2014/main" id="{D7DBD2CA-280D-6FFE-B06E-152DDF202116}"/>
              </a:ext>
            </a:extLst>
          </p:cNvPr>
          <p:cNvSpPr txBox="1">
            <a:spLocks/>
          </p:cNvSpPr>
          <p:nvPr/>
        </p:nvSpPr>
        <p:spPr>
          <a:xfrm>
            <a:off x="457200" y="3926268"/>
            <a:ext cx="2473569" cy="70924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15468" algn="l" rtl="0">
              <a:lnSpc>
                <a:spcPct val="100000"/>
              </a:lnSpc>
              <a:spcBef>
                <a:spcPts val="600"/>
              </a:spcBef>
              <a:spcAft>
                <a:spcPts val="0"/>
              </a:spcAft>
              <a:buClr>
                <a:schemeClr val="accent1"/>
              </a:buClr>
              <a:buSzPts val="1368"/>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15468" algn="l" rtl="0">
              <a:lnSpc>
                <a:spcPct val="100000"/>
              </a:lnSpc>
              <a:spcBef>
                <a:spcPts val="500"/>
              </a:spcBef>
              <a:spcAft>
                <a:spcPts val="0"/>
              </a:spcAft>
              <a:buClr>
                <a:schemeClr val="accent2"/>
              </a:buClr>
              <a:buSzPts val="136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15467" algn="l" rtl="0">
              <a:lnSpc>
                <a:spcPct val="100000"/>
              </a:lnSpc>
              <a:spcBef>
                <a:spcPts val="500"/>
              </a:spcBef>
              <a:spcAft>
                <a:spcPts val="0"/>
              </a:spcAft>
              <a:buClr>
                <a:srgbClr val="BABABA"/>
              </a:buClr>
              <a:buSzPts val="1368"/>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lnSpc>
                <a:spcPct val="100000"/>
              </a:lnSpc>
              <a:spcBef>
                <a:spcPts val="400"/>
              </a:spcBef>
              <a:spcAft>
                <a:spcPts val="0"/>
              </a:spcAft>
              <a:buClr>
                <a:srgbClr val="8BA1B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308610" algn="l" rtl="0">
              <a:lnSpc>
                <a:spcPct val="100000"/>
              </a:lnSpc>
              <a:spcBef>
                <a:spcPts val="300"/>
              </a:spcBef>
              <a:spcAft>
                <a:spcPts val="0"/>
              </a:spcAft>
              <a:buClr>
                <a:schemeClr val="accent2"/>
              </a:buClr>
              <a:buSzPts val="126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14325" algn="l" rtl="0">
              <a:lnSpc>
                <a:spcPct val="100000"/>
              </a:lnSpc>
              <a:spcBef>
                <a:spcPts val="300"/>
              </a:spcBef>
              <a:spcAft>
                <a:spcPts val="0"/>
              </a:spcAft>
              <a:buClr>
                <a:srgbClr val="8BA1B3"/>
              </a:buClr>
              <a:buSzPts val="135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314325" algn="l" rtl="0">
              <a:lnSpc>
                <a:spcPct val="100000"/>
              </a:lnSpc>
              <a:spcBef>
                <a:spcPts val="300"/>
              </a:spcBef>
              <a:spcAft>
                <a:spcPts val="0"/>
              </a:spcAft>
              <a:buClr>
                <a:srgbClr val="646C8F"/>
              </a:buClr>
              <a:buSzPts val="13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314325" algn="l" rtl="0">
              <a:lnSpc>
                <a:spcPct val="100000"/>
              </a:lnSpc>
              <a:spcBef>
                <a:spcPts val="300"/>
              </a:spcBef>
              <a:spcAft>
                <a:spcPts val="0"/>
              </a:spcAft>
              <a:buClr>
                <a:srgbClr val="BABABA"/>
              </a:buClr>
              <a:buSzPts val="13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314325" algn="l" rtl="0">
              <a:lnSpc>
                <a:spcPct val="100000"/>
              </a:lnSpc>
              <a:spcBef>
                <a:spcPts val="300"/>
              </a:spcBef>
              <a:spcAft>
                <a:spcPts val="0"/>
              </a:spcAft>
              <a:buClr>
                <a:srgbClr val="9FB8CD"/>
              </a:buClr>
              <a:buSzPts val="1350"/>
              <a:buFont typeface="Noto Sans Symbols"/>
              <a:buChar char="🞂"/>
              <a:defRPr sz="1200" b="0" i="0" u="none" strike="noStrike" cap="none">
                <a:solidFill>
                  <a:schemeClr val="dk1"/>
                </a:solidFill>
                <a:latin typeface="Gill Sans"/>
                <a:ea typeface="Gill Sans"/>
                <a:cs typeface="Gill Sans"/>
                <a:sym typeface="Gill Sans"/>
              </a:defRPr>
            </a:lvl9pPr>
          </a:lstStyle>
          <a:p>
            <a:pPr indent="-457200" algn="just">
              <a:lnSpc>
                <a:spcPct val="150000"/>
              </a:lnSpc>
              <a:buClr>
                <a:schemeClr val="accent4">
                  <a:lumMod val="75000"/>
                </a:schemeClr>
              </a:buClr>
              <a:buSzPts val="1976"/>
              <a:buFont typeface="Wingdings" panose="05000000000000000000" pitchFamily="2" charset="2"/>
              <a:buChar char="q"/>
            </a:pPr>
            <a:r>
              <a:rPr lang="en-US" sz="2000" b="1" dirty="0"/>
              <a:t>Adding a cube: </a:t>
            </a:r>
          </a:p>
          <a:p>
            <a:pPr marL="0" indent="0" algn="just">
              <a:lnSpc>
                <a:spcPct val="150000"/>
              </a:lnSpc>
              <a:buClr>
                <a:schemeClr val="accent4">
                  <a:lumMod val="75000"/>
                </a:schemeClr>
              </a:buClr>
              <a:buSzPts val="1976"/>
              <a:buFont typeface="Noto Sans Symbols"/>
              <a:buNone/>
            </a:pPr>
            <a:endParaRPr lang="en-US" sz="2000" b="1" dirty="0"/>
          </a:p>
        </p:txBody>
      </p:sp>
      <p:pic>
        <p:nvPicPr>
          <p:cNvPr id="8" name="Picture 7">
            <a:extLst>
              <a:ext uri="{FF2B5EF4-FFF2-40B4-BE49-F238E27FC236}">
                <a16:creationId xmlns:a16="http://schemas.microsoft.com/office/drawing/2014/main" id="{E0508FD6-3FCD-897E-E5FB-EF4502BA873B}"/>
              </a:ext>
            </a:extLst>
          </p:cNvPr>
          <p:cNvPicPr>
            <a:picLocks noChangeAspect="1"/>
          </p:cNvPicPr>
          <p:nvPr/>
        </p:nvPicPr>
        <p:blipFill>
          <a:blip r:embed="rId4"/>
          <a:srcRect l="3911" t="6970" r="21925" b="12049"/>
          <a:stretch>
            <a:fillRect/>
          </a:stretch>
        </p:blipFill>
        <p:spPr>
          <a:xfrm>
            <a:off x="533401" y="4525107"/>
            <a:ext cx="5328137" cy="1347643"/>
          </a:xfrm>
          <a:prstGeom prst="rect">
            <a:avLst/>
          </a:prstGeom>
        </p:spPr>
      </p:pic>
      <p:sp>
        <p:nvSpPr>
          <p:cNvPr id="9" name="Google Shape;138;p3">
            <a:extLst>
              <a:ext uri="{FF2B5EF4-FFF2-40B4-BE49-F238E27FC236}">
                <a16:creationId xmlns:a16="http://schemas.microsoft.com/office/drawing/2014/main" id="{7B037CB4-52D4-EF66-984C-EA4B533A0868}"/>
              </a:ext>
            </a:extLst>
          </p:cNvPr>
          <p:cNvSpPr txBox="1">
            <a:spLocks/>
          </p:cNvSpPr>
          <p:nvPr/>
        </p:nvSpPr>
        <p:spPr>
          <a:xfrm>
            <a:off x="6137030" y="1282714"/>
            <a:ext cx="2473569" cy="70924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15468" algn="l" rtl="0">
              <a:lnSpc>
                <a:spcPct val="100000"/>
              </a:lnSpc>
              <a:spcBef>
                <a:spcPts val="600"/>
              </a:spcBef>
              <a:spcAft>
                <a:spcPts val="0"/>
              </a:spcAft>
              <a:buClr>
                <a:schemeClr val="accent1"/>
              </a:buClr>
              <a:buSzPts val="1368"/>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15468" algn="l" rtl="0">
              <a:lnSpc>
                <a:spcPct val="100000"/>
              </a:lnSpc>
              <a:spcBef>
                <a:spcPts val="500"/>
              </a:spcBef>
              <a:spcAft>
                <a:spcPts val="0"/>
              </a:spcAft>
              <a:buClr>
                <a:schemeClr val="accent2"/>
              </a:buClr>
              <a:buSzPts val="136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15467" algn="l" rtl="0">
              <a:lnSpc>
                <a:spcPct val="100000"/>
              </a:lnSpc>
              <a:spcBef>
                <a:spcPts val="500"/>
              </a:spcBef>
              <a:spcAft>
                <a:spcPts val="0"/>
              </a:spcAft>
              <a:buClr>
                <a:srgbClr val="BABABA"/>
              </a:buClr>
              <a:buSzPts val="1368"/>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lnSpc>
                <a:spcPct val="100000"/>
              </a:lnSpc>
              <a:spcBef>
                <a:spcPts val="400"/>
              </a:spcBef>
              <a:spcAft>
                <a:spcPts val="0"/>
              </a:spcAft>
              <a:buClr>
                <a:srgbClr val="8BA1B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308610" algn="l" rtl="0">
              <a:lnSpc>
                <a:spcPct val="100000"/>
              </a:lnSpc>
              <a:spcBef>
                <a:spcPts val="300"/>
              </a:spcBef>
              <a:spcAft>
                <a:spcPts val="0"/>
              </a:spcAft>
              <a:buClr>
                <a:schemeClr val="accent2"/>
              </a:buClr>
              <a:buSzPts val="126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14325" algn="l" rtl="0">
              <a:lnSpc>
                <a:spcPct val="100000"/>
              </a:lnSpc>
              <a:spcBef>
                <a:spcPts val="300"/>
              </a:spcBef>
              <a:spcAft>
                <a:spcPts val="0"/>
              </a:spcAft>
              <a:buClr>
                <a:srgbClr val="8BA1B3"/>
              </a:buClr>
              <a:buSzPts val="135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314325" algn="l" rtl="0">
              <a:lnSpc>
                <a:spcPct val="100000"/>
              </a:lnSpc>
              <a:spcBef>
                <a:spcPts val="300"/>
              </a:spcBef>
              <a:spcAft>
                <a:spcPts val="0"/>
              </a:spcAft>
              <a:buClr>
                <a:srgbClr val="646C8F"/>
              </a:buClr>
              <a:buSzPts val="13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314325" algn="l" rtl="0">
              <a:lnSpc>
                <a:spcPct val="100000"/>
              </a:lnSpc>
              <a:spcBef>
                <a:spcPts val="300"/>
              </a:spcBef>
              <a:spcAft>
                <a:spcPts val="0"/>
              </a:spcAft>
              <a:buClr>
                <a:srgbClr val="BABABA"/>
              </a:buClr>
              <a:buSzPts val="13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314325" algn="l" rtl="0">
              <a:lnSpc>
                <a:spcPct val="100000"/>
              </a:lnSpc>
              <a:spcBef>
                <a:spcPts val="300"/>
              </a:spcBef>
              <a:spcAft>
                <a:spcPts val="0"/>
              </a:spcAft>
              <a:buClr>
                <a:srgbClr val="9FB8CD"/>
              </a:buClr>
              <a:buSzPts val="1350"/>
              <a:buFont typeface="Noto Sans Symbols"/>
              <a:buChar char="🞂"/>
              <a:defRPr sz="1200" b="0" i="0" u="none" strike="noStrike" cap="none">
                <a:solidFill>
                  <a:schemeClr val="dk1"/>
                </a:solidFill>
                <a:latin typeface="Gill Sans"/>
                <a:ea typeface="Gill Sans"/>
                <a:cs typeface="Gill Sans"/>
                <a:sym typeface="Gill Sans"/>
              </a:defRPr>
            </a:lvl9pPr>
          </a:lstStyle>
          <a:p>
            <a:pPr indent="-457200" algn="just">
              <a:lnSpc>
                <a:spcPct val="150000"/>
              </a:lnSpc>
              <a:buClr>
                <a:schemeClr val="accent4">
                  <a:lumMod val="75000"/>
                </a:schemeClr>
              </a:buClr>
              <a:buSzPts val="1976"/>
              <a:buFont typeface="Wingdings" panose="05000000000000000000" pitchFamily="2" charset="2"/>
              <a:buChar char="q"/>
            </a:pPr>
            <a:r>
              <a:rPr lang="en-US" sz="2000" b="1" dirty="0"/>
              <a:t>Rendering:</a:t>
            </a:r>
          </a:p>
          <a:p>
            <a:pPr marL="0" indent="0" algn="just">
              <a:lnSpc>
                <a:spcPct val="150000"/>
              </a:lnSpc>
              <a:buClr>
                <a:schemeClr val="accent4">
                  <a:lumMod val="75000"/>
                </a:schemeClr>
              </a:buClr>
              <a:buSzPts val="1976"/>
              <a:buFont typeface="Noto Sans Symbols"/>
              <a:buNone/>
            </a:pPr>
            <a:endParaRPr lang="en-US" sz="2000" b="1" dirty="0"/>
          </a:p>
        </p:txBody>
      </p:sp>
      <p:pic>
        <p:nvPicPr>
          <p:cNvPr id="11" name="Picture 10">
            <a:extLst>
              <a:ext uri="{FF2B5EF4-FFF2-40B4-BE49-F238E27FC236}">
                <a16:creationId xmlns:a16="http://schemas.microsoft.com/office/drawing/2014/main" id="{1C1F5884-A169-C4DB-CD40-CE2749EBC565}"/>
              </a:ext>
            </a:extLst>
          </p:cNvPr>
          <p:cNvPicPr>
            <a:picLocks noChangeAspect="1"/>
          </p:cNvPicPr>
          <p:nvPr/>
        </p:nvPicPr>
        <p:blipFill>
          <a:blip r:embed="rId5"/>
          <a:stretch>
            <a:fillRect/>
          </a:stretch>
        </p:blipFill>
        <p:spPr>
          <a:xfrm>
            <a:off x="6185624" y="1895550"/>
            <a:ext cx="2700467" cy="938503"/>
          </a:xfrm>
          <a:prstGeom prst="rect">
            <a:avLst/>
          </a:prstGeom>
        </p:spPr>
      </p:pic>
    </p:spTree>
    <p:extLst>
      <p:ext uri="{BB962C8B-B14F-4D97-AF65-F5344CB8AC3E}">
        <p14:creationId xmlns:p14="http://schemas.microsoft.com/office/powerpoint/2010/main" val="1238948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A34DA155-682B-6458-9AAB-3E8B19744FD6}"/>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6EA9D752-8745-84D7-FA36-5C73A03693A8}"/>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dirty="0"/>
              <a:t>Structure of a Three.js app</a:t>
            </a:r>
            <a:endParaRPr dirty="0"/>
          </a:p>
        </p:txBody>
      </p:sp>
      <p:sp>
        <p:nvSpPr>
          <p:cNvPr id="138" name="Google Shape;138;p3">
            <a:extLst>
              <a:ext uri="{FF2B5EF4-FFF2-40B4-BE49-F238E27FC236}">
                <a16:creationId xmlns:a16="http://schemas.microsoft.com/office/drawing/2014/main" id="{8EAF8A50-D4EE-3E0D-B76C-301F0E0E08A0}"/>
              </a:ext>
            </a:extLst>
          </p:cNvPr>
          <p:cNvSpPr txBox="1">
            <a:spLocks noGrp="1"/>
          </p:cNvSpPr>
          <p:nvPr>
            <p:ph type="body" idx="1"/>
          </p:nvPr>
        </p:nvSpPr>
        <p:spPr>
          <a:xfrm>
            <a:off x="457200" y="1219200"/>
            <a:ext cx="6459415" cy="592015"/>
          </a:xfrm>
          <a:prstGeom prst="rect">
            <a:avLst/>
          </a:prstGeom>
          <a:noFill/>
          <a:ln>
            <a:noFill/>
          </a:ln>
        </p:spPr>
        <p:txBody>
          <a:bodyPr spcFirstLastPara="1" wrap="square" lIns="91425" tIns="45700" rIns="91425" bIns="45700" anchor="t" anchorCtr="0">
            <a:normAutofit fontScale="92500"/>
          </a:bodyPr>
          <a:lstStyle/>
          <a:p>
            <a:pPr lvl="0" indent="-457200" algn="just" rtl="0">
              <a:lnSpc>
                <a:spcPct val="130000"/>
              </a:lnSpc>
              <a:spcAft>
                <a:spcPts val="0"/>
              </a:spcAft>
              <a:buClr>
                <a:schemeClr val="accent4">
                  <a:lumMod val="75000"/>
                </a:schemeClr>
              </a:buClr>
              <a:buSzPts val="1976"/>
              <a:buFont typeface="Wingdings" panose="05000000000000000000" pitchFamily="2" charset="2"/>
              <a:buChar char="q"/>
            </a:pPr>
            <a:r>
              <a:rPr lang="en-US" sz="2000" dirty="0"/>
              <a:t>Here is a diagram that represents a </a:t>
            </a:r>
            <a:r>
              <a:rPr lang="en-US" sz="2000" b="1" dirty="0"/>
              <a:t>small three.js app:</a:t>
            </a:r>
            <a:endParaRPr lang="en-US" sz="2000" dirty="0"/>
          </a:p>
        </p:txBody>
      </p:sp>
      <p:sp>
        <p:nvSpPr>
          <p:cNvPr id="3" name="Slide Number Placeholder 2">
            <a:extLst>
              <a:ext uri="{FF2B5EF4-FFF2-40B4-BE49-F238E27FC236}">
                <a16:creationId xmlns:a16="http://schemas.microsoft.com/office/drawing/2014/main" id="{DCC86340-7733-3D13-FF52-495052B5A848}"/>
              </a:ext>
            </a:extLst>
          </p:cNvPr>
          <p:cNvSpPr>
            <a:spLocks noGrp="1"/>
          </p:cNvSpPr>
          <p:nvPr>
            <p:ph type="sldNum" idx="12"/>
          </p:nvPr>
        </p:nvSpPr>
        <p:spPr/>
        <p:txBody>
          <a:bodyPr/>
          <a:lstStyle/>
          <a:p>
            <a:pPr marL="0" lvl="0" indent="0" algn="r" rtl="0">
              <a:spcBef>
                <a:spcPts val="0"/>
              </a:spcBef>
              <a:spcAft>
                <a:spcPts val="0"/>
              </a:spcAft>
              <a:buNone/>
            </a:pPr>
            <a:r>
              <a:rPr lang="en-US" dirty="0"/>
              <a:t>4</a:t>
            </a:r>
          </a:p>
        </p:txBody>
      </p:sp>
      <p:sp>
        <p:nvSpPr>
          <p:cNvPr id="4" name="AutoShape 4">
            <a:extLst>
              <a:ext uri="{FF2B5EF4-FFF2-40B4-BE49-F238E27FC236}">
                <a16:creationId xmlns:a16="http://schemas.microsoft.com/office/drawing/2014/main" id="{882087C9-D99E-C848-CF97-2A71D40DC925}"/>
              </a:ext>
            </a:extLst>
          </p:cNvPr>
          <p:cNvSpPr>
            <a:spLocks noChangeAspect="1" noChangeArrowheads="1"/>
          </p:cNvSpPr>
          <p:nvPr/>
        </p:nvSpPr>
        <p:spPr bwMode="auto">
          <a:xfrm>
            <a:off x="4419599" y="3276599"/>
            <a:ext cx="2497015" cy="249701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8">
            <a:extLst>
              <a:ext uri="{FF2B5EF4-FFF2-40B4-BE49-F238E27FC236}">
                <a16:creationId xmlns:a16="http://schemas.microsoft.com/office/drawing/2014/main" id="{8ACD2EB8-2159-DFD2-3ABF-45973B7895BE}"/>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5CEA6011-A2FD-27AB-4198-60B769D8B52A}"/>
              </a:ext>
            </a:extLst>
          </p:cNvPr>
          <p:cNvPicPr>
            <a:picLocks noChangeAspect="1"/>
          </p:cNvPicPr>
          <p:nvPr/>
        </p:nvPicPr>
        <p:blipFill>
          <a:blip r:embed="rId3"/>
          <a:stretch>
            <a:fillRect/>
          </a:stretch>
        </p:blipFill>
        <p:spPr>
          <a:xfrm>
            <a:off x="1745043" y="1811215"/>
            <a:ext cx="5653914" cy="4058703"/>
          </a:xfrm>
          <a:prstGeom prst="rect">
            <a:avLst/>
          </a:prstGeom>
        </p:spPr>
      </p:pic>
    </p:spTree>
    <p:extLst>
      <p:ext uri="{BB962C8B-B14F-4D97-AF65-F5344CB8AC3E}">
        <p14:creationId xmlns:p14="http://schemas.microsoft.com/office/powerpoint/2010/main" val="3473373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28BE6710-A606-704A-C069-017AD01795A9}"/>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5F1E9084-D41E-A43A-FF3B-B5DA02DD6A98}"/>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dirty="0"/>
              <a:t>Structure of a Three.js app</a:t>
            </a:r>
            <a:endParaRPr dirty="0"/>
          </a:p>
        </p:txBody>
      </p:sp>
      <p:sp>
        <p:nvSpPr>
          <p:cNvPr id="138" name="Google Shape;138;p3">
            <a:extLst>
              <a:ext uri="{FF2B5EF4-FFF2-40B4-BE49-F238E27FC236}">
                <a16:creationId xmlns:a16="http://schemas.microsoft.com/office/drawing/2014/main" id="{D4106201-1266-17BB-808B-4ABDA35DF7E9}"/>
              </a:ext>
            </a:extLst>
          </p:cNvPr>
          <p:cNvSpPr txBox="1">
            <a:spLocks noGrp="1"/>
          </p:cNvSpPr>
          <p:nvPr>
            <p:ph type="body" idx="1"/>
          </p:nvPr>
        </p:nvSpPr>
        <p:spPr>
          <a:xfrm>
            <a:off x="457200" y="1219200"/>
            <a:ext cx="6459415" cy="592015"/>
          </a:xfrm>
          <a:prstGeom prst="rect">
            <a:avLst/>
          </a:prstGeom>
          <a:noFill/>
          <a:ln>
            <a:noFill/>
          </a:ln>
        </p:spPr>
        <p:txBody>
          <a:bodyPr spcFirstLastPara="1" wrap="square" lIns="91425" tIns="45700" rIns="91425" bIns="45700" anchor="t" anchorCtr="0">
            <a:normAutofit/>
          </a:bodyPr>
          <a:lstStyle/>
          <a:p>
            <a:pPr lvl="0" indent="-457200" algn="just" rtl="0">
              <a:lnSpc>
                <a:spcPct val="130000"/>
              </a:lnSpc>
              <a:spcAft>
                <a:spcPts val="0"/>
              </a:spcAft>
              <a:buClr>
                <a:schemeClr val="accent4">
                  <a:lumMod val="75000"/>
                </a:schemeClr>
              </a:buClr>
              <a:buSzPts val="1976"/>
              <a:buFont typeface="Wingdings" panose="05000000000000000000" pitchFamily="2" charset="2"/>
              <a:buChar char="q"/>
            </a:pPr>
            <a:r>
              <a:rPr lang="en-US" sz="2000" dirty="0"/>
              <a:t>The</a:t>
            </a:r>
            <a:r>
              <a:rPr lang="en-US" sz="2000" b="1" dirty="0"/>
              <a:t> “Hello Cube” </a:t>
            </a:r>
            <a:r>
              <a:rPr lang="en-US" sz="2000" dirty="0"/>
              <a:t>setup looks like this</a:t>
            </a:r>
            <a:r>
              <a:rPr lang="en-US" sz="2000" b="1" dirty="0"/>
              <a:t>:</a:t>
            </a:r>
            <a:endParaRPr lang="en-US" sz="2000" dirty="0"/>
          </a:p>
        </p:txBody>
      </p:sp>
      <p:sp>
        <p:nvSpPr>
          <p:cNvPr id="3" name="Slide Number Placeholder 2">
            <a:extLst>
              <a:ext uri="{FF2B5EF4-FFF2-40B4-BE49-F238E27FC236}">
                <a16:creationId xmlns:a16="http://schemas.microsoft.com/office/drawing/2014/main" id="{0DC99F15-42D1-A81E-6AC8-FC30002E71D5}"/>
              </a:ext>
            </a:extLst>
          </p:cNvPr>
          <p:cNvSpPr>
            <a:spLocks noGrp="1"/>
          </p:cNvSpPr>
          <p:nvPr>
            <p:ph type="sldNum" idx="12"/>
          </p:nvPr>
        </p:nvSpPr>
        <p:spPr/>
        <p:txBody>
          <a:bodyPr/>
          <a:lstStyle/>
          <a:p>
            <a:pPr marL="0" lvl="0" indent="0" algn="r" rtl="0">
              <a:spcBef>
                <a:spcPts val="0"/>
              </a:spcBef>
              <a:spcAft>
                <a:spcPts val="0"/>
              </a:spcAft>
              <a:buNone/>
            </a:pPr>
            <a:r>
              <a:rPr lang="en-US" dirty="0"/>
              <a:t>4</a:t>
            </a:r>
          </a:p>
        </p:txBody>
      </p:sp>
      <p:sp>
        <p:nvSpPr>
          <p:cNvPr id="4" name="AutoShape 4">
            <a:extLst>
              <a:ext uri="{FF2B5EF4-FFF2-40B4-BE49-F238E27FC236}">
                <a16:creationId xmlns:a16="http://schemas.microsoft.com/office/drawing/2014/main" id="{A3F3A444-8A06-9203-494C-51295FC729CA}"/>
              </a:ext>
            </a:extLst>
          </p:cNvPr>
          <p:cNvSpPr>
            <a:spLocks noChangeAspect="1" noChangeArrowheads="1"/>
          </p:cNvSpPr>
          <p:nvPr/>
        </p:nvSpPr>
        <p:spPr bwMode="auto">
          <a:xfrm>
            <a:off x="4419599" y="3276599"/>
            <a:ext cx="2497015" cy="249701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8">
            <a:extLst>
              <a:ext uri="{FF2B5EF4-FFF2-40B4-BE49-F238E27FC236}">
                <a16:creationId xmlns:a16="http://schemas.microsoft.com/office/drawing/2014/main" id="{1C1E5066-5E24-95D0-9E30-FC74A9F945E0}"/>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B7835DE8-CF5B-CE61-4376-4433A77A9878}"/>
              </a:ext>
            </a:extLst>
          </p:cNvPr>
          <p:cNvPicPr>
            <a:picLocks noChangeAspect="1"/>
          </p:cNvPicPr>
          <p:nvPr/>
        </p:nvPicPr>
        <p:blipFill>
          <a:blip r:embed="rId3"/>
          <a:stretch>
            <a:fillRect/>
          </a:stretch>
        </p:blipFill>
        <p:spPr>
          <a:xfrm>
            <a:off x="599440" y="1833209"/>
            <a:ext cx="4734560" cy="3062619"/>
          </a:xfrm>
          <a:prstGeom prst="rect">
            <a:avLst/>
          </a:prstGeom>
        </p:spPr>
      </p:pic>
      <p:pic>
        <p:nvPicPr>
          <p:cNvPr id="10" name="Picture 9">
            <a:extLst>
              <a:ext uri="{FF2B5EF4-FFF2-40B4-BE49-F238E27FC236}">
                <a16:creationId xmlns:a16="http://schemas.microsoft.com/office/drawing/2014/main" id="{2915A63E-B34E-415C-C676-55AC3833EB6E}"/>
              </a:ext>
            </a:extLst>
          </p:cNvPr>
          <p:cNvPicPr>
            <a:picLocks noChangeAspect="1"/>
          </p:cNvPicPr>
          <p:nvPr/>
        </p:nvPicPr>
        <p:blipFill>
          <a:blip r:embed="rId4"/>
          <a:stretch>
            <a:fillRect/>
          </a:stretch>
        </p:blipFill>
        <p:spPr>
          <a:xfrm>
            <a:off x="5899088" y="1298135"/>
            <a:ext cx="2505469" cy="2435665"/>
          </a:xfrm>
          <a:prstGeom prst="rect">
            <a:avLst/>
          </a:prstGeom>
        </p:spPr>
      </p:pic>
      <p:pic>
        <p:nvPicPr>
          <p:cNvPr id="12" name="Picture 11">
            <a:extLst>
              <a:ext uri="{FF2B5EF4-FFF2-40B4-BE49-F238E27FC236}">
                <a16:creationId xmlns:a16="http://schemas.microsoft.com/office/drawing/2014/main" id="{82BE7F6F-778A-F92F-D2AA-4244C80F3FC3}"/>
              </a:ext>
            </a:extLst>
          </p:cNvPr>
          <p:cNvPicPr>
            <a:picLocks noChangeAspect="1"/>
          </p:cNvPicPr>
          <p:nvPr/>
        </p:nvPicPr>
        <p:blipFill>
          <a:blip r:embed="rId5"/>
          <a:stretch>
            <a:fillRect/>
          </a:stretch>
        </p:blipFill>
        <p:spPr>
          <a:xfrm>
            <a:off x="5551545" y="3733800"/>
            <a:ext cx="3200554" cy="2535560"/>
          </a:xfrm>
          <a:prstGeom prst="rect">
            <a:avLst/>
          </a:prstGeom>
        </p:spPr>
      </p:pic>
    </p:spTree>
    <p:extLst>
      <p:ext uri="{BB962C8B-B14F-4D97-AF65-F5344CB8AC3E}">
        <p14:creationId xmlns:p14="http://schemas.microsoft.com/office/powerpoint/2010/main" val="1072454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4">
          <a:extLst>
            <a:ext uri="{FF2B5EF4-FFF2-40B4-BE49-F238E27FC236}">
              <a16:creationId xmlns:a16="http://schemas.microsoft.com/office/drawing/2014/main" id="{7065FD35-E86A-5FD5-06D1-1F1C4EE73A58}"/>
            </a:ext>
          </a:extLst>
        </p:cNvPr>
        <p:cNvGrpSpPr/>
        <p:nvPr/>
      </p:nvGrpSpPr>
      <p:grpSpPr>
        <a:xfrm>
          <a:off x="0" y="0"/>
          <a:ext cx="0" cy="0"/>
          <a:chOff x="0" y="0"/>
          <a:chExt cx="0" cy="0"/>
        </a:xfrm>
      </p:grpSpPr>
      <p:sp>
        <p:nvSpPr>
          <p:cNvPr id="125" name="Google Shape;125;p2">
            <a:extLst>
              <a:ext uri="{FF2B5EF4-FFF2-40B4-BE49-F238E27FC236}">
                <a16:creationId xmlns:a16="http://schemas.microsoft.com/office/drawing/2014/main" id="{888B1380-106D-6975-2288-4CA700F15FE5}"/>
              </a:ext>
            </a:extLst>
          </p:cNvPr>
          <p:cNvSpPr txBox="1">
            <a:spLocks noGrp="1"/>
          </p:cNvSpPr>
          <p:nvPr>
            <p:ph type="title"/>
          </p:nvPr>
        </p:nvSpPr>
        <p:spPr>
          <a:xfrm>
            <a:off x="1219200" y="2971800"/>
            <a:ext cx="6858000" cy="1066800"/>
          </a:xfrm>
          <a:prstGeom prst="rect">
            <a:avLst/>
          </a:prstGeom>
          <a:noFill/>
          <a:ln>
            <a:noFill/>
          </a:ln>
        </p:spPr>
        <p:txBody>
          <a:bodyPr spcFirstLastPara="1" wrap="square" lIns="91425" tIns="45700" rIns="91425" bIns="45700" anchor="t" anchorCtr="0">
            <a:normAutofit/>
          </a:bodyPr>
          <a:lstStyle/>
          <a:p>
            <a:pPr marL="0" lvl="0" indent="0" algn="r" rtl="0">
              <a:spcBef>
                <a:spcPts val="0"/>
              </a:spcBef>
              <a:spcAft>
                <a:spcPts val="0"/>
              </a:spcAft>
              <a:buClr>
                <a:schemeClr val="dk2"/>
              </a:buClr>
              <a:buSzPts val="3200"/>
              <a:buFont typeface="Bookman Old Style"/>
              <a:buNone/>
            </a:pPr>
            <a:r>
              <a:rPr lang="en-US" dirty="0"/>
              <a:t>Primitives</a:t>
            </a:r>
            <a:endParaRPr dirty="0"/>
          </a:p>
        </p:txBody>
      </p:sp>
      <p:sp>
        <p:nvSpPr>
          <p:cNvPr id="126" name="Google Shape;126;p2">
            <a:extLst>
              <a:ext uri="{FF2B5EF4-FFF2-40B4-BE49-F238E27FC236}">
                <a16:creationId xmlns:a16="http://schemas.microsoft.com/office/drawing/2014/main" id="{79918B0D-05F7-92F4-7E62-FDBEEA155BF9}"/>
              </a:ext>
            </a:extLst>
          </p:cNvPr>
          <p:cNvSpPr txBox="1">
            <a:spLocks noGrp="1"/>
          </p:cNvSpPr>
          <p:nvPr>
            <p:ph type="body" idx="1"/>
          </p:nvPr>
        </p:nvSpPr>
        <p:spPr>
          <a:xfrm>
            <a:off x="1295400" y="4267200"/>
            <a:ext cx="6781800" cy="1143000"/>
          </a:xfrm>
          <a:prstGeom prst="rect">
            <a:avLst/>
          </a:prstGeom>
          <a:noFill/>
          <a:ln>
            <a:noFill/>
          </a:ln>
        </p:spPr>
        <p:txBody>
          <a:bodyPr spcFirstLastPara="1" wrap="square" lIns="91425" tIns="45700" rIns="91425" bIns="45700" anchor="t" anchorCtr="0">
            <a:normAutofit/>
          </a:bodyPr>
          <a:lstStyle/>
          <a:p>
            <a:pPr marL="0" lvl="0" indent="0" algn="r" rtl="0">
              <a:spcBef>
                <a:spcPts val="0"/>
              </a:spcBef>
              <a:spcAft>
                <a:spcPts val="0"/>
              </a:spcAft>
              <a:buSzPts val="1520"/>
              <a:buNone/>
            </a:pPr>
            <a:endParaRPr/>
          </a:p>
        </p:txBody>
      </p:sp>
      <p:sp>
        <p:nvSpPr>
          <p:cNvPr id="4" name="Slide Number Placeholder 3">
            <a:extLst>
              <a:ext uri="{FF2B5EF4-FFF2-40B4-BE49-F238E27FC236}">
                <a16:creationId xmlns:a16="http://schemas.microsoft.com/office/drawing/2014/main" id="{12F15D5C-24CE-371F-4CAA-0CA4AE30F53D}"/>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8</a:t>
            </a:fld>
            <a:endParaRPr lang="en-US"/>
          </a:p>
        </p:txBody>
      </p:sp>
    </p:spTree>
    <p:extLst>
      <p:ext uri="{BB962C8B-B14F-4D97-AF65-F5344CB8AC3E}">
        <p14:creationId xmlns:p14="http://schemas.microsoft.com/office/powerpoint/2010/main" val="32223520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5">
          <a:extLst>
            <a:ext uri="{FF2B5EF4-FFF2-40B4-BE49-F238E27FC236}">
              <a16:creationId xmlns:a16="http://schemas.microsoft.com/office/drawing/2014/main" id="{BEEFA3F2-BD5A-3DD6-D03F-C9BCE0816ECF}"/>
            </a:ext>
          </a:extLst>
        </p:cNvPr>
        <p:cNvGrpSpPr/>
        <p:nvPr/>
      </p:nvGrpSpPr>
      <p:grpSpPr>
        <a:xfrm>
          <a:off x="0" y="0"/>
          <a:ext cx="0" cy="0"/>
          <a:chOff x="0" y="0"/>
          <a:chExt cx="0" cy="0"/>
        </a:xfrm>
      </p:grpSpPr>
      <p:sp>
        <p:nvSpPr>
          <p:cNvPr id="146" name="Google Shape;146;p4">
            <a:extLst>
              <a:ext uri="{FF2B5EF4-FFF2-40B4-BE49-F238E27FC236}">
                <a16:creationId xmlns:a16="http://schemas.microsoft.com/office/drawing/2014/main" id="{B7C8CD70-088D-831A-6DE5-EF3205A5E5E9}"/>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lvl="0">
              <a:buSzPts val="3200"/>
            </a:pPr>
            <a:r>
              <a:rPr lang="en-US" dirty="0"/>
              <a:t>Creating a 3D object</a:t>
            </a:r>
            <a:endParaRPr dirty="0"/>
          </a:p>
        </p:txBody>
      </p:sp>
      <p:sp>
        <p:nvSpPr>
          <p:cNvPr id="149" name="Google Shape;149;p4">
            <a:extLst>
              <a:ext uri="{FF2B5EF4-FFF2-40B4-BE49-F238E27FC236}">
                <a16:creationId xmlns:a16="http://schemas.microsoft.com/office/drawing/2014/main" id="{87B2506C-E709-1104-EF79-AC62B6CB1154}"/>
              </a:ext>
            </a:extLst>
          </p:cNvPr>
          <p:cNvSpPr txBox="1">
            <a:spLocks noGrp="1"/>
          </p:cNvSpPr>
          <p:nvPr>
            <p:ph type="body" idx="1"/>
          </p:nvPr>
        </p:nvSpPr>
        <p:spPr>
          <a:xfrm>
            <a:off x="410307" y="1205132"/>
            <a:ext cx="8229600" cy="426686"/>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SzPts val="1976"/>
              <a:buNone/>
            </a:pPr>
            <a:r>
              <a:rPr lang="en-US" sz="2000" dirty="0"/>
              <a:t>Let’s take a look at how the cube was created!</a:t>
            </a:r>
            <a:endParaRPr sz="2000" dirty="0"/>
          </a:p>
        </p:txBody>
      </p:sp>
      <p:sp>
        <p:nvSpPr>
          <p:cNvPr id="167" name="Google Shape;149;p4">
            <a:extLst>
              <a:ext uri="{FF2B5EF4-FFF2-40B4-BE49-F238E27FC236}">
                <a16:creationId xmlns:a16="http://schemas.microsoft.com/office/drawing/2014/main" id="{E8D53CC9-BE3C-635F-0926-6CD2D4722E5A}"/>
              </a:ext>
            </a:extLst>
          </p:cNvPr>
          <p:cNvSpPr txBox="1">
            <a:spLocks/>
          </p:cNvSpPr>
          <p:nvPr/>
        </p:nvSpPr>
        <p:spPr>
          <a:xfrm>
            <a:off x="410307" y="3906215"/>
            <a:ext cx="8229600" cy="228122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15468" algn="l" rtl="0">
              <a:lnSpc>
                <a:spcPct val="100000"/>
              </a:lnSpc>
              <a:spcBef>
                <a:spcPts val="600"/>
              </a:spcBef>
              <a:spcAft>
                <a:spcPts val="0"/>
              </a:spcAft>
              <a:buClr>
                <a:schemeClr val="accent1"/>
              </a:buClr>
              <a:buSzPts val="1368"/>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15468" algn="l" rtl="0">
              <a:lnSpc>
                <a:spcPct val="100000"/>
              </a:lnSpc>
              <a:spcBef>
                <a:spcPts val="500"/>
              </a:spcBef>
              <a:spcAft>
                <a:spcPts val="0"/>
              </a:spcAft>
              <a:buClr>
                <a:schemeClr val="accent2"/>
              </a:buClr>
              <a:buSzPts val="136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15467" algn="l" rtl="0">
              <a:lnSpc>
                <a:spcPct val="100000"/>
              </a:lnSpc>
              <a:spcBef>
                <a:spcPts val="500"/>
              </a:spcBef>
              <a:spcAft>
                <a:spcPts val="0"/>
              </a:spcAft>
              <a:buClr>
                <a:srgbClr val="BABABA"/>
              </a:buClr>
              <a:buSzPts val="1368"/>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lnSpc>
                <a:spcPct val="100000"/>
              </a:lnSpc>
              <a:spcBef>
                <a:spcPts val="400"/>
              </a:spcBef>
              <a:spcAft>
                <a:spcPts val="0"/>
              </a:spcAft>
              <a:buClr>
                <a:srgbClr val="8BA1B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308610" algn="l" rtl="0">
              <a:lnSpc>
                <a:spcPct val="100000"/>
              </a:lnSpc>
              <a:spcBef>
                <a:spcPts val="300"/>
              </a:spcBef>
              <a:spcAft>
                <a:spcPts val="0"/>
              </a:spcAft>
              <a:buClr>
                <a:schemeClr val="accent2"/>
              </a:buClr>
              <a:buSzPts val="126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14325" algn="l" rtl="0">
              <a:lnSpc>
                <a:spcPct val="100000"/>
              </a:lnSpc>
              <a:spcBef>
                <a:spcPts val="300"/>
              </a:spcBef>
              <a:spcAft>
                <a:spcPts val="0"/>
              </a:spcAft>
              <a:buClr>
                <a:srgbClr val="8BA1B3"/>
              </a:buClr>
              <a:buSzPts val="135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314325" algn="l" rtl="0">
              <a:lnSpc>
                <a:spcPct val="100000"/>
              </a:lnSpc>
              <a:spcBef>
                <a:spcPts val="300"/>
              </a:spcBef>
              <a:spcAft>
                <a:spcPts val="0"/>
              </a:spcAft>
              <a:buClr>
                <a:srgbClr val="646C8F"/>
              </a:buClr>
              <a:buSzPts val="13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314325" algn="l" rtl="0">
              <a:lnSpc>
                <a:spcPct val="100000"/>
              </a:lnSpc>
              <a:spcBef>
                <a:spcPts val="300"/>
              </a:spcBef>
              <a:spcAft>
                <a:spcPts val="0"/>
              </a:spcAft>
              <a:buClr>
                <a:srgbClr val="BABABA"/>
              </a:buClr>
              <a:buSzPts val="13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314325" algn="l" rtl="0">
              <a:lnSpc>
                <a:spcPct val="100000"/>
              </a:lnSpc>
              <a:spcBef>
                <a:spcPts val="300"/>
              </a:spcBef>
              <a:spcAft>
                <a:spcPts val="0"/>
              </a:spcAft>
              <a:buClr>
                <a:srgbClr val="9FB8CD"/>
              </a:buClr>
              <a:buSzPts val="1350"/>
              <a:buFont typeface="Noto Sans Symbols"/>
              <a:buChar char="🞂"/>
              <a:defRPr sz="1200" b="0" i="0" u="none" strike="noStrike" cap="none">
                <a:solidFill>
                  <a:schemeClr val="dk1"/>
                </a:solidFill>
                <a:latin typeface="Gill Sans"/>
                <a:ea typeface="Gill Sans"/>
                <a:cs typeface="Gill Sans"/>
                <a:sym typeface="Gill Sans"/>
              </a:defRPr>
            </a:lvl9pPr>
          </a:lstStyle>
          <a:p>
            <a:pPr marL="0" indent="0" algn="just">
              <a:spcBef>
                <a:spcPts val="0"/>
              </a:spcBef>
              <a:buSzPts val="1976"/>
              <a:buFont typeface="Noto Sans Symbols"/>
              <a:buNone/>
            </a:pPr>
            <a:r>
              <a:rPr lang="en-US" sz="2000" dirty="0"/>
              <a:t>To create a basic 3D object, we need a mesh. In three.js a mesh represents the combination of three things:</a:t>
            </a:r>
          </a:p>
          <a:p>
            <a:pPr indent="-457200" algn="just">
              <a:spcBef>
                <a:spcPts val="0"/>
              </a:spcBef>
              <a:buSzPts val="1976"/>
              <a:buFont typeface="+mj-lt"/>
              <a:buAutoNum type="arabicPeriod"/>
            </a:pPr>
            <a:r>
              <a:rPr lang="en-US" sz="2000" dirty="0"/>
              <a:t>A geometry (the shape of the object)</a:t>
            </a:r>
          </a:p>
          <a:p>
            <a:pPr indent="-457200" algn="just">
              <a:spcBef>
                <a:spcPts val="0"/>
              </a:spcBef>
              <a:buSzPts val="1976"/>
              <a:buFont typeface="+mj-lt"/>
              <a:buAutoNum type="arabicPeriod"/>
            </a:pPr>
            <a:r>
              <a:rPr lang="en-US" sz="2000" dirty="0"/>
              <a:t>A material (how to draw the object, what color, texture, etc.)</a:t>
            </a:r>
          </a:p>
          <a:p>
            <a:pPr indent="-457200" algn="just">
              <a:spcBef>
                <a:spcPts val="0"/>
              </a:spcBef>
              <a:buSzPts val="1976"/>
              <a:buFont typeface="+mj-lt"/>
              <a:buAutoNum type="arabicPeriod"/>
            </a:pPr>
            <a:r>
              <a:rPr lang="en-US" sz="2000" dirty="0"/>
              <a:t>The position, orientation, and scale of that object in the scene relative to its parent.</a:t>
            </a:r>
          </a:p>
          <a:p>
            <a:pPr marL="0" indent="0" algn="just">
              <a:spcBef>
                <a:spcPts val="0"/>
              </a:spcBef>
              <a:buSzPts val="1976"/>
              <a:buNone/>
            </a:pPr>
            <a:r>
              <a:rPr lang="en-US" sz="2000" b="1" dirty="0"/>
              <a:t>Note: </a:t>
            </a:r>
            <a:r>
              <a:rPr lang="en-US" sz="2000" dirty="0"/>
              <a:t>In the previous example, that parent is the scene.</a:t>
            </a:r>
          </a:p>
        </p:txBody>
      </p:sp>
      <p:sp>
        <p:nvSpPr>
          <p:cNvPr id="9" name="Slide Number Placeholder 8">
            <a:extLst>
              <a:ext uri="{FF2B5EF4-FFF2-40B4-BE49-F238E27FC236}">
                <a16:creationId xmlns:a16="http://schemas.microsoft.com/office/drawing/2014/main" id="{11B3514C-A5AF-574D-30FE-127A4049BD36}"/>
              </a:ext>
            </a:extLst>
          </p:cNvPr>
          <p:cNvSpPr>
            <a:spLocks noGrp="1"/>
          </p:cNvSpPr>
          <p:nvPr>
            <p:ph type="sldNum" idx="12"/>
          </p:nvPr>
        </p:nvSpPr>
        <p:spPr/>
        <p:txBody>
          <a:bodyPr/>
          <a:lstStyle/>
          <a:p>
            <a:pPr marL="0" lvl="0" indent="0" algn="r" rtl="0">
              <a:spcBef>
                <a:spcPts val="0"/>
              </a:spcBef>
              <a:spcAft>
                <a:spcPts val="0"/>
              </a:spcAft>
              <a:buNone/>
            </a:pPr>
            <a:r>
              <a:rPr lang="en-US" dirty="0"/>
              <a:t>5</a:t>
            </a:r>
          </a:p>
        </p:txBody>
      </p:sp>
      <p:pic>
        <p:nvPicPr>
          <p:cNvPr id="8" name="Picture 7">
            <a:extLst>
              <a:ext uri="{FF2B5EF4-FFF2-40B4-BE49-F238E27FC236}">
                <a16:creationId xmlns:a16="http://schemas.microsoft.com/office/drawing/2014/main" id="{A0A4BEB1-9A58-1D12-3DE1-59BA88BB2ECC}"/>
              </a:ext>
            </a:extLst>
          </p:cNvPr>
          <p:cNvPicPr>
            <a:picLocks noChangeAspect="1"/>
          </p:cNvPicPr>
          <p:nvPr/>
        </p:nvPicPr>
        <p:blipFill>
          <a:blip r:embed="rId3"/>
          <a:srcRect l="3911" t="6970" r="21925" b="12049"/>
          <a:stretch>
            <a:fillRect/>
          </a:stretch>
        </p:blipFill>
        <p:spPr>
          <a:xfrm>
            <a:off x="492804" y="1631818"/>
            <a:ext cx="8240889" cy="2084364"/>
          </a:xfrm>
          <a:prstGeom prst="rect">
            <a:avLst/>
          </a:prstGeom>
        </p:spPr>
      </p:pic>
    </p:spTree>
    <p:extLst>
      <p:ext uri="{BB962C8B-B14F-4D97-AF65-F5344CB8AC3E}">
        <p14:creationId xmlns:p14="http://schemas.microsoft.com/office/powerpoint/2010/main" val="29160898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5">
          <a:extLst>
            <a:ext uri="{FF2B5EF4-FFF2-40B4-BE49-F238E27FC236}">
              <a16:creationId xmlns:a16="http://schemas.microsoft.com/office/drawing/2014/main" id="{B0E5E08B-94BE-4F1F-47DA-F58E012F2C19}"/>
            </a:ext>
          </a:extLst>
        </p:cNvPr>
        <p:cNvGrpSpPr/>
        <p:nvPr/>
      </p:nvGrpSpPr>
      <p:grpSpPr>
        <a:xfrm>
          <a:off x="0" y="0"/>
          <a:ext cx="0" cy="0"/>
          <a:chOff x="0" y="0"/>
          <a:chExt cx="0" cy="0"/>
        </a:xfrm>
      </p:grpSpPr>
      <p:sp>
        <p:nvSpPr>
          <p:cNvPr id="146" name="Google Shape;146;p4">
            <a:extLst>
              <a:ext uri="{FF2B5EF4-FFF2-40B4-BE49-F238E27FC236}">
                <a16:creationId xmlns:a16="http://schemas.microsoft.com/office/drawing/2014/main" id="{40C33FDF-5841-7FD7-D5B7-092DAA4D4317}"/>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lvl="0">
              <a:buSzPts val="3200"/>
            </a:pPr>
            <a:r>
              <a:rPr lang="en-US" dirty="0"/>
              <a:t>Some commonly used Primitives</a:t>
            </a:r>
            <a:endParaRPr dirty="0"/>
          </a:p>
        </p:txBody>
      </p:sp>
      <p:sp>
        <p:nvSpPr>
          <p:cNvPr id="9" name="Slide Number Placeholder 8">
            <a:extLst>
              <a:ext uri="{FF2B5EF4-FFF2-40B4-BE49-F238E27FC236}">
                <a16:creationId xmlns:a16="http://schemas.microsoft.com/office/drawing/2014/main" id="{BA7601B3-2B29-4C30-76AE-A62B3DBB145E}"/>
              </a:ext>
            </a:extLst>
          </p:cNvPr>
          <p:cNvSpPr>
            <a:spLocks noGrp="1"/>
          </p:cNvSpPr>
          <p:nvPr>
            <p:ph type="sldNum" idx="12"/>
          </p:nvPr>
        </p:nvSpPr>
        <p:spPr/>
        <p:txBody>
          <a:bodyPr/>
          <a:lstStyle/>
          <a:p>
            <a:pPr marL="0" lvl="0" indent="0" algn="r" rtl="0">
              <a:spcBef>
                <a:spcPts val="0"/>
              </a:spcBef>
              <a:spcAft>
                <a:spcPts val="0"/>
              </a:spcAft>
              <a:buNone/>
            </a:pPr>
            <a:r>
              <a:rPr lang="en-US" dirty="0"/>
              <a:t>5</a:t>
            </a:r>
          </a:p>
        </p:txBody>
      </p:sp>
      <p:pic>
        <p:nvPicPr>
          <p:cNvPr id="5" name="Picture 4">
            <a:extLst>
              <a:ext uri="{FF2B5EF4-FFF2-40B4-BE49-F238E27FC236}">
                <a16:creationId xmlns:a16="http://schemas.microsoft.com/office/drawing/2014/main" id="{E3FD0FB1-BED3-93CC-3F2C-502DB0A18246}"/>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rcRect l="14531" t="10185" r="18626" b="11095"/>
          <a:stretch>
            <a:fillRect/>
          </a:stretch>
        </p:blipFill>
        <p:spPr>
          <a:xfrm>
            <a:off x="457200" y="1330960"/>
            <a:ext cx="2403548" cy="2259858"/>
          </a:xfrm>
          <a:prstGeom prst="rect">
            <a:avLst/>
          </a:prstGeom>
        </p:spPr>
      </p:pic>
      <p:pic>
        <p:nvPicPr>
          <p:cNvPr id="7" name="Picture 6">
            <a:extLst>
              <a:ext uri="{FF2B5EF4-FFF2-40B4-BE49-F238E27FC236}">
                <a16:creationId xmlns:a16="http://schemas.microsoft.com/office/drawing/2014/main" id="{ACAD7675-1BFF-ED97-B407-8BAA808D9700}"/>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9901" b="89604" l="8898" r="92373">
                        <a14:foregroundMark x1="89407" y1="65347" x2="92373" y2="69802"/>
                        <a14:foregroundMark x1="10169" y1="75743" x2="8898" y2="76238"/>
                      </a14:backgroundRemoval>
                    </a14:imgEffect>
                  </a14:imgLayer>
                </a14:imgProps>
              </a:ext>
            </a:extLst>
          </a:blip>
          <a:stretch>
            <a:fillRect/>
          </a:stretch>
        </p:blipFill>
        <p:spPr>
          <a:xfrm>
            <a:off x="3252173" y="3680890"/>
            <a:ext cx="2487426" cy="2129067"/>
          </a:xfrm>
          <a:prstGeom prst="rect">
            <a:avLst/>
          </a:prstGeom>
        </p:spPr>
      </p:pic>
      <p:pic>
        <p:nvPicPr>
          <p:cNvPr id="11" name="Picture 10">
            <a:extLst>
              <a:ext uri="{FF2B5EF4-FFF2-40B4-BE49-F238E27FC236}">
                <a16:creationId xmlns:a16="http://schemas.microsoft.com/office/drawing/2014/main" id="{79D547AF-609B-2CFB-E8E6-ECF91416D2C5}"/>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7143" b="90659" l="10000" r="90000">
                        <a14:foregroundMark x1="43182" y1="7692" x2="55909" y2="7692"/>
                        <a14:foregroundMark x1="40000" y1="87912" x2="53182" y2="87912"/>
                        <a14:foregroundMark x1="53182" y1="90659" x2="61818" y2="87363"/>
                        <a14:foregroundMark x1="62727" y1="85165" x2="56818" y2="89560"/>
                      </a14:backgroundRemoval>
                    </a14:imgEffect>
                  </a14:imgLayer>
                </a14:imgProps>
              </a:ext>
            </a:extLst>
          </a:blip>
          <a:stretch>
            <a:fillRect/>
          </a:stretch>
        </p:blipFill>
        <p:spPr>
          <a:xfrm>
            <a:off x="6131024" y="1440610"/>
            <a:ext cx="2403548" cy="1988390"/>
          </a:xfrm>
          <a:prstGeom prst="rect">
            <a:avLst/>
          </a:prstGeom>
        </p:spPr>
      </p:pic>
      <p:pic>
        <p:nvPicPr>
          <p:cNvPr id="13" name="Picture 12">
            <a:extLst>
              <a:ext uri="{FF2B5EF4-FFF2-40B4-BE49-F238E27FC236}">
                <a16:creationId xmlns:a16="http://schemas.microsoft.com/office/drawing/2014/main" id="{96949B9C-023E-5174-B9C3-07E3C406724F}"/>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9386" b="89892" l="9797" r="89865">
                        <a14:foregroundMark x1="46284" y1="9386" x2="52703" y2="9747"/>
                        <a14:foregroundMark x1="85135" y1="60289" x2="82770" y2="63899"/>
                      </a14:backgroundRemoval>
                    </a14:imgEffect>
                  </a14:imgLayer>
                </a14:imgProps>
              </a:ext>
            </a:extLst>
          </a:blip>
          <a:stretch>
            <a:fillRect/>
          </a:stretch>
        </p:blipFill>
        <p:spPr>
          <a:xfrm>
            <a:off x="3368028" y="1440610"/>
            <a:ext cx="2255715" cy="2110923"/>
          </a:xfrm>
          <a:prstGeom prst="rect">
            <a:avLst/>
          </a:prstGeom>
        </p:spPr>
      </p:pic>
      <p:pic>
        <p:nvPicPr>
          <p:cNvPr id="15" name="Picture 14">
            <a:extLst>
              <a:ext uri="{FF2B5EF4-FFF2-40B4-BE49-F238E27FC236}">
                <a16:creationId xmlns:a16="http://schemas.microsoft.com/office/drawing/2014/main" id="{A4CD66E5-F18E-A9B0-F31C-151C31DC4830}"/>
              </a:ext>
            </a:extLst>
          </p:cNvPr>
          <p:cNvPicPr>
            <a:picLocks noChangeAspect="1"/>
          </p:cNvPicPr>
          <p:nvPr/>
        </p:nvPicPr>
        <p:blipFill>
          <a:blip r:embed="rId11">
            <a:extLst>
              <a:ext uri="{BEBA8EAE-BF5A-486C-A8C5-ECC9F3942E4B}">
                <a14:imgProps xmlns:a14="http://schemas.microsoft.com/office/drawing/2010/main">
                  <a14:imgLayer r:embed="rId12">
                    <a14:imgEffect>
                      <a14:backgroundRemoval t="4036" b="94170" l="9690" r="89535">
                        <a14:foregroundMark x1="47674" y1="7175" x2="55426" y2="8969"/>
                        <a14:foregroundMark x1="49612" y1="4484" x2="51550" y2="4484"/>
                        <a14:foregroundMark x1="10853" y1="40807" x2="10078" y2="52915"/>
                        <a14:foregroundMark x1="39147" y1="90135" x2="55814" y2="89686"/>
                        <a14:foregroundMark x1="56589" y1="91480" x2="65116" y2="87444"/>
                        <a14:foregroundMark x1="38760" y1="94170" x2="52713" y2="93274"/>
                        <a14:foregroundMark x1="34884" y1="91928" x2="41085" y2="93722"/>
                      </a14:backgroundRemoval>
                    </a14:imgEffect>
                  </a14:imgLayer>
                </a14:imgProps>
              </a:ext>
            </a:extLst>
          </a:blip>
          <a:stretch>
            <a:fillRect/>
          </a:stretch>
        </p:blipFill>
        <p:spPr>
          <a:xfrm>
            <a:off x="810020" y="3920416"/>
            <a:ext cx="2122155" cy="1834266"/>
          </a:xfrm>
          <a:prstGeom prst="rect">
            <a:avLst/>
          </a:prstGeom>
        </p:spPr>
      </p:pic>
      <p:pic>
        <p:nvPicPr>
          <p:cNvPr id="17" name="Picture 16">
            <a:extLst>
              <a:ext uri="{FF2B5EF4-FFF2-40B4-BE49-F238E27FC236}">
                <a16:creationId xmlns:a16="http://schemas.microsoft.com/office/drawing/2014/main" id="{AA042A1F-2844-023D-B991-F064BC34D81C}"/>
              </a:ext>
            </a:extLst>
          </p:cNvPr>
          <p:cNvPicPr>
            <a:picLocks noChangeAspect="1"/>
          </p:cNvPicPr>
          <p:nvPr/>
        </p:nvPicPr>
        <p:blipFill>
          <a:blip r:embed="rId13"/>
          <a:stretch>
            <a:fillRect/>
          </a:stretch>
        </p:blipFill>
        <p:spPr>
          <a:xfrm>
            <a:off x="6471663" y="3792397"/>
            <a:ext cx="1722269" cy="1760373"/>
          </a:xfrm>
          <a:prstGeom prst="rect">
            <a:avLst/>
          </a:prstGeom>
        </p:spPr>
      </p:pic>
    </p:spTree>
    <p:extLst>
      <p:ext uri="{BB962C8B-B14F-4D97-AF65-F5344CB8AC3E}">
        <p14:creationId xmlns:p14="http://schemas.microsoft.com/office/powerpoint/2010/main" val="34621227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5">
          <a:extLst>
            <a:ext uri="{FF2B5EF4-FFF2-40B4-BE49-F238E27FC236}">
              <a16:creationId xmlns:a16="http://schemas.microsoft.com/office/drawing/2014/main" id="{E3D8D186-7A43-0CAA-FA3C-37E870E8744D}"/>
            </a:ext>
          </a:extLst>
        </p:cNvPr>
        <p:cNvGrpSpPr/>
        <p:nvPr/>
      </p:nvGrpSpPr>
      <p:grpSpPr>
        <a:xfrm>
          <a:off x="0" y="0"/>
          <a:ext cx="0" cy="0"/>
          <a:chOff x="0" y="0"/>
          <a:chExt cx="0" cy="0"/>
        </a:xfrm>
      </p:grpSpPr>
      <p:sp>
        <p:nvSpPr>
          <p:cNvPr id="146" name="Google Shape;146;p4">
            <a:extLst>
              <a:ext uri="{FF2B5EF4-FFF2-40B4-BE49-F238E27FC236}">
                <a16:creationId xmlns:a16="http://schemas.microsoft.com/office/drawing/2014/main" id="{C95C2B98-536E-83EB-0336-C0DBDDDFD000}"/>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lvl="0">
              <a:buSzPts val="3200"/>
            </a:pPr>
            <a:r>
              <a:rPr lang="en-US" dirty="0"/>
              <a:t>Grouping &amp; Hierarchy</a:t>
            </a:r>
            <a:endParaRPr dirty="0"/>
          </a:p>
        </p:txBody>
      </p:sp>
      <p:sp>
        <p:nvSpPr>
          <p:cNvPr id="149" name="Google Shape;149;p4">
            <a:extLst>
              <a:ext uri="{FF2B5EF4-FFF2-40B4-BE49-F238E27FC236}">
                <a16:creationId xmlns:a16="http://schemas.microsoft.com/office/drawing/2014/main" id="{9C14793B-D9DE-E73B-4FF1-43DF94F4D5B5}"/>
              </a:ext>
            </a:extLst>
          </p:cNvPr>
          <p:cNvSpPr txBox="1">
            <a:spLocks noGrp="1"/>
          </p:cNvSpPr>
          <p:nvPr>
            <p:ph type="body" idx="1"/>
          </p:nvPr>
        </p:nvSpPr>
        <p:spPr>
          <a:xfrm>
            <a:off x="410307" y="1205131"/>
            <a:ext cx="8229600" cy="847843"/>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SzPts val="1976"/>
              <a:buNone/>
            </a:pPr>
            <a:r>
              <a:rPr lang="en-US" sz="2000" dirty="0"/>
              <a:t>This is almost identical to an </a:t>
            </a:r>
            <a:r>
              <a:rPr lang="en-US" sz="2000" b="1" dirty="0"/>
              <a:t>Object3D</a:t>
            </a:r>
            <a:r>
              <a:rPr lang="en-US" sz="2000" dirty="0"/>
              <a:t>. </a:t>
            </a:r>
          </a:p>
          <a:p>
            <a:pPr marL="0" lvl="0" indent="0" algn="just" rtl="0">
              <a:spcBef>
                <a:spcPts val="0"/>
              </a:spcBef>
              <a:spcAft>
                <a:spcPts val="0"/>
              </a:spcAft>
              <a:buSzPts val="1976"/>
              <a:buNone/>
            </a:pPr>
            <a:r>
              <a:rPr lang="en-US" sz="2000" dirty="0"/>
              <a:t>Its purpose is to make working with groups of objects syntactically clearer.</a:t>
            </a:r>
            <a:endParaRPr sz="2000" dirty="0"/>
          </a:p>
        </p:txBody>
      </p:sp>
      <p:sp>
        <p:nvSpPr>
          <p:cNvPr id="167" name="Google Shape;149;p4">
            <a:extLst>
              <a:ext uri="{FF2B5EF4-FFF2-40B4-BE49-F238E27FC236}">
                <a16:creationId xmlns:a16="http://schemas.microsoft.com/office/drawing/2014/main" id="{2D233288-20EB-4F80-846B-351910B43E3A}"/>
              </a:ext>
            </a:extLst>
          </p:cNvPr>
          <p:cNvSpPr txBox="1">
            <a:spLocks/>
          </p:cNvSpPr>
          <p:nvPr/>
        </p:nvSpPr>
        <p:spPr>
          <a:xfrm>
            <a:off x="457200" y="1986049"/>
            <a:ext cx="8229600" cy="2281225"/>
          </a:xfrm>
          <a:prstGeom prst="rect">
            <a:avLst/>
          </a:prstGeom>
          <a:noFill/>
          <a:ln>
            <a:noFill/>
          </a:ln>
        </p:spPr>
        <p:txBody>
          <a:bodyPr spcFirstLastPara="1" wrap="square" lIns="91425" tIns="45700" rIns="91425" bIns="45700" anchor="t" anchorCtr="0">
            <a:normAutofit fontScale="85000" lnSpcReduction="20000"/>
          </a:bodyPr>
          <a:lstStyle>
            <a:defPPr marR="0" lvl="0" algn="l" rtl="0">
              <a:lnSpc>
                <a:spcPct val="100000"/>
              </a:lnSpc>
              <a:spcBef>
                <a:spcPts val="0"/>
              </a:spcBef>
              <a:spcAft>
                <a:spcPts val="0"/>
              </a:spcAft>
            </a:defPPr>
            <a:lvl1pPr marL="457200" marR="0" lvl="0" indent="-315468" algn="l" rtl="0">
              <a:lnSpc>
                <a:spcPct val="100000"/>
              </a:lnSpc>
              <a:spcBef>
                <a:spcPts val="600"/>
              </a:spcBef>
              <a:spcAft>
                <a:spcPts val="0"/>
              </a:spcAft>
              <a:buClr>
                <a:schemeClr val="accent1"/>
              </a:buClr>
              <a:buSzPts val="1368"/>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15468" algn="l" rtl="0">
              <a:lnSpc>
                <a:spcPct val="100000"/>
              </a:lnSpc>
              <a:spcBef>
                <a:spcPts val="500"/>
              </a:spcBef>
              <a:spcAft>
                <a:spcPts val="0"/>
              </a:spcAft>
              <a:buClr>
                <a:schemeClr val="accent2"/>
              </a:buClr>
              <a:buSzPts val="136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15467" algn="l" rtl="0">
              <a:lnSpc>
                <a:spcPct val="100000"/>
              </a:lnSpc>
              <a:spcBef>
                <a:spcPts val="500"/>
              </a:spcBef>
              <a:spcAft>
                <a:spcPts val="0"/>
              </a:spcAft>
              <a:buClr>
                <a:srgbClr val="BABABA"/>
              </a:buClr>
              <a:buSzPts val="1368"/>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lnSpc>
                <a:spcPct val="100000"/>
              </a:lnSpc>
              <a:spcBef>
                <a:spcPts val="400"/>
              </a:spcBef>
              <a:spcAft>
                <a:spcPts val="0"/>
              </a:spcAft>
              <a:buClr>
                <a:srgbClr val="8BA1B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308610" algn="l" rtl="0">
              <a:lnSpc>
                <a:spcPct val="100000"/>
              </a:lnSpc>
              <a:spcBef>
                <a:spcPts val="300"/>
              </a:spcBef>
              <a:spcAft>
                <a:spcPts val="0"/>
              </a:spcAft>
              <a:buClr>
                <a:schemeClr val="accent2"/>
              </a:buClr>
              <a:buSzPts val="126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14325" algn="l" rtl="0">
              <a:lnSpc>
                <a:spcPct val="100000"/>
              </a:lnSpc>
              <a:spcBef>
                <a:spcPts val="300"/>
              </a:spcBef>
              <a:spcAft>
                <a:spcPts val="0"/>
              </a:spcAft>
              <a:buClr>
                <a:srgbClr val="8BA1B3"/>
              </a:buClr>
              <a:buSzPts val="135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314325" algn="l" rtl="0">
              <a:lnSpc>
                <a:spcPct val="100000"/>
              </a:lnSpc>
              <a:spcBef>
                <a:spcPts val="300"/>
              </a:spcBef>
              <a:spcAft>
                <a:spcPts val="0"/>
              </a:spcAft>
              <a:buClr>
                <a:srgbClr val="646C8F"/>
              </a:buClr>
              <a:buSzPts val="13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314325" algn="l" rtl="0">
              <a:lnSpc>
                <a:spcPct val="100000"/>
              </a:lnSpc>
              <a:spcBef>
                <a:spcPts val="300"/>
              </a:spcBef>
              <a:spcAft>
                <a:spcPts val="0"/>
              </a:spcAft>
              <a:buClr>
                <a:srgbClr val="BABABA"/>
              </a:buClr>
              <a:buSzPts val="13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314325" algn="l" rtl="0">
              <a:lnSpc>
                <a:spcPct val="100000"/>
              </a:lnSpc>
              <a:spcBef>
                <a:spcPts val="300"/>
              </a:spcBef>
              <a:spcAft>
                <a:spcPts val="0"/>
              </a:spcAft>
              <a:buClr>
                <a:srgbClr val="9FB8CD"/>
              </a:buClr>
              <a:buSzPts val="1350"/>
              <a:buFont typeface="Noto Sans Symbols"/>
              <a:buChar char="🞂"/>
              <a:defRPr sz="1200" b="0" i="0" u="none" strike="noStrike" cap="none">
                <a:solidFill>
                  <a:schemeClr val="dk1"/>
                </a:solidFill>
                <a:latin typeface="Gill Sans"/>
                <a:ea typeface="Gill Sans"/>
                <a:cs typeface="Gill Sans"/>
                <a:sym typeface="Gill Sans"/>
              </a:defRPr>
            </a:lvl9pPr>
          </a:lstStyle>
          <a:p>
            <a:pPr marL="0" indent="0" algn="just">
              <a:spcAft>
                <a:spcPts val="600"/>
              </a:spcAft>
              <a:buSzPts val="1976"/>
              <a:buNone/>
            </a:pPr>
            <a:r>
              <a:rPr lang="en-US" sz="2000" dirty="0"/>
              <a:t>// Create a group and add the two cubes.</a:t>
            </a:r>
          </a:p>
          <a:p>
            <a:pPr marL="0" indent="0" algn="just">
              <a:spcAft>
                <a:spcPts val="600"/>
              </a:spcAft>
              <a:buSzPts val="1976"/>
              <a:buNone/>
            </a:pPr>
            <a:r>
              <a:rPr lang="en-US" sz="2000" dirty="0"/>
              <a:t>// These cubes can now be rotated/scaled, etc., as a group.</a:t>
            </a:r>
          </a:p>
          <a:p>
            <a:pPr marL="0" indent="0" algn="just">
              <a:spcAft>
                <a:spcPts val="600"/>
              </a:spcAft>
              <a:buSzPts val="1976"/>
              <a:buNone/>
            </a:pPr>
            <a:r>
              <a:rPr lang="en-US" sz="2000" dirty="0">
                <a:solidFill>
                  <a:srgbClr val="92D050"/>
                </a:solidFill>
              </a:rPr>
              <a:t>const</a:t>
            </a:r>
            <a:r>
              <a:rPr lang="en-US" sz="2000" dirty="0"/>
              <a:t> group = </a:t>
            </a:r>
            <a:r>
              <a:rPr lang="en-US" sz="2000" dirty="0">
                <a:solidFill>
                  <a:srgbClr val="92D050"/>
                </a:solidFill>
              </a:rPr>
              <a:t>new</a:t>
            </a:r>
            <a:r>
              <a:rPr lang="en-US" sz="2000" dirty="0"/>
              <a:t> </a:t>
            </a:r>
            <a:r>
              <a:rPr lang="en-US" sz="2000" dirty="0" err="1">
                <a:solidFill>
                  <a:srgbClr val="FF0000"/>
                </a:solidFill>
              </a:rPr>
              <a:t>THREE</a:t>
            </a:r>
            <a:r>
              <a:rPr lang="en-US" sz="2000" dirty="0" err="1"/>
              <a:t>.</a:t>
            </a:r>
            <a:r>
              <a:rPr lang="en-US" sz="2000" dirty="0" err="1">
                <a:solidFill>
                  <a:srgbClr val="0070C0"/>
                </a:solidFill>
              </a:rPr>
              <a:t>Group</a:t>
            </a:r>
            <a:r>
              <a:rPr lang="en-US" sz="2000" dirty="0"/>
              <a:t>();</a:t>
            </a:r>
          </a:p>
          <a:p>
            <a:pPr marL="0" indent="0" algn="just">
              <a:spcAft>
                <a:spcPts val="600"/>
              </a:spcAft>
              <a:buSzPts val="1976"/>
              <a:buNone/>
            </a:pPr>
            <a:r>
              <a:rPr lang="en-US" sz="2000" dirty="0" err="1"/>
              <a:t>group.</a:t>
            </a:r>
            <a:r>
              <a:rPr lang="en-US" sz="2000" dirty="0" err="1">
                <a:solidFill>
                  <a:srgbClr val="0070C0"/>
                </a:solidFill>
              </a:rPr>
              <a:t>add</a:t>
            </a:r>
            <a:r>
              <a:rPr lang="en-US" sz="2000" dirty="0"/>
              <a:t>( </a:t>
            </a:r>
            <a:r>
              <a:rPr lang="en-US" sz="2000" dirty="0" err="1"/>
              <a:t>meshA</a:t>
            </a:r>
            <a:r>
              <a:rPr lang="en-US" sz="2000" dirty="0"/>
              <a:t> );</a:t>
            </a:r>
          </a:p>
          <a:p>
            <a:pPr marL="0" indent="0" algn="just">
              <a:spcAft>
                <a:spcPts val="600"/>
              </a:spcAft>
              <a:buSzPts val="1976"/>
              <a:buNone/>
            </a:pPr>
            <a:r>
              <a:rPr lang="en-US" sz="2000" dirty="0" err="1"/>
              <a:t>group.</a:t>
            </a:r>
            <a:r>
              <a:rPr lang="en-US" sz="2000" dirty="0" err="1">
                <a:solidFill>
                  <a:srgbClr val="0070C0"/>
                </a:solidFill>
              </a:rPr>
              <a:t>add</a:t>
            </a:r>
            <a:r>
              <a:rPr lang="en-US" sz="2000" dirty="0"/>
              <a:t>( </a:t>
            </a:r>
            <a:r>
              <a:rPr lang="en-US" sz="2000" dirty="0" err="1"/>
              <a:t>meshB</a:t>
            </a:r>
            <a:r>
              <a:rPr lang="en-US" sz="2000" dirty="0"/>
              <a:t> );</a:t>
            </a:r>
          </a:p>
          <a:p>
            <a:pPr marL="0" indent="0" algn="just">
              <a:spcAft>
                <a:spcPts val="600"/>
              </a:spcAft>
              <a:buSzPts val="1976"/>
              <a:buNone/>
            </a:pPr>
            <a:r>
              <a:rPr lang="en-US" sz="2000" dirty="0" err="1"/>
              <a:t>scene.</a:t>
            </a:r>
            <a:r>
              <a:rPr lang="en-US" sz="2000" dirty="0" err="1">
                <a:solidFill>
                  <a:srgbClr val="0070C0"/>
                </a:solidFill>
              </a:rPr>
              <a:t>add</a:t>
            </a:r>
            <a:r>
              <a:rPr lang="en-US" sz="2000" dirty="0"/>
              <a:t>( group );</a:t>
            </a:r>
          </a:p>
        </p:txBody>
      </p:sp>
      <p:sp>
        <p:nvSpPr>
          <p:cNvPr id="9" name="Slide Number Placeholder 8">
            <a:extLst>
              <a:ext uri="{FF2B5EF4-FFF2-40B4-BE49-F238E27FC236}">
                <a16:creationId xmlns:a16="http://schemas.microsoft.com/office/drawing/2014/main" id="{03306FFF-A07B-E7EE-6C56-4789DE2790F0}"/>
              </a:ext>
            </a:extLst>
          </p:cNvPr>
          <p:cNvSpPr>
            <a:spLocks noGrp="1"/>
          </p:cNvSpPr>
          <p:nvPr>
            <p:ph type="sldNum" idx="12"/>
          </p:nvPr>
        </p:nvSpPr>
        <p:spPr/>
        <p:txBody>
          <a:bodyPr/>
          <a:lstStyle/>
          <a:p>
            <a:pPr marL="0" lvl="0" indent="0" algn="r" rtl="0">
              <a:spcBef>
                <a:spcPts val="0"/>
              </a:spcBef>
              <a:spcAft>
                <a:spcPts val="0"/>
              </a:spcAft>
              <a:buNone/>
            </a:pPr>
            <a:r>
              <a:rPr lang="en-US" dirty="0"/>
              <a:t>5</a:t>
            </a:r>
          </a:p>
        </p:txBody>
      </p:sp>
    </p:spTree>
    <p:extLst>
      <p:ext uri="{BB962C8B-B14F-4D97-AF65-F5344CB8AC3E}">
        <p14:creationId xmlns:p14="http://schemas.microsoft.com/office/powerpoint/2010/main" val="68053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4">
          <a:extLst>
            <a:ext uri="{FF2B5EF4-FFF2-40B4-BE49-F238E27FC236}">
              <a16:creationId xmlns:a16="http://schemas.microsoft.com/office/drawing/2014/main" id="{2290E2F4-CDF2-D863-5379-7E9FCFA4B789}"/>
            </a:ext>
          </a:extLst>
        </p:cNvPr>
        <p:cNvGrpSpPr/>
        <p:nvPr/>
      </p:nvGrpSpPr>
      <p:grpSpPr>
        <a:xfrm>
          <a:off x="0" y="0"/>
          <a:ext cx="0" cy="0"/>
          <a:chOff x="0" y="0"/>
          <a:chExt cx="0" cy="0"/>
        </a:xfrm>
      </p:grpSpPr>
      <p:sp>
        <p:nvSpPr>
          <p:cNvPr id="125" name="Google Shape;125;p2">
            <a:extLst>
              <a:ext uri="{FF2B5EF4-FFF2-40B4-BE49-F238E27FC236}">
                <a16:creationId xmlns:a16="http://schemas.microsoft.com/office/drawing/2014/main" id="{0BA4F1EB-AA41-06E6-5D1A-6054F0FF05C5}"/>
              </a:ext>
            </a:extLst>
          </p:cNvPr>
          <p:cNvSpPr txBox="1">
            <a:spLocks noGrp="1"/>
          </p:cNvSpPr>
          <p:nvPr>
            <p:ph type="title"/>
          </p:nvPr>
        </p:nvSpPr>
        <p:spPr>
          <a:xfrm>
            <a:off x="1219200" y="2971800"/>
            <a:ext cx="6858000" cy="1066800"/>
          </a:xfrm>
          <a:prstGeom prst="rect">
            <a:avLst/>
          </a:prstGeom>
          <a:noFill/>
          <a:ln>
            <a:noFill/>
          </a:ln>
        </p:spPr>
        <p:txBody>
          <a:bodyPr spcFirstLastPara="1" wrap="square" lIns="91425" tIns="45700" rIns="91425" bIns="45700" anchor="t" anchorCtr="0">
            <a:normAutofit/>
          </a:bodyPr>
          <a:lstStyle/>
          <a:p>
            <a:pPr marL="0" lvl="0" indent="0" algn="r" rtl="0">
              <a:spcBef>
                <a:spcPts val="0"/>
              </a:spcBef>
              <a:spcAft>
                <a:spcPts val="0"/>
              </a:spcAft>
              <a:buClr>
                <a:schemeClr val="dk2"/>
              </a:buClr>
              <a:buSzPts val="3200"/>
              <a:buFont typeface="Bookman Old Style"/>
              <a:buNone/>
            </a:pPr>
            <a:r>
              <a:rPr lang="en-US" dirty="0"/>
              <a:t>Hands-On Activity</a:t>
            </a:r>
            <a:br>
              <a:rPr lang="en-US" dirty="0"/>
            </a:br>
            <a:r>
              <a:rPr lang="en-US" dirty="0"/>
              <a:t>How to draw a cat?</a:t>
            </a:r>
            <a:endParaRPr dirty="0"/>
          </a:p>
        </p:txBody>
      </p:sp>
      <p:sp>
        <p:nvSpPr>
          <p:cNvPr id="126" name="Google Shape;126;p2">
            <a:extLst>
              <a:ext uri="{FF2B5EF4-FFF2-40B4-BE49-F238E27FC236}">
                <a16:creationId xmlns:a16="http://schemas.microsoft.com/office/drawing/2014/main" id="{7E066B19-2CAA-F619-0259-06956AB12F1F}"/>
              </a:ext>
            </a:extLst>
          </p:cNvPr>
          <p:cNvSpPr txBox="1">
            <a:spLocks noGrp="1"/>
          </p:cNvSpPr>
          <p:nvPr>
            <p:ph type="body" idx="1"/>
          </p:nvPr>
        </p:nvSpPr>
        <p:spPr>
          <a:xfrm>
            <a:off x="1295400" y="4267200"/>
            <a:ext cx="6781800" cy="1143000"/>
          </a:xfrm>
          <a:prstGeom prst="rect">
            <a:avLst/>
          </a:prstGeom>
          <a:noFill/>
          <a:ln>
            <a:noFill/>
          </a:ln>
        </p:spPr>
        <p:txBody>
          <a:bodyPr spcFirstLastPara="1" wrap="square" lIns="91425" tIns="45700" rIns="91425" bIns="45700" anchor="t" anchorCtr="0">
            <a:normAutofit/>
          </a:bodyPr>
          <a:lstStyle/>
          <a:p>
            <a:pPr marL="0" lvl="0" indent="0" algn="r" rtl="0">
              <a:spcBef>
                <a:spcPts val="0"/>
              </a:spcBef>
              <a:spcAft>
                <a:spcPts val="0"/>
              </a:spcAft>
              <a:buSzPts val="1520"/>
              <a:buNone/>
            </a:pPr>
            <a:endParaRPr/>
          </a:p>
        </p:txBody>
      </p:sp>
      <p:sp>
        <p:nvSpPr>
          <p:cNvPr id="3" name="Slide Number Placeholder 2">
            <a:extLst>
              <a:ext uri="{FF2B5EF4-FFF2-40B4-BE49-F238E27FC236}">
                <a16:creationId xmlns:a16="http://schemas.microsoft.com/office/drawing/2014/main" id="{F2380180-E68C-7A5D-C898-9EE224BD19AF}"/>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12</a:t>
            </a:fld>
            <a:endParaRPr lang="en-US"/>
          </a:p>
        </p:txBody>
      </p:sp>
    </p:spTree>
    <p:extLst>
      <p:ext uri="{BB962C8B-B14F-4D97-AF65-F5344CB8AC3E}">
        <p14:creationId xmlns:p14="http://schemas.microsoft.com/office/powerpoint/2010/main" val="31303636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CDD8B17D-BC1B-5305-2B6A-B84871E18940}"/>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155C6CB2-62ED-B847-81B2-E3D4D77B373E}"/>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dirty="0"/>
              <a:t>Hands-On Activity</a:t>
            </a:r>
            <a:endParaRPr dirty="0"/>
          </a:p>
        </p:txBody>
      </p:sp>
      <p:sp>
        <p:nvSpPr>
          <p:cNvPr id="138" name="Google Shape;138;p3">
            <a:extLst>
              <a:ext uri="{FF2B5EF4-FFF2-40B4-BE49-F238E27FC236}">
                <a16:creationId xmlns:a16="http://schemas.microsoft.com/office/drawing/2014/main" id="{67C1BDEA-E7F3-D3F4-E05F-088444E4E1D9}"/>
              </a:ext>
            </a:extLst>
          </p:cNvPr>
          <p:cNvSpPr txBox="1">
            <a:spLocks noGrp="1"/>
          </p:cNvSpPr>
          <p:nvPr>
            <p:ph type="body" idx="1"/>
          </p:nvPr>
        </p:nvSpPr>
        <p:spPr>
          <a:xfrm>
            <a:off x="4572000" y="1437968"/>
            <a:ext cx="4504157" cy="3169428"/>
          </a:xfrm>
          <a:prstGeom prst="rect">
            <a:avLst/>
          </a:prstGeom>
          <a:noFill/>
          <a:ln>
            <a:noFill/>
          </a:ln>
        </p:spPr>
        <p:txBody>
          <a:bodyPr spcFirstLastPara="1" wrap="square" lIns="91425" tIns="45700" rIns="91425" bIns="45700" anchor="t" anchorCtr="0">
            <a:normAutofit fontScale="70000" lnSpcReduction="20000"/>
          </a:bodyPr>
          <a:lstStyle/>
          <a:p>
            <a:pPr marL="0" lvl="0" indent="0" algn="just" rtl="0">
              <a:lnSpc>
                <a:spcPct val="150000"/>
              </a:lnSpc>
              <a:spcAft>
                <a:spcPts val="0"/>
              </a:spcAft>
              <a:buClr>
                <a:schemeClr val="accent4">
                  <a:lumMod val="75000"/>
                </a:schemeClr>
              </a:buClr>
              <a:buSzPts val="1976"/>
              <a:buNone/>
            </a:pPr>
            <a:r>
              <a:rPr lang="en-US" sz="2000" b="1" dirty="0"/>
              <a:t>Activity: How to draw a cat?</a:t>
            </a:r>
          </a:p>
          <a:p>
            <a:pPr marL="0" lvl="0" indent="0" algn="just" rtl="0">
              <a:lnSpc>
                <a:spcPct val="150000"/>
              </a:lnSpc>
              <a:spcAft>
                <a:spcPts val="0"/>
              </a:spcAft>
              <a:buClr>
                <a:schemeClr val="accent4">
                  <a:lumMod val="75000"/>
                </a:schemeClr>
              </a:buClr>
              <a:buSzPts val="1976"/>
              <a:buNone/>
            </a:pPr>
            <a:r>
              <a:rPr lang="en-US" sz="2000" dirty="0"/>
              <a:t>In this activity, you are provided with a sample picture of an orange cat.</a:t>
            </a:r>
          </a:p>
          <a:p>
            <a:pPr marL="0" lvl="0" indent="0" algn="just" rtl="0">
              <a:lnSpc>
                <a:spcPct val="150000"/>
              </a:lnSpc>
              <a:spcAft>
                <a:spcPts val="0"/>
              </a:spcAft>
              <a:buClr>
                <a:schemeClr val="accent4">
                  <a:lumMod val="75000"/>
                </a:schemeClr>
              </a:buClr>
              <a:buSzPts val="1976"/>
              <a:buNone/>
            </a:pPr>
            <a:r>
              <a:rPr lang="en-US" sz="2000" dirty="0"/>
              <a:t>Your tasks are:</a:t>
            </a:r>
          </a:p>
          <a:p>
            <a:pPr marL="342900" lvl="0" indent="-342900" algn="just" rtl="0">
              <a:lnSpc>
                <a:spcPct val="150000"/>
              </a:lnSpc>
              <a:spcAft>
                <a:spcPts val="0"/>
              </a:spcAft>
              <a:buClr>
                <a:schemeClr val="accent4">
                  <a:lumMod val="75000"/>
                </a:schemeClr>
              </a:buClr>
              <a:buSzPts val="1976"/>
              <a:buFont typeface="Arial" panose="020B0604020202020204" pitchFamily="34" charset="0"/>
              <a:buChar char="•"/>
            </a:pPr>
            <a:r>
              <a:rPr lang="en-US" sz="2000" dirty="0"/>
              <a:t>Identify the structural characteristics of the cat (i.e., which shapes form the cat’s structure).</a:t>
            </a:r>
          </a:p>
          <a:p>
            <a:pPr marL="342900" lvl="0" indent="-342900" algn="just" rtl="0">
              <a:lnSpc>
                <a:spcPct val="150000"/>
              </a:lnSpc>
              <a:spcAft>
                <a:spcPts val="0"/>
              </a:spcAft>
              <a:buClr>
                <a:schemeClr val="accent4">
                  <a:lumMod val="75000"/>
                </a:schemeClr>
              </a:buClr>
              <a:buSzPts val="1976"/>
              <a:buFont typeface="Arial" panose="020B0604020202020204" pitchFamily="34" charset="0"/>
              <a:buChar char="•"/>
            </a:pPr>
            <a:r>
              <a:rPr lang="en-US" sz="2000" dirty="0"/>
              <a:t>Implementing these shapes in Three.js</a:t>
            </a:r>
          </a:p>
          <a:p>
            <a:pPr marL="342900" lvl="0" indent="-342900" algn="just" rtl="0">
              <a:lnSpc>
                <a:spcPct val="150000"/>
              </a:lnSpc>
              <a:spcAft>
                <a:spcPts val="0"/>
              </a:spcAft>
              <a:buClr>
                <a:schemeClr val="accent4">
                  <a:lumMod val="75000"/>
                </a:schemeClr>
              </a:buClr>
              <a:buSzPts val="1976"/>
              <a:buFont typeface="Arial" panose="020B0604020202020204" pitchFamily="34" charset="0"/>
              <a:buChar char="•"/>
            </a:pPr>
            <a:r>
              <a:rPr lang="en-US" sz="2000" dirty="0"/>
              <a:t>Create a function to group all these shapes and return a single object that represents the cat.</a:t>
            </a:r>
          </a:p>
        </p:txBody>
      </p:sp>
      <p:sp>
        <p:nvSpPr>
          <p:cNvPr id="3" name="Slide Number Placeholder 2">
            <a:extLst>
              <a:ext uri="{FF2B5EF4-FFF2-40B4-BE49-F238E27FC236}">
                <a16:creationId xmlns:a16="http://schemas.microsoft.com/office/drawing/2014/main" id="{CA54DD32-D6F7-029E-7E12-3B12926E55DA}"/>
              </a:ext>
            </a:extLst>
          </p:cNvPr>
          <p:cNvSpPr>
            <a:spLocks noGrp="1"/>
          </p:cNvSpPr>
          <p:nvPr>
            <p:ph type="sldNum" idx="12"/>
          </p:nvPr>
        </p:nvSpPr>
        <p:spPr/>
        <p:txBody>
          <a:bodyPr/>
          <a:lstStyle/>
          <a:p>
            <a:pPr marL="0" lvl="0" indent="0" algn="r" rtl="0">
              <a:spcBef>
                <a:spcPts val="0"/>
              </a:spcBef>
              <a:spcAft>
                <a:spcPts val="0"/>
              </a:spcAft>
              <a:buNone/>
            </a:pPr>
            <a:endParaRPr lang="en-US"/>
          </a:p>
        </p:txBody>
      </p:sp>
      <p:pic>
        <p:nvPicPr>
          <p:cNvPr id="4" name="Picture 3">
            <a:extLst>
              <a:ext uri="{FF2B5EF4-FFF2-40B4-BE49-F238E27FC236}">
                <a16:creationId xmlns:a16="http://schemas.microsoft.com/office/drawing/2014/main" id="{D415DAC1-934D-DB5F-23F1-11EE3466FA9B}"/>
              </a:ext>
            </a:extLst>
          </p:cNvPr>
          <p:cNvPicPr>
            <a:picLocks noChangeAspect="1"/>
          </p:cNvPicPr>
          <p:nvPr/>
        </p:nvPicPr>
        <p:blipFill>
          <a:blip r:embed="rId3"/>
          <a:stretch>
            <a:fillRect/>
          </a:stretch>
        </p:blipFill>
        <p:spPr>
          <a:xfrm>
            <a:off x="415905" y="1556872"/>
            <a:ext cx="4006659" cy="3050524"/>
          </a:xfrm>
          <a:prstGeom prst="rect">
            <a:avLst/>
          </a:prstGeom>
        </p:spPr>
      </p:pic>
    </p:spTree>
    <p:extLst>
      <p:ext uri="{BB962C8B-B14F-4D97-AF65-F5344CB8AC3E}">
        <p14:creationId xmlns:p14="http://schemas.microsoft.com/office/powerpoint/2010/main" val="1906935129"/>
      </p:ext>
    </p:extLst>
  </p:cSld>
  <p:clrMapOvr>
    <a:masterClrMapping/>
  </p:clrMapOvr>
</p:sld>
</file>

<file path=ppt/theme/theme1.xml><?xml version="1.0" encoding="utf-8"?>
<a:theme xmlns:a="http://schemas.openxmlformats.org/drawingml/2006/main" name="Origin">
  <a:themeElements>
    <a:clrScheme name="Origin">
      <a:dk1>
        <a:srgbClr val="000000"/>
      </a:dk1>
      <a:lt1>
        <a:srgbClr val="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2261</TotalTime>
  <Words>2136</Words>
  <Application>Microsoft Office PowerPoint</Application>
  <PresentationFormat>On-screen Show (4:3)</PresentationFormat>
  <Paragraphs>153</Paragraphs>
  <Slides>14</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Wingdings</vt:lpstr>
      <vt:lpstr>Gill Sans</vt:lpstr>
      <vt:lpstr>Bookman Old Style</vt:lpstr>
      <vt:lpstr>Noto Sans Symbols</vt:lpstr>
      <vt:lpstr>Arial</vt:lpstr>
      <vt:lpstr>Calibri</vt:lpstr>
      <vt:lpstr>Cambria</vt:lpstr>
      <vt:lpstr>Origin</vt:lpstr>
      <vt:lpstr>CTE 2059 - Computer Graphic Lecture 1 – Scene &amp; Primitives</vt:lpstr>
      <vt:lpstr>Outline</vt:lpstr>
      <vt:lpstr>Getting Started</vt:lpstr>
      <vt:lpstr>Installation</vt:lpstr>
      <vt:lpstr>Creating a Scene</vt:lpstr>
      <vt:lpstr>Creating a Scene</vt:lpstr>
      <vt:lpstr>Structure of a Three.js app</vt:lpstr>
      <vt:lpstr>Structure of a Three.js app</vt:lpstr>
      <vt:lpstr>Primitives</vt:lpstr>
      <vt:lpstr>Creating a 3D object</vt:lpstr>
      <vt:lpstr>Some commonly used Primitives</vt:lpstr>
      <vt:lpstr>Grouping &amp; Hierarchy</vt:lpstr>
      <vt:lpstr>Hands-On Activity How to draw a cat?</vt:lpstr>
      <vt:lpstr>Hands-On Activity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Khoi Nguyen Le</dc:creator>
  <cp:lastModifiedBy>Austin Nguyen (HKO - CORPIT - ITO - CTO)</cp:lastModifiedBy>
  <cp:revision>36</cp:revision>
  <dcterms:created xsi:type="dcterms:W3CDTF">2012-10-11T13:47:11Z</dcterms:created>
  <dcterms:modified xsi:type="dcterms:W3CDTF">2026-03-06T05:18:58Z</dcterms:modified>
</cp:coreProperties>
</file>