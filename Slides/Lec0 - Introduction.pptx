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314" r:id="rId3"/>
    <p:sldId id="257" r:id="rId4"/>
    <p:sldId id="329" r:id="rId5"/>
    <p:sldId id="330" r:id="rId6"/>
    <p:sldId id="311" r:id="rId7"/>
  </p:sldIdLst>
  <p:sldSz cx="9144000" cy="6858000" type="screen4x3"/>
  <p:notesSz cx="9144000" cy="6858000"/>
  <p:embeddedFontLst>
    <p:embeddedFont>
      <p:font typeface="Bookman Old Style" panose="02050604050505020204" pitchFamily="18" charset="0"/>
      <p:regular r:id="rId10"/>
      <p:bold r:id="rId11"/>
      <p:italic r:id="rId12"/>
      <p:boldItalic r:id="rId13"/>
    </p:embeddedFont>
    <p:embeddedFont>
      <p:font typeface="Cambria" panose="02040503050406030204" pitchFamily="18" charset="0"/>
      <p:regular r:id="rId14"/>
      <p:bold r:id="rId15"/>
      <p:italic r:id="rId16"/>
      <p:boldItalic r:id="rId17"/>
    </p:embeddedFont>
    <p:embeddedFont>
      <p:font typeface="Gill Sans" panose="020B0604020202020204" charset="0"/>
      <p:regular r:id="rId18"/>
      <p:bold r:id="rId19"/>
    </p:embeddedFont>
    <p:embeddedFont>
      <p:font typeface="Noto Sans Symbols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5" roundtripDataSignature="AMtx7mjnchW9jt+BL3pINn0mejfXPXn+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5762" autoAdjust="0"/>
  </p:normalViewPr>
  <p:slideViewPr>
    <p:cSldViewPr snapToGrid="0">
      <p:cViewPr varScale="1">
        <p:scale>
          <a:sx n="77" d="100"/>
          <a:sy n="77" d="100"/>
        </p:scale>
        <p:origin x="2598" y="2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85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89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8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8A2F5A-9F1B-30A6-80F4-591D08EAA05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4AAFEF-0F92-B29C-A70E-9B38CAC810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83AF9-D621-4D22-98A6-93B8FF1F7E4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BFC9CD-7A76-FF4C-55C9-F3320699CA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B17BA-4A78-1B00-E7C8-F1AA786859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507B4-17AC-41E1-9E22-695C1E9AA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8632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1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  <p:sp>
        <p:nvSpPr>
          <p:cNvPr id="109" name="Google Shape;109;p1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7D4BD476-1802-F722-80D2-52BA9AEE2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>
            <a:extLst>
              <a:ext uri="{FF2B5EF4-FFF2-40B4-BE49-F238E27FC236}">
                <a16:creationId xmlns:a16="http://schemas.microsoft.com/office/drawing/2014/main" id="{1910EFBA-3AB9-3DF8-12E4-0B5A607EB9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3:notes">
            <a:extLst>
              <a:ext uri="{FF2B5EF4-FFF2-40B4-BE49-F238E27FC236}">
                <a16:creationId xmlns:a16="http://schemas.microsoft.com/office/drawing/2014/main" id="{D8CEECBC-A839-7C10-3638-BD6754CF6B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:notes">
            <a:extLst>
              <a:ext uri="{FF2B5EF4-FFF2-40B4-BE49-F238E27FC236}">
                <a16:creationId xmlns:a16="http://schemas.microsoft.com/office/drawing/2014/main" id="{EFCE6ED4-F00C-DC5A-010B-ED750258DFB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:notes">
            <a:extLst>
              <a:ext uri="{FF2B5EF4-FFF2-40B4-BE49-F238E27FC236}">
                <a16:creationId xmlns:a16="http://schemas.microsoft.com/office/drawing/2014/main" id="{55CACE8A-202C-BA1A-F042-033CD8330E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3482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848204ce3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848204ce3_0_9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8848204ce3_0_96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D11DE594-5D22-253A-BB2F-9D7BF32DE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848204ce3_0_96:notes">
            <a:extLst>
              <a:ext uri="{FF2B5EF4-FFF2-40B4-BE49-F238E27FC236}">
                <a16:creationId xmlns:a16="http://schemas.microsoft.com/office/drawing/2014/main" id="{BBC3CABF-E7A0-7A8D-DBEE-CE0CA6B36B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848204ce3_0_96:notes">
            <a:extLst>
              <a:ext uri="{FF2B5EF4-FFF2-40B4-BE49-F238E27FC236}">
                <a16:creationId xmlns:a16="http://schemas.microsoft.com/office/drawing/2014/main" id="{A8F5E2B3-384D-7967-A239-D59A8C6008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8848204ce3_0_96:notes">
            <a:extLst>
              <a:ext uri="{FF2B5EF4-FFF2-40B4-BE49-F238E27FC236}">
                <a16:creationId xmlns:a16="http://schemas.microsoft.com/office/drawing/2014/main" id="{F274383F-1D7F-8C5B-E9DD-7923B40FC9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1502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85FE5D78-FC0E-FFA0-F750-D826255B6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848204ce3_0_96:notes">
            <a:extLst>
              <a:ext uri="{FF2B5EF4-FFF2-40B4-BE49-F238E27FC236}">
                <a16:creationId xmlns:a16="http://schemas.microsoft.com/office/drawing/2014/main" id="{CEEBC765-5A8C-93A4-3E51-09AF1D3E76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848204ce3_0_96:notes">
            <a:extLst>
              <a:ext uri="{FF2B5EF4-FFF2-40B4-BE49-F238E27FC236}">
                <a16:creationId xmlns:a16="http://schemas.microsoft.com/office/drawing/2014/main" id="{0E99B7FB-8DA3-DDF6-6283-934E7BBA5C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8848204ce3_0_96:notes">
            <a:extLst>
              <a:ext uri="{FF2B5EF4-FFF2-40B4-BE49-F238E27FC236}">
                <a16:creationId xmlns:a16="http://schemas.microsoft.com/office/drawing/2014/main" id="{4849D81D-B0E1-2F46-F307-D0419F9BF7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2113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0BFEA765-C8E5-08F6-03B3-649BF6413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>
            <a:extLst>
              <a:ext uri="{FF2B5EF4-FFF2-40B4-BE49-F238E27FC236}">
                <a16:creationId xmlns:a16="http://schemas.microsoft.com/office/drawing/2014/main" id="{67135A92-5661-353C-87A0-33C6A4868D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E7E20B84-E249-562D-77D2-CFA4B991D5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6DAE9B-FCBB-95AE-EAF4-9861E9462B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6859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0"/>
          <p:cNvSpPr txBox="1"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0"/>
          <p:cNvSpPr txBox="1"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0"/>
          <p:cNvSpPr txBox="1">
            <a:spLocks noGrp="1"/>
          </p:cNvSpPr>
          <p:nvPr>
            <p:ph type="dt" idx="10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0"/>
          <p:cNvSpPr txBox="1">
            <a:spLocks noGrp="1"/>
          </p:cNvSpPr>
          <p:nvPr>
            <p:ph type="ftr" idx="11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sldNum" idx="12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3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30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952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30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" name="Google Shape;27;p30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1"/>
          <p:cNvSpPr txBox="1"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sz="3200" b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dt" idx="10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ftr" idx="11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1"/>
          <p:cNvSpPr txBox="1">
            <a:spLocks noGrp="1"/>
          </p:cNvSpPr>
          <p:nvPr>
            <p:ph type="sldNum" idx="12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31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" name="Google Shape;35;p31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dt" idx="10"/>
          </p:nvPr>
        </p:nvSpPr>
        <p:spPr>
          <a:xfrm>
            <a:off x="609600" y="6353304"/>
            <a:ext cx="2289048" cy="36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FBFB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sldNum" idx="12"/>
          </p:nvPr>
        </p:nvSpPr>
        <p:spPr>
          <a:xfrm>
            <a:off x="6705600" y="6356340"/>
            <a:ext cx="1981200" cy="349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4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4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4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57" name="Google Shape;57;p34"/>
          <p:cNvSpPr txBox="1">
            <a:spLocks noGrp="1"/>
          </p:cNvSpPr>
          <p:nvPr>
            <p:ph type="body" idx="2"/>
          </p:nvPr>
        </p:nvSpPr>
        <p:spPr>
          <a:xfrm>
            <a:off x="4632198" y="1216152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35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6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6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8" name="Google Shape;68;p36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9" name="Google Shape;69;p36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7"/>
          <p:cNvSpPr txBox="1"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ill Sans"/>
              <a:buNone/>
              <a:defRPr sz="2000" b="1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7"/>
          <p:cNvSpPr txBox="1">
            <a:spLocks noGrp="1"/>
          </p:cNvSpPr>
          <p:nvPr>
            <p:ph type="body" idx="1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12"/>
              <a:buNone/>
              <a:defRPr sz="12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760"/>
              <a:buNone/>
              <a:defRPr sz="1000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73" name="Google Shape;73;p37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7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7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6" name="Google Shape;76;p37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7" name="Google Shape;77;p37"/>
          <p:cNvCxnSpPr/>
          <p:nvPr/>
        </p:nvCxnSpPr>
        <p:spPr>
          <a:xfrm rot="5400000">
            <a:off x="3160645" y="3324225"/>
            <a:ext cx="603504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8" name="Google Shape;78;p37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" name="Google Shape;79;p37"/>
          <p:cNvSpPr txBox="1">
            <a:spLocks noGrp="1"/>
          </p:cNvSpPr>
          <p:nvPr>
            <p:ph type="body" idx="2"/>
          </p:nvPr>
        </p:nvSpPr>
        <p:spPr>
          <a:xfrm>
            <a:off x="304800" y="3048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8"/>
          <p:cNvSpPr txBox="1"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45700" rIns="91425" bIns="4570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None/>
              <a:defRPr sz="2000" b="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8"/>
          <p:cNvSpPr>
            <a:spLocks noGrp="1"/>
          </p:cNvSpPr>
          <p:nvPr>
            <p:ph type="pic" idx="2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83" name="Google Shape;83;p3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064"/>
              <a:buFont typeface="Gill Sans"/>
              <a:buNone/>
              <a:defRPr sz="1400"/>
            </a:lvl1pPr>
            <a:lvl2pPr marL="914400" lvl="1" indent="-286512" algn="l">
              <a:spcBef>
                <a:spcPts val="500"/>
              </a:spcBef>
              <a:spcAft>
                <a:spcPts val="0"/>
              </a:spcAft>
              <a:buSzPts val="912"/>
              <a:buChar char="🞂"/>
              <a:defRPr sz="1200"/>
            </a:lvl2pPr>
            <a:lvl3pPr marL="1371600" lvl="2" indent="-276860" algn="l">
              <a:spcBef>
                <a:spcPts val="500"/>
              </a:spcBef>
              <a:spcAft>
                <a:spcPts val="0"/>
              </a:spcAft>
              <a:buSzPts val="760"/>
              <a:buChar char="🞂"/>
              <a:defRPr sz="1000"/>
            </a:lvl3pPr>
            <a:lvl4pPr marL="1828800" lvl="3" indent="-268605" algn="l">
              <a:spcBef>
                <a:spcPts val="400"/>
              </a:spcBef>
              <a:spcAft>
                <a:spcPts val="0"/>
              </a:spcAft>
              <a:buSzPts val="630"/>
              <a:buChar char="◻"/>
              <a:defRPr sz="900"/>
            </a:lvl4pPr>
            <a:lvl5pPr marL="2286000" lvl="4" indent="-268604" algn="l">
              <a:spcBef>
                <a:spcPts val="300"/>
              </a:spcBef>
              <a:spcAft>
                <a:spcPts val="0"/>
              </a:spcAft>
              <a:buSzPts val="630"/>
              <a:buChar char="◻"/>
              <a:defRPr sz="900"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84" name="Google Shape;84;p38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8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8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38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88" name="Google Shape;88;p38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38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9"/>
          <p:cNvSpPr txBox="1">
            <a:spLocks noGrp="1"/>
          </p:cNvSpPr>
          <p:nvPr>
            <p:ph type="body" idx="1"/>
          </p:nvPr>
        </p:nvSpPr>
        <p:spPr>
          <a:xfrm rot="5400000">
            <a:off x="2116836" y="-440436"/>
            <a:ext cx="4910328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93" name="Google Shape;93;p39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9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9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99" name="Google Shape;99;p40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0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0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2" name="Google Shape;102;p40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03" name="Google Shape;103;p40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04" name="Google Shape;104;p40"/>
          <p:cNvCxnSpPr/>
          <p:nvPr/>
        </p:nvCxnSpPr>
        <p:spPr>
          <a:xfrm rot="5400000">
            <a:off x="3629607" y="3201952"/>
            <a:ext cx="585216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4076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9597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sz="23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25119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08610" algn="l" rtl="0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972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04800" algn="l" rtl="0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5275" algn="l" rtl="0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5275" algn="l" rtl="0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85750" algn="l" rtl="0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29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29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" name="Google Shape;16;p29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7" name="Google Shape;17;p29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chaumt@vnu.edu.v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25025070@vnu.edu.vn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>
            <a:spLocks noGrp="1"/>
          </p:cNvSpPr>
          <p:nvPr>
            <p:ph type="ctrTitle"/>
          </p:nvPr>
        </p:nvSpPr>
        <p:spPr>
          <a:xfrm>
            <a:off x="1219200" y="3886200"/>
            <a:ext cx="6934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okman Old Style"/>
              <a:buNone/>
            </a:pPr>
            <a:r>
              <a:rPr lang="en-US" sz="3000" dirty="0"/>
              <a:t>CTE 2059 - Computer Graphic</a:t>
            </a:r>
            <a:br>
              <a:rPr lang="en-US" sz="3000" dirty="0"/>
            </a:br>
            <a:r>
              <a:rPr lang="en-US" sz="3000" dirty="0"/>
              <a:t>Lecture 0 - Course </a:t>
            </a:r>
            <a:r>
              <a:rPr lang="en-US" sz="2800" dirty="0"/>
              <a:t>Introduction </a:t>
            </a:r>
            <a:endParaRPr sz="3000" dirty="0"/>
          </a:p>
        </p:txBody>
      </p:sp>
      <p:sp>
        <p:nvSpPr>
          <p:cNvPr id="112" name="Google Shape;112;p1"/>
          <p:cNvSpPr txBox="1">
            <a:spLocks noGrp="1"/>
          </p:cNvSpPr>
          <p:nvPr>
            <p:ph type="subTitle" idx="1"/>
          </p:nvPr>
        </p:nvSpPr>
        <p:spPr>
          <a:xfrm>
            <a:off x="1143000" y="5029200"/>
            <a:ext cx="7086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US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University of Engineering and Technology</a:t>
            </a:r>
            <a:endParaRPr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r" rtl="0">
              <a:spcBef>
                <a:spcPts val="600"/>
              </a:spcBef>
              <a:spcAft>
                <a:spcPts val="0"/>
              </a:spcAft>
              <a:buSzPts val="1520"/>
              <a:buNone/>
            </a:pPr>
            <a:r>
              <a:rPr lang="en-US" dirty="0">
                <a:solidFill>
                  <a:schemeClr val="dk1"/>
                </a:solidFill>
                <a:latin typeface="Cambria"/>
                <a:ea typeface="Cambria"/>
                <a:sym typeface="Cambria"/>
              </a:rPr>
              <a:t>VIETNAM NATIONAL UNIVERSITY, HANOI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EF039324-9B43-F2AE-67CB-56B64C792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>
            <a:extLst>
              <a:ext uri="{FF2B5EF4-FFF2-40B4-BE49-F238E27FC236}">
                <a16:creationId xmlns:a16="http://schemas.microsoft.com/office/drawing/2014/main" id="{B873D605-D0F4-2EDD-C5A3-524CF60AC7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dirty="0"/>
              <a:t>Course Introduction</a:t>
            </a:r>
            <a:endParaRPr dirty="0"/>
          </a:p>
        </p:txBody>
      </p:sp>
      <p:sp>
        <p:nvSpPr>
          <p:cNvPr id="138" name="Google Shape;138;p3">
            <a:extLst>
              <a:ext uri="{FF2B5EF4-FFF2-40B4-BE49-F238E27FC236}">
                <a16:creationId xmlns:a16="http://schemas.microsoft.com/office/drawing/2014/main" id="{969670E5-13A2-54B5-2689-3C5565386C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8937" y="1219200"/>
            <a:ext cx="8551985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 algn="just" rtl="0">
              <a:lnSpc>
                <a:spcPct val="13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2000" b="1" dirty="0"/>
              <a:t>Course Name/Code: </a:t>
            </a:r>
            <a:r>
              <a:rPr lang="en-US" sz="2000" dirty="0"/>
              <a:t>Computer Graphic / CTE 2059 (Undergraduate)</a:t>
            </a:r>
            <a:endParaRPr lang="en-US" sz="2000" b="1" dirty="0"/>
          </a:p>
          <a:p>
            <a:pPr lvl="0" indent="-457200" algn="just" rtl="0">
              <a:lnSpc>
                <a:spcPct val="13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2000" b="1" dirty="0"/>
              <a:t>#Credits: </a:t>
            </a:r>
            <a:r>
              <a:rPr lang="en-US" sz="2000" dirty="0"/>
              <a:t>03</a:t>
            </a:r>
          </a:p>
          <a:p>
            <a:pPr lvl="0" indent="-457200" rtl="0">
              <a:lnSpc>
                <a:spcPct val="13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2000" b="1" dirty="0"/>
              <a:t>Plan: </a:t>
            </a:r>
            <a:r>
              <a:rPr lang="en-US" sz="2000" dirty="0"/>
              <a:t>15 weeks = 8 (lecture) + 5 (group project) + 2 (grading)</a:t>
            </a:r>
          </a:p>
          <a:p>
            <a:pPr lvl="0" indent="-457200" rtl="0">
              <a:lnSpc>
                <a:spcPct val="13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2000" b="1" dirty="0"/>
              <a:t>Lecturers:</a:t>
            </a:r>
          </a:p>
          <a:p>
            <a:pPr lvl="1" indent="-457200">
              <a:lnSpc>
                <a:spcPct val="130000"/>
              </a:lnSpc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700" dirty="0"/>
              <a:t>PhD. Ma </a:t>
            </a:r>
            <a:r>
              <a:rPr lang="en-US" sz="1700" dirty="0" err="1"/>
              <a:t>Thi</a:t>
            </a:r>
            <a:r>
              <a:rPr lang="en-US" sz="1700" dirty="0"/>
              <a:t> Chau – </a:t>
            </a:r>
            <a:r>
              <a:rPr lang="en-US" sz="1700" dirty="0">
                <a:hlinkClick r:id="rId3"/>
              </a:rPr>
              <a:t>chaumt@vnu.edu.vn</a:t>
            </a:r>
            <a:r>
              <a:rPr lang="en-US" sz="1700" b="1" dirty="0">
                <a:hlinkClick r:id="rId3"/>
              </a:rPr>
              <a:t>  </a:t>
            </a:r>
            <a:endParaRPr lang="en-US" sz="1700" b="1" dirty="0"/>
          </a:p>
          <a:p>
            <a:pPr lvl="1" indent="-457200">
              <a:lnSpc>
                <a:spcPct val="130000"/>
              </a:lnSpc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1700" dirty="0"/>
              <a:t>BSc. Nguyen Minh Kien – </a:t>
            </a:r>
            <a:r>
              <a:rPr lang="en-US" sz="1700" dirty="0">
                <a:hlinkClick r:id="rId4"/>
              </a:rPr>
              <a:t>25025070@vnu.edu.vn</a:t>
            </a:r>
            <a:r>
              <a:rPr lang="en-US" sz="1700" dirty="0"/>
              <a:t>, 0393687358</a:t>
            </a:r>
            <a:r>
              <a:rPr lang="en-US" sz="1700" b="1" dirty="0"/>
              <a:t> </a:t>
            </a:r>
          </a:p>
          <a:p>
            <a:pPr lvl="0" indent="-457200" rtl="0">
              <a:lnSpc>
                <a:spcPct val="13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SzPts val="1976"/>
              <a:buFont typeface="Wingdings" panose="05000000000000000000" pitchFamily="2" charset="2"/>
              <a:buChar char="q"/>
            </a:pPr>
            <a:r>
              <a:rPr lang="en-US" sz="2000" b="1" dirty="0"/>
              <a:t>Learning outcomes:</a:t>
            </a:r>
          </a:p>
          <a:p>
            <a:pPr lvl="1" indent="-457200" algn="just">
              <a:lnSpc>
                <a:spcPct val="130000"/>
              </a:lnSpc>
              <a:spcBef>
                <a:spcPts val="600"/>
              </a:spcBef>
              <a:buClrTx/>
              <a:buSzPts val="1976"/>
              <a:buFont typeface="+mj-lt"/>
              <a:buAutoNum type="arabicParenR"/>
            </a:pPr>
            <a:r>
              <a:rPr lang="en-US" sz="1800" dirty="0"/>
              <a:t>Understand the basic principles of modern computer graphics</a:t>
            </a:r>
            <a:endParaRPr lang="en-US" sz="1800" b="1" dirty="0"/>
          </a:p>
          <a:p>
            <a:pPr lvl="1" indent="-457200" algn="just">
              <a:lnSpc>
                <a:spcPct val="130000"/>
              </a:lnSpc>
              <a:spcBef>
                <a:spcPts val="600"/>
              </a:spcBef>
              <a:buClrTx/>
              <a:buSzPts val="1976"/>
              <a:buFont typeface="+mj-lt"/>
              <a:buAutoNum type="arabicParenR"/>
            </a:pPr>
            <a:r>
              <a:rPr lang="en-US" sz="1800" dirty="0"/>
              <a:t>Understand the geometric concepts underlying 3D models</a:t>
            </a:r>
          </a:p>
          <a:p>
            <a:pPr lvl="1" indent="-457200" algn="just">
              <a:lnSpc>
                <a:spcPct val="130000"/>
              </a:lnSpc>
              <a:spcBef>
                <a:spcPts val="600"/>
              </a:spcBef>
              <a:buClrTx/>
              <a:buSzPts val="1976"/>
              <a:buFont typeface="+mj-lt"/>
              <a:buAutoNum type="arabicParenR"/>
            </a:pPr>
            <a:r>
              <a:rPr lang="en-US" sz="1800" dirty="0"/>
              <a:t>Able to develop a program that displays a 3D scene using Three.js.</a:t>
            </a:r>
          </a:p>
          <a:p>
            <a:pPr lvl="1" indent="-457200" algn="just">
              <a:lnSpc>
                <a:spcPct val="130000"/>
              </a:lnSpc>
              <a:spcBef>
                <a:spcPts val="600"/>
              </a:spcBef>
              <a:buClrTx/>
              <a:buSzPts val="1976"/>
              <a:buFont typeface="+mj-lt"/>
              <a:buAutoNum type="arabicParenR"/>
            </a:pPr>
            <a:r>
              <a:rPr lang="en-US" sz="1800" dirty="0"/>
              <a:t>Able to animate 3D models and apply lighting and textures to enhance realism.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20C1D-0606-742F-EADA-2FC1C52EA1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21726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848204ce3_0_9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Course Materials</a:t>
            </a:r>
            <a:endParaRPr dirty="0"/>
          </a:p>
        </p:txBody>
      </p:sp>
      <p:sp>
        <p:nvSpPr>
          <p:cNvPr id="119" name="Google Shape;119;g38848204ce3_0_96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spcBef>
                <a:spcPts val="0"/>
              </a:spcBef>
            </a:pPr>
            <a:r>
              <a:rPr lang="en-US" sz="2400" b="1" dirty="0"/>
              <a:t>Documentation:</a:t>
            </a:r>
          </a:p>
          <a:p>
            <a:pPr lvl="1">
              <a:spcBef>
                <a:spcPts val="0"/>
              </a:spcBef>
            </a:pPr>
            <a:r>
              <a:rPr lang="en-US" sz="2400" dirty="0"/>
              <a:t>Three.js: https://threejs.org</a:t>
            </a:r>
          </a:p>
          <a:p>
            <a:pPr lvl="1">
              <a:spcBef>
                <a:spcPts val="0"/>
              </a:spcBef>
            </a:pPr>
            <a:r>
              <a:rPr lang="en-US" sz="2400" dirty="0" err="1"/>
              <a:t>Github</a:t>
            </a:r>
            <a:r>
              <a:rPr lang="en-US" sz="2400" dirty="0"/>
              <a:t>: https://github.com/mrdoob/three.js</a:t>
            </a:r>
          </a:p>
          <a:p>
            <a:pPr lvl="1">
              <a:spcBef>
                <a:spcPts val="0"/>
              </a:spcBef>
            </a:pPr>
            <a:r>
              <a:rPr lang="en-US" sz="2400" dirty="0" err="1"/>
              <a:t>Youtube</a:t>
            </a:r>
            <a:r>
              <a:rPr lang="en-US" sz="2400" dirty="0"/>
              <a:t> Tutorials: Three.js Tutorial Wael Yasmina</a:t>
            </a:r>
          </a:p>
          <a:p>
            <a:pPr marL="598932" lvl="1" indent="0">
              <a:spcBef>
                <a:spcPts val="0"/>
              </a:spcBef>
              <a:buNone/>
            </a:pPr>
            <a:endParaRPr lang="en-US" sz="2400" dirty="0"/>
          </a:p>
          <a:p>
            <a:pPr>
              <a:spcBef>
                <a:spcPts val="0"/>
              </a:spcBef>
            </a:pPr>
            <a:r>
              <a:rPr lang="en-US" sz="2400" b="1" dirty="0"/>
              <a:t>Reference Textbook:</a:t>
            </a:r>
          </a:p>
          <a:p>
            <a:pPr lvl="1">
              <a:spcBef>
                <a:spcPts val="0"/>
              </a:spcBef>
            </a:pPr>
            <a:r>
              <a:rPr lang="en-US" sz="2400" dirty="0"/>
              <a:t>Peter Shirley, Fundamentals of Computer Graphics</a:t>
            </a:r>
          </a:p>
          <a:p>
            <a:pPr lvl="1">
              <a:spcBef>
                <a:spcPts val="0"/>
              </a:spcBef>
            </a:pPr>
            <a:r>
              <a:rPr lang="en-US" sz="2400" dirty="0"/>
              <a:t>Bùi </a:t>
            </a:r>
            <a:r>
              <a:rPr lang="en-US" sz="2400" dirty="0" err="1"/>
              <a:t>Thế</a:t>
            </a:r>
            <a:r>
              <a:rPr lang="en-US" sz="2400" dirty="0"/>
              <a:t> Duy, </a:t>
            </a:r>
            <a:r>
              <a:rPr lang="en-US" sz="2400" dirty="0" err="1"/>
              <a:t>Giáo</a:t>
            </a:r>
            <a:r>
              <a:rPr lang="en-US" sz="2400" dirty="0"/>
              <a:t> </a:t>
            </a:r>
            <a:r>
              <a:rPr lang="en-US" sz="2400" dirty="0" err="1"/>
              <a:t>trình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họa</a:t>
            </a:r>
            <a:r>
              <a:rPr lang="en-US" sz="2400" dirty="0"/>
              <a:t> </a:t>
            </a:r>
            <a:r>
              <a:rPr lang="en-US" sz="2400" dirty="0" err="1"/>
              <a:t>Máy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317003-EBEA-9A4F-45E5-043B1E3A52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2B9C0598-4FEE-B9BD-4DB1-87301ACED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848204ce3_0_96">
            <a:extLst>
              <a:ext uri="{FF2B5EF4-FFF2-40B4-BE49-F238E27FC236}">
                <a16:creationId xmlns:a16="http://schemas.microsoft.com/office/drawing/2014/main" id="{74A17AEE-EE25-6C04-D532-4EA473E0B5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Course Outline</a:t>
            </a:r>
            <a:endParaRPr dirty="0"/>
          </a:p>
        </p:txBody>
      </p:sp>
      <p:sp>
        <p:nvSpPr>
          <p:cNvPr id="119" name="Google Shape;119;g38848204ce3_0_96">
            <a:extLst>
              <a:ext uri="{FF2B5EF4-FFF2-40B4-BE49-F238E27FC236}">
                <a16:creationId xmlns:a16="http://schemas.microsoft.com/office/drawing/2014/main" id="{D9C1A260-17BF-A2C7-D44B-3F271F26A3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41732" lvl="0" indent="0">
              <a:spcBef>
                <a:spcPts val="0"/>
              </a:spcBef>
              <a:buNone/>
            </a:pPr>
            <a:r>
              <a:rPr lang="en-US" sz="2200" b="1" dirty="0"/>
              <a:t>Introductory Exercises (Week 1 – 3):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Introduction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Initialize a Basic Scene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Experiment with Primitives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Work with Materials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Add Lighting</a:t>
            </a:r>
          </a:p>
          <a:p>
            <a:pPr marL="141732" indent="0">
              <a:spcBef>
                <a:spcPts val="0"/>
              </a:spcBef>
              <a:buNone/>
            </a:pPr>
            <a:r>
              <a:rPr lang="en-US" sz="2200" b="1" dirty="0"/>
              <a:t>Exercises (Week 4 – 8):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Camera Control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Particle System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Loading 3D Models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 err="1"/>
              <a:t>Raycaster</a:t>
            </a:r>
            <a:r>
              <a:rPr lang="en-US" sz="2000" dirty="0"/>
              <a:t> (Object Selection)</a:t>
            </a:r>
          </a:p>
          <a:p>
            <a:pPr marL="141732" indent="0">
              <a:spcBef>
                <a:spcPts val="0"/>
              </a:spcBef>
              <a:buNone/>
            </a:pPr>
            <a:r>
              <a:rPr lang="en-US" sz="2200" b="1" dirty="0"/>
              <a:t>Midterm: Group Project (Week 9 – 13):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00" dirty="0"/>
              <a:t>Group of 5 students each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00" dirty="0"/>
              <a:t>Simulation, 3D Portfolio Website, 3D Browser-Based Game, 3D Gallery, Short Film.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00" dirty="0"/>
              <a:t>DL for choosing group and topic: Week 4 </a:t>
            </a:r>
          </a:p>
          <a:p>
            <a:pPr marL="141732" indent="0">
              <a:spcBef>
                <a:spcPts val="0"/>
              </a:spcBef>
              <a:buNone/>
            </a:pPr>
            <a:r>
              <a:rPr lang="en-US" sz="2200" b="1" dirty="0"/>
              <a:t>Midterm Evaluation (Week 14 – 15)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99F720-5961-345C-E36F-C4112C7765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17817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CEB3F721-672D-14D1-3033-0E481741B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848204ce3_0_96">
            <a:extLst>
              <a:ext uri="{FF2B5EF4-FFF2-40B4-BE49-F238E27FC236}">
                <a16:creationId xmlns:a16="http://schemas.microsoft.com/office/drawing/2014/main" id="{9C53E277-0425-EF88-CEFB-7A84FED63D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Course Assessment</a:t>
            </a:r>
            <a:endParaRPr dirty="0"/>
          </a:p>
        </p:txBody>
      </p:sp>
      <p:sp>
        <p:nvSpPr>
          <p:cNvPr id="119" name="Google Shape;119;g38848204ce3_0_96">
            <a:extLst>
              <a:ext uri="{FF2B5EF4-FFF2-40B4-BE49-F238E27FC236}">
                <a16:creationId xmlns:a16="http://schemas.microsoft.com/office/drawing/2014/main" id="{99FF4E44-625A-6E29-7F74-E12A9322EF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41732" lvl="0" indent="0">
              <a:spcBef>
                <a:spcPts val="0"/>
              </a:spcBef>
              <a:buNone/>
            </a:pPr>
            <a:r>
              <a:rPr lang="en-US" sz="2200" b="1" dirty="0"/>
              <a:t>Attendance score: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Rollcall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Quiz on portal.uet.vnu.edu.vn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Assignments</a:t>
            </a:r>
          </a:p>
          <a:p>
            <a:pPr marL="141732" indent="0">
              <a:spcBef>
                <a:spcPts val="0"/>
              </a:spcBef>
              <a:buNone/>
            </a:pPr>
            <a:r>
              <a:rPr lang="en-US" sz="2200" b="1" dirty="0"/>
              <a:t>Midterm score: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00" dirty="0"/>
              <a:t>Based score = 0.6 x Product + 0.3 x Report + 0.1 x Presentation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00" dirty="0"/>
              <a:t>Final score: Adjustment based on your group work distribution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9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00FEF-8FAB-5DBE-3F6D-6F42DD0C5A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35617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>
          <a:extLst>
            <a:ext uri="{FF2B5EF4-FFF2-40B4-BE49-F238E27FC236}">
              <a16:creationId xmlns:a16="http://schemas.microsoft.com/office/drawing/2014/main" id="{2290E2F4-CDF2-D863-5379-7E9FCFA4B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>
            <a:extLst>
              <a:ext uri="{FF2B5EF4-FFF2-40B4-BE49-F238E27FC236}">
                <a16:creationId xmlns:a16="http://schemas.microsoft.com/office/drawing/2014/main" id="{0BA4F1EB-AA41-06E6-5D1A-6054F0FF05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dirty="0"/>
              <a:t>Thank you</a:t>
            </a:r>
            <a:br>
              <a:rPr lang="en-US" dirty="0"/>
            </a:br>
            <a:r>
              <a:rPr lang="en-US" sz="1800" dirty="0"/>
              <a:t>Email me: 25025070@vnu.edu.vn</a:t>
            </a: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380180-E68C-7A5D-C898-9EE224BD19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363672"/>
      </p:ext>
    </p:extLst>
  </p:cSld>
  <p:clrMapOvr>
    <a:masterClrMapping/>
  </p:clrMapOvr>
</p:sld>
</file>

<file path=ppt/theme/theme1.xml><?xml version="1.0" encoding="utf-8"?>
<a:theme xmlns:a="http://schemas.openxmlformats.org/drawingml/2006/main" name="Origin">
  <a:themeElements>
    <a:clrScheme name="Origi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2056</TotalTime>
  <Words>351</Words>
  <Application>Microsoft Office PowerPoint</Application>
  <PresentationFormat>On-screen Show (4:3)</PresentationFormat>
  <Paragraphs>61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Wingdings</vt:lpstr>
      <vt:lpstr>Bookman Old Style</vt:lpstr>
      <vt:lpstr>Arial</vt:lpstr>
      <vt:lpstr>Noto Sans Symbols</vt:lpstr>
      <vt:lpstr>Calibri</vt:lpstr>
      <vt:lpstr>Cambria</vt:lpstr>
      <vt:lpstr>Gill Sans</vt:lpstr>
      <vt:lpstr>Origin</vt:lpstr>
      <vt:lpstr>CTE 2059 - Computer Graphic Lecture 0 - Course Introduction </vt:lpstr>
      <vt:lpstr>Course Introduction</vt:lpstr>
      <vt:lpstr>Course Materials</vt:lpstr>
      <vt:lpstr>Course Outline</vt:lpstr>
      <vt:lpstr>Course Assessment</vt:lpstr>
      <vt:lpstr>Thank you Email me: 25025070@vnu.edu.vn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Khoi Nguyen Le</dc:creator>
  <cp:lastModifiedBy>Austin Nguyen (HKO - CORPIT - ITO - CTO)</cp:lastModifiedBy>
  <cp:revision>29</cp:revision>
  <dcterms:created xsi:type="dcterms:W3CDTF">2012-10-11T13:47:11Z</dcterms:created>
  <dcterms:modified xsi:type="dcterms:W3CDTF">2026-03-02T02:26:03Z</dcterms:modified>
</cp:coreProperties>
</file>