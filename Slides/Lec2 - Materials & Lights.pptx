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256" r:id="rId2"/>
    <p:sldId id="257" r:id="rId3"/>
    <p:sldId id="305" r:id="rId4"/>
    <p:sldId id="314" r:id="rId5"/>
    <p:sldId id="331" r:id="rId6"/>
    <p:sldId id="315" r:id="rId7"/>
    <p:sldId id="333" r:id="rId8"/>
    <p:sldId id="335" r:id="rId9"/>
    <p:sldId id="337" r:id="rId10"/>
    <p:sldId id="338" r:id="rId11"/>
    <p:sldId id="311" r:id="rId12"/>
    <p:sldId id="339" r:id="rId13"/>
  </p:sldIdLst>
  <p:sldSz cx="9144000" cy="6858000" type="screen4x3"/>
  <p:notesSz cx="9144000" cy="6858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ill Sans" panose="020B0604020202020204" charset="0"/>
      <p:regular r:id="rId24"/>
      <p:bold r:id="rId25"/>
    </p:embeddedFont>
    <p:embeddedFont>
      <p:font typeface="Noto Sans Symbols" pitchFamily="2"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39ED4F1-FE1E-44B1-BE91-DC33C456D893}">
          <p14:sldIdLst>
            <p14:sldId id="256"/>
            <p14:sldId id="257"/>
          </p14:sldIdLst>
        </p14:section>
        <p14:section name="Getting Started" id="{DE395549-2AA2-4D32-BEEC-8BC76B620180}">
          <p14:sldIdLst>
            <p14:sldId id="305"/>
            <p14:sldId id="314"/>
          </p14:sldIdLst>
        </p14:section>
        <p14:section name="Materials" id="{DE019968-2623-4E4E-A9C6-B0D78D73C522}">
          <p14:sldIdLst>
            <p14:sldId id="331"/>
            <p14:sldId id="315"/>
            <p14:sldId id="333"/>
            <p14:sldId id="335"/>
            <p14:sldId id="337"/>
            <p14:sldId id="338"/>
          </p14:sldIdLst>
        </p14:section>
        <p14:section name="Lights" id="{A49C58CE-F582-470E-B612-9F0144A65D26}">
          <p14:sldIdLst>
            <p14:sldId id="311"/>
            <p14:sldId id="33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jnchW9jt+BL3pINn0mejfXPXn+W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762" autoAdjust="0"/>
  </p:normalViewPr>
  <p:slideViewPr>
    <p:cSldViewPr snapToGrid="0">
      <p:cViewPr varScale="1">
        <p:scale>
          <a:sx n="130" d="100"/>
          <a:sy n="130" d="100"/>
        </p:scale>
        <p:origin x="77" y="101"/>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85"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6.fntdata"/><Relationship Id="rId89"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8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8A2F5A-9F1B-30A6-80F4-591D08EAA051}"/>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4AAFEF-0F92-B29C-A70E-9B38CAC8102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C5083AF9-D621-4D22-98A6-93B8FF1F7E4E}" type="datetimeFigureOut">
              <a:rPr lang="en-US" smtClean="0"/>
              <a:t>3/16/2026</a:t>
            </a:fld>
            <a:endParaRPr lang="en-US"/>
          </a:p>
        </p:txBody>
      </p:sp>
      <p:sp>
        <p:nvSpPr>
          <p:cNvPr id="4" name="Footer Placeholder 3">
            <a:extLst>
              <a:ext uri="{FF2B5EF4-FFF2-40B4-BE49-F238E27FC236}">
                <a16:creationId xmlns:a16="http://schemas.microsoft.com/office/drawing/2014/main" id="{D4BFC9CD-7A76-FF4C-55C9-F3320699CA31}"/>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7B17BA-4A78-1B00-E7C8-F1AA7868591D}"/>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20507B4-17AC-41E1-9E22-695C1E9AA8BC}" type="slidenum">
              <a:rPr lang="en-US" smtClean="0"/>
              <a:t>‹#›</a:t>
            </a:fld>
            <a:endParaRPr lang="en-US"/>
          </a:p>
        </p:txBody>
      </p:sp>
    </p:spTree>
    <p:extLst>
      <p:ext uri="{BB962C8B-B14F-4D97-AF65-F5344CB8AC3E}">
        <p14:creationId xmlns:p14="http://schemas.microsoft.com/office/powerpoint/2010/main" val="24298632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threejs.org/docs/#api/en/materials/MeshPhongMaterial"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threejs.org/docs/#api/en/materials/MeshBasicMaterial" TargetMode="External"/><Relationship Id="rId4" Type="http://schemas.openxmlformats.org/officeDocument/2006/relationships/hyperlink" Target="https://threejs.org/docs/#api/en/materials/MeshLambertMaterial"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threejs.org/docs/#api/en/materials/MeshStandardMaterial#roughness"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threejs.org/docs/#api/en/materials/MeshPhysicalMaterial" TargetMode="External"/><Relationship Id="rId5" Type="http://schemas.openxmlformats.org/officeDocument/2006/relationships/hyperlink" Target="https://threejs.org/docs/#api/en/materials/MeshStandardMaterial" TargetMode="External"/><Relationship Id="rId4" Type="http://schemas.openxmlformats.org/officeDocument/2006/relationships/hyperlink" Target="https://threejs.org/docs/#api/en/materials/MeshStandardMaterial#metalnes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threejs.org/docs/#api/en/lights/HemisphereLight" TargetMode="External"/><Relationship Id="rId7" Type="http://schemas.openxmlformats.org/officeDocument/2006/relationships/hyperlink" Target="https://threejs.org/docs/#api/en/lights/SpotLight#penumbra"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threejs.org/docs/#api/en/lights/SpotLight" TargetMode="External"/><Relationship Id="rId5" Type="http://schemas.openxmlformats.org/officeDocument/2006/relationships/hyperlink" Target="https://threejs.org/docs/#api/en/lights/PointLight#distance" TargetMode="External"/><Relationship Id="rId4" Type="http://schemas.openxmlformats.org/officeDocument/2006/relationships/hyperlink" Target="https://threejs.org/docs/#api/en/lights/PointLigh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1: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0</a:t>
            </a:fld>
            <a:endParaRPr/>
          </a:p>
        </p:txBody>
      </p:sp>
      <p:sp>
        <p:nvSpPr>
          <p:cNvPr id="109" name="Google Shape;109;p1:notes"/>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848204ce3_0_9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848204ce3_0_9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8848204ce3_0_96: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9CF897F5-354E-2D4C-6126-A414B7F61194}"/>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1055858-C180-66F6-7B54-3DEF64945F8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F16EFA58-E6E2-0EA7-5A4A-1C3BFE0FE9C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58FCA471-04EE-F77D-B8D1-73E4D305A37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1954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D4BD476-1802-F722-80D2-52BA9AEE2227}"/>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910EFBA-3AB9-3DF8-12E4-0B5A607EB98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D8CEECBC-A839-7C10-3638-BD6754CF6BB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EFCE6ED4-F00C-DC5A-010B-ED750258DFB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5CACE8A-202C-BA1A-F042-033CD8330EE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593482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69C29C0-1EDE-E6EB-A583-B639F9CEC6F3}"/>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2318B2D-C694-E16D-1FC9-D908E9E9F58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2AD9BA31-65E1-72B9-A96D-C2EE81F91F8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DD7BA5CB-CDB3-3636-B010-D750980B3C0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442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D4B0853-2A0C-7925-FC43-2DBDB03AA32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3A4A1BCD-0B76-52F4-37FA-88380E0445B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4A19B633-43CB-AF03-7407-6B8DC8ABD5D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en-US" dirty="0"/>
              <a:t>Aspect		At Creation Time	After Creation</a:t>
            </a:r>
          </a:p>
          <a:p>
            <a:r>
              <a:rPr lang="en-US" b="1" dirty="0"/>
              <a:t>Code clarity	</a:t>
            </a:r>
          </a:p>
          <a:p>
            <a:r>
              <a:rPr lang="en-US" b="1" dirty="0"/>
              <a:t>	1) </a:t>
            </a:r>
            <a:r>
              <a:rPr lang="en-US" dirty="0"/>
              <a:t>Properties are grouped in one place, making materials easier to read and maintain.</a:t>
            </a:r>
          </a:p>
          <a:p>
            <a:r>
              <a:rPr lang="en-US" dirty="0"/>
              <a:t>	2) Can look scattered if many updates are applied later.</a:t>
            </a:r>
          </a:p>
          <a:p>
            <a:r>
              <a:rPr lang="en-US" b="1" dirty="0"/>
              <a:t>Performance</a:t>
            </a:r>
            <a:endParaRPr lang="en-US" dirty="0"/>
          </a:p>
          <a:p>
            <a:r>
              <a:rPr lang="en-US" dirty="0"/>
              <a:t>	1) Slightly more efficient since properties are set once during instantiation.</a:t>
            </a:r>
          </a:p>
          <a:p>
            <a:r>
              <a:rPr lang="en-US" dirty="0"/>
              <a:t>	2) May trigger re-renders or require </a:t>
            </a:r>
            <a:r>
              <a:rPr lang="en-US" sz="1200" b="0" i="0" u="none" strike="noStrike" cap="none" dirty="0" err="1">
                <a:solidFill>
                  <a:schemeClr val="dk1"/>
                </a:solidFill>
                <a:latin typeface="Calibri"/>
                <a:ea typeface="Calibri"/>
                <a:cs typeface="Calibri"/>
                <a:sym typeface="Calibri"/>
              </a:rPr>
              <a:t>material.needsUpdate</a:t>
            </a:r>
            <a:r>
              <a:rPr lang="en-US" sz="1200" b="0" i="0" u="none" strike="noStrike" cap="none" dirty="0">
                <a:solidFill>
                  <a:schemeClr val="dk1"/>
                </a:solidFill>
                <a:latin typeface="Calibri"/>
                <a:ea typeface="Calibri"/>
                <a:cs typeface="Calibri"/>
                <a:sym typeface="Calibri"/>
              </a:rPr>
              <a:t> = true</a:t>
            </a:r>
            <a:r>
              <a:rPr lang="en-US" dirty="0"/>
              <a:t> for some changes.</a:t>
            </a:r>
          </a:p>
          <a:p>
            <a:r>
              <a:rPr lang="en-US" b="1" dirty="0"/>
              <a:t>Flexibility</a:t>
            </a:r>
            <a:endParaRPr lang="en-US" dirty="0"/>
          </a:p>
          <a:p>
            <a:r>
              <a:rPr lang="en-US" dirty="0"/>
              <a:t>	1) Best for static or default values that won’t change.</a:t>
            </a:r>
          </a:p>
          <a:p>
            <a:r>
              <a:rPr lang="en-US" dirty="0"/>
              <a:t>	2) Ideal for dynamic updates (e.g., animations, user interactions).</a:t>
            </a:r>
          </a:p>
          <a:p>
            <a:r>
              <a:rPr lang="en-US" b="1" dirty="0"/>
              <a:t>Maintainability</a:t>
            </a:r>
            <a:endParaRPr lang="en-US" dirty="0"/>
          </a:p>
          <a:p>
            <a:r>
              <a:rPr lang="en-US" dirty="0"/>
              <a:t>	1) Easier to understand the material’s initial state.</a:t>
            </a:r>
          </a:p>
          <a:p>
            <a:r>
              <a:rPr lang="en-US" dirty="0"/>
              <a:t>	2) Useful when properties depend on runtime conditions or external data.</a:t>
            </a:r>
          </a:p>
          <a:p>
            <a:endParaRPr lang="en-US" dirty="0"/>
          </a:p>
          <a:p>
            <a:r>
              <a:rPr lang="en-US" b="1" dirty="0"/>
              <a:t>✅ Pros of Setting at Creation</a:t>
            </a:r>
          </a:p>
          <a:p>
            <a:r>
              <a:rPr lang="en-US" b="1" dirty="0"/>
              <a:t>Cleaner initialization</a:t>
            </a:r>
            <a:r>
              <a:rPr lang="en-US" dirty="0"/>
              <a:t>: All properties are defined in one object, reducing clutter.</a:t>
            </a:r>
          </a:p>
          <a:p>
            <a:r>
              <a:rPr lang="en-US" b="1" dirty="0"/>
              <a:t>Predictable defaults</a:t>
            </a:r>
            <a:r>
              <a:rPr lang="en-US" dirty="0"/>
              <a:t>: Ensures the material starts in a known state.</a:t>
            </a:r>
          </a:p>
          <a:p>
            <a:r>
              <a:rPr lang="en-US" b="1" dirty="0"/>
              <a:t>Slightly faster setup</a:t>
            </a:r>
            <a:r>
              <a:rPr lang="en-US" dirty="0"/>
              <a:t>: Avoids multiple property assignments after instantiation.</a:t>
            </a:r>
          </a:p>
          <a:p>
            <a:r>
              <a:rPr lang="en-US" b="1" dirty="0"/>
              <a:t>Good for static scenes</a:t>
            </a:r>
            <a:r>
              <a:rPr lang="en-US" dirty="0"/>
              <a:t>: Works well when materials won’t change during runtime.</a:t>
            </a:r>
          </a:p>
          <a:p>
            <a:endParaRPr lang="en-US" dirty="0"/>
          </a:p>
          <a:p>
            <a:r>
              <a:rPr lang="en-US" b="1" dirty="0"/>
              <a:t>Pros of Setting After Creation</a:t>
            </a:r>
          </a:p>
          <a:p>
            <a:r>
              <a:rPr lang="en-US" b="1" dirty="0"/>
              <a:t>Dynamic updates</a:t>
            </a:r>
            <a:r>
              <a:rPr lang="en-US" dirty="0"/>
              <a:t>: Allows changes based on user input, animations, or scene events.</a:t>
            </a:r>
          </a:p>
          <a:p>
            <a:r>
              <a:rPr lang="en-US" b="1" dirty="0"/>
              <a:t>Fine-grained control</a:t>
            </a:r>
            <a:r>
              <a:rPr lang="en-US" dirty="0"/>
              <a:t>: You can adjust only specific properties without redefining the whole material.</a:t>
            </a:r>
          </a:p>
          <a:p>
            <a:r>
              <a:rPr lang="en-US" b="1" dirty="0"/>
              <a:t>Supports runtime logic</a:t>
            </a:r>
            <a:r>
              <a:rPr lang="en-US" dirty="0"/>
              <a:t>: Useful when values depend on calculations or external data sources.</a:t>
            </a:r>
          </a:p>
          <a:p>
            <a:r>
              <a:rPr lang="en-US" b="1" dirty="0"/>
              <a:t>Experimentation</a:t>
            </a:r>
            <a:r>
              <a:rPr lang="en-US" dirty="0"/>
              <a:t>: Easier to tweak properties interactively during development</a:t>
            </a:r>
          </a:p>
          <a:p>
            <a:endParaRPr lang="en-US" dirty="0"/>
          </a:p>
          <a:p>
            <a:r>
              <a:rPr lang="en-US" b="1" dirty="0"/>
              <a:t>Risks &amp; Trade-offs</a:t>
            </a:r>
          </a:p>
          <a:p>
            <a:r>
              <a:rPr lang="en-US" b="1" dirty="0"/>
              <a:t>Performance overhead</a:t>
            </a:r>
            <a:r>
              <a:rPr lang="en-US" dirty="0"/>
              <a:t>: Frequent updates may require </a:t>
            </a:r>
            <a:r>
              <a:rPr lang="en-US" sz="1200" b="0" i="0" u="none" strike="noStrike" cap="none" dirty="0" err="1">
                <a:solidFill>
                  <a:schemeClr val="dk1"/>
                </a:solidFill>
                <a:latin typeface="Calibri"/>
                <a:ea typeface="Calibri"/>
                <a:cs typeface="Calibri"/>
                <a:sym typeface="Calibri"/>
              </a:rPr>
              <a:t>material.needsUpdate</a:t>
            </a:r>
            <a:r>
              <a:rPr lang="en-US" sz="1200" b="0" i="0" u="none" strike="noStrike" cap="none" dirty="0">
                <a:solidFill>
                  <a:schemeClr val="dk1"/>
                </a:solidFill>
                <a:latin typeface="Calibri"/>
                <a:ea typeface="Calibri"/>
                <a:cs typeface="Calibri"/>
                <a:sym typeface="Calibri"/>
              </a:rPr>
              <a:t> = true</a:t>
            </a:r>
            <a:r>
              <a:rPr lang="en-US" dirty="0"/>
              <a:t>, which can impact rendering speed.</a:t>
            </a:r>
          </a:p>
          <a:p>
            <a:r>
              <a:rPr lang="en-US" b="1" dirty="0"/>
              <a:t>Code readability</a:t>
            </a:r>
            <a:r>
              <a:rPr lang="en-US" dirty="0"/>
              <a:t>: Scattered property changes can make debugging harder.</a:t>
            </a:r>
          </a:p>
          <a:p>
            <a:r>
              <a:rPr lang="en-US" b="1" dirty="0"/>
              <a:t>Unexpected states</a:t>
            </a:r>
            <a:r>
              <a:rPr lang="en-US" dirty="0"/>
              <a:t>: If updates are conditional, materials may behave inconsistently unless carefully managed.</a:t>
            </a:r>
          </a:p>
          <a:p>
            <a:endParaRPr lang="en-US" dirty="0"/>
          </a:p>
          <a:p>
            <a:r>
              <a:rPr lang="en-US" b="1" dirty="0"/>
              <a:t>Recommendation</a:t>
            </a:r>
          </a:p>
          <a:p>
            <a:r>
              <a:rPr lang="en-US" b="1" dirty="0"/>
              <a:t>Use creation-time settings</a:t>
            </a:r>
            <a:r>
              <a:rPr lang="en-US" dirty="0"/>
              <a:t> for default, static properties (e.g., base color, shading mode).</a:t>
            </a:r>
          </a:p>
          <a:p>
            <a:r>
              <a:rPr lang="en-US" b="1" dirty="0"/>
              <a:t>Use after-creation updates</a:t>
            </a:r>
            <a:r>
              <a:rPr lang="en-US" dirty="0"/>
              <a:t> for dynamic behaviors (e.g., hover effects, animations, real-time lighting changes).</a:t>
            </a:r>
          </a:p>
          <a:p>
            <a:r>
              <a:rPr lang="en-US" dirty="0"/>
              <a:t>A hybrid approach is common: initialize with sensible defaults, then adjust selectively at runtime.</a:t>
            </a:r>
          </a:p>
          <a:p>
            <a:endParaRPr lang="en-US" dirty="0"/>
          </a:p>
          <a:p>
            <a:endParaRPr lang="en-US" dirty="0"/>
          </a:p>
          <a:p>
            <a:pPr marL="0" lvl="0" indent="0" algn="l" rtl="0">
              <a:spcBef>
                <a:spcPts val="0"/>
              </a:spcBef>
              <a:spcAft>
                <a:spcPts val="0"/>
              </a:spcAft>
              <a:buNone/>
            </a:pPr>
            <a:endParaRPr dirty="0"/>
          </a:p>
        </p:txBody>
      </p:sp>
      <p:sp>
        <p:nvSpPr>
          <p:cNvPr id="143" name="Google Shape;143;p4:notes">
            <a:extLst>
              <a:ext uri="{FF2B5EF4-FFF2-40B4-BE49-F238E27FC236}">
                <a16:creationId xmlns:a16="http://schemas.microsoft.com/office/drawing/2014/main" id="{EA937228-A2B1-856F-5427-6A427C52CD92}"/>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C14DBE39-69BC-1EBD-6F82-D4D16F968FE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4005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00AC3BA-28E9-D3C4-831C-7784D721F9B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6FA4CB42-3444-D956-4690-5870F4A2DB6B}"/>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369A90BA-7FFC-7FF5-E295-85BED7CEF17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PBR: Physically based rendering materials (</a:t>
            </a:r>
            <a:r>
              <a:rPr lang="en-US" dirty="0" err="1"/>
              <a:t>có</a:t>
            </a:r>
            <a:r>
              <a:rPr lang="en-US" dirty="0"/>
              <a:t> simulate </a:t>
            </a:r>
            <a:r>
              <a:rPr lang="en-US" dirty="0" err="1"/>
              <a:t>lại</a:t>
            </a:r>
            <a:r>
              <a:rPr lang="en-US" dirty="0"/>
              <a:t> </a:t>
            </a:r>
            <a:r>
              <a:rPr lang="en-US" dirty="0" err="1"/>
              <a:t>cách</a:t>
            </a:r>
            <a:r>
              <a:rPr lang="en-US" dirty="0"/>
              <a:t> </a:t>
            </a:r>
            <a:r>
              <a:rPr lang="en-US" dirty="0" err="1"/>
              <a:t>ánh</a:t>
            </a:r>
            <a:r>
              <a:rPr lang="en-US" dirty="0"/>
              <a:t> </a:t>
            </a:r>
            <a:r>
              <a:rPr lang="en-US" dirty="0" err="1"/>
              <a:t>sáng</a:t>
            </a:r>
            <a:r>
              <a:rPr lang="en-US" dirty="0"/>
              <a:t> </a:t>
            </a:r>
            <a:r>
              <a:rPr lang="en-US" dirty="0" err="1"/>
              <a:t>tương</a:t>
            </a:r>
            <a:r>
              <a:rPr lang="en-US" dirty="0"/>
              <a:t> </a:t>
            </a:r>
            <a:r>
              <a:rPr lang="en-US" dirty="0" err="1"/>
              <a:t>tác</a:t>
            </a:r>
            <a:r>
              <a:rPr lang="en-US" dirty="0"/>
              <a:t> </a:t>
            </a:r>
            <a:r>
              <a:rPr lang="en-US" dirty="0" err="1"/>
              <a:t>với</a:t>
            </a:r>
            <a:r>
              <a:rPr lang="en-US" dirty="0"/>
              <a:t> </a:t>
            </a:r>
            <a:r>
              <a:rPr lang="en-US" dirty="0" err="1"/>
              <a:t>vật</a:t>
            </a:r>
            <a:r>
              <a:rPr lang="en-US" dirty="0"/>
              <a:t> </a:t>
            </a:r>
            <a:r>
              <a:rPr lang="en-US" dirty="0" err="1"/>
              <a:t>thể</a:t>
            </a:r>
            <a:r>
              <a:rPr lang="en-US" dirty="0"/>
              <a:t> </a:t>
            </a:r>
            <a:r>
              <a:rPr lang="en-US" dirty="0" err="1"/>
              <a:t>theo</a:t>
            </a:r>
            <a:r>
              <a:rPr lang="en-US" dirty="0"/>
              <a:t> </a:t>
            </a:r>
            <a:r>
              <a:rPr lang="en-US" dirty="0" err="1"/>
              <a:t>vật</a:t>
            </a:r>
            <a:r>
              <a:rPr lang="en-US" dirty="0"/>
              <a:t> </a:t>
            </a:r>
            <a:r>
              <a:rPr lang="en-US" dirty="0" err="1"/>
              <a:t>lý</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Instead of using simple color and shading models, PBR materials use parameters like </a:t>
            </a:r>
            <a:r>
              <a:rPr lang="en-US" dirty="0" err="1"/>
              <a:t>metalness</a:t>
            </a:r>
            <a:r>
              <a:rPr lang="en-US" dirty="0"/>
              <a:t>, roughness, and reflectivity to mimic real-world materials more realistically under different lighting conditions.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Specular Highlight </a:t>
            </a:r>
            <a:r>
              <a:rPr lang="en-US" b="1" dirty="0" err="1"/>
              <a:t>là</a:t>
            </a:r>
            <a:r>
              <a:rPr lang="en-US" b="1" dirty="0"/>
              <a:t> </a:t>
            </a:r>
            <a:r>
              <a:rPr lang="en-US" b="1" dirty="0" err="1"/>
              <a:t>gì</a:t>
            </a:r>
            <a:r>
              <a:rPr lang="en-US" b="1" dirty="0"/>
              <a:t>? </a:t>
            </a:r>
            <a:r>
              <a:rPr lang="vi-VN" dirty="0"/>
              <a:t>Specular Highlight là điểm sáng nổi bật trên bề mặt bóng khi được chiếu sáng, thể hiện sự phản xạ trực tiếp của nguồn sáng trên vật thể. Nó tạo ra hiệu ứng phản chiếu giống như gương, giúp người nhìn nhận biết hình dạng vật thể và vị trí của nguồn sáng trong cảnh 3D.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The shininess setting of the </a:t>
            </a:r>
            <a:r>
              <a:rPr lang="en-US" sz="1200" b="0" i="0" u="none" strike="noStrike" cap="none" dirty="0" err="1">
                <a:solidFill>
                  <a:schemeClr val="dk1"/>
                </a:solidFill>
                <a:effectLst/>
                <a:latin typeface="Calibri"/>
                <a:ea typeface="Calibri"/>
                <a:cs typeface="Calibri"/>
                <a:sym typeface="Calibri"/>
                <a:hlinkClick r:id="rId3"/>
              </a:rPr>
              <a:t>MeshPhongMaterial</a:t>
            </a:r>
            <a:r>
              <a:rPr lang="en-US" sz="1200" b="0" i="0" u="none" strike="noStrike" cap="none" dirty="0">
                <a:solidFill>
                  <a:schemeClr val="dk1"/>
                </a:solidFill>
                <a:effectLst/>
                <a:latin typeface="Calibri"/>
                <a:ea typeface="Calibri"/>
                <a:cs typeface="Calibri"/>
                <a:sym typeface="Calibri"/>
              </a:rPr>
              <a:t> determines the </a:t>
            </a:r>
            <a:r>
              <a:rPr lang="en-US" sz="1200" b="0" i="1" u="none" strike="noStrike" cap="none" dirty="0">
                <a:solidFill>
                  <a:schemeClr val="dk1"/>
                </a:solidFill>
                <a:effectLst/>
                <a:latin typeface="Calibri"/>
                <a:ea typeface="Calibri"/>
                <a:cs typeface="Calibri"/>
                <a:sym typeface="Calibri"/>
              </a:rPr>
              <a:t>shininess</a:t>
            </a:r>
            <a:r>
              <a:rPr lang="en-US" sz="1200" b="0" i="0" u="none" strike="noStrike" cap="none" dirty="0">
                <a:solidFill>
                  <a:schemeClr val="dk1"/>
                </a:solidFill>
                <a:effectLst/>
                <a:latin typeface="Calibri"/>
                <a:ea typeface="Calibri"/>
                <a:cs typeface="Calibri"/>
                <a:sym typeface="Calibri"/>
              </a:rPr>
              <a:t> of the specular highlight. It defaults to 30.</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r>
              <a:rPr lang="vi-VN" b="1" dirty="0"/>
              <a:t>Emissive property trong Three.js là</a:t>
            </a:r>
            <a:r>
              <a:rPr lang="en-US" b="1" dirty="0"/>
              <a:t> </a:t>
            </a:r>
            <a:r>
              <a:rPr lang="en-US" b="1" dirty="0" err="1"/>
              <a:t>gì</a:t>
            </a:r>
            <a:r>
              <a:rPr lang="en-US" b="1" dirty="0"/>
              <a:t>?</a:t>
            </a:r>
            <a:r>
              <a:rPr lang="vi-VN" b="1" dirty="0"/>
              <a:t> </a:t>
            </a:r>
            <a:r>
              <a:rPr lang="en-US" dirty="0"/>
              <a:t>T</a:t>
            </a:r>
            <a:r>
              <a:rPr lang="vi-VN" dirty="0"/>
              <a:t>huộc tính màu sắc mà vật liệu phát ra như một nguồn sáng riêng, tạo hiệu ứng tự phát sáng trên bề mặt vật thể. Khác với các màu sắc phụ thuộc vào ánh sáng bên ngoài, màu emissive luôn hiển thị như một ánh sáng phát ra từ chính vật liệu đó, giúp mô phỏng các hiệu ứng như đèn neon, màn hình phát sáng, hoặc các bề mặt phát quang. Thuộc tính này không làm vật thể chiếu sáng lên các vật thể khác mà chỉ làm vật liệu đó trông như đang phát sáng.</a:t>
            </a: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Note that setting the emissive property to a color on either a </a:t>
            </a:r>
            <a:r>
              <a:rPr lang="en-US" sz="1200" b="0" i="0" u="none" strike="noStrike" cap="none" dirty="0" err="1">
                <a:solidFill>
                  <a:schemeClr val="dk1"/>
                </a:solidFill>
                <a:effectLst/>
                <a:latin typeface="Calibri"/>
                <a:ea typeface="Calibri"/>
                <a:cs typeface="Calibri"/>
                <a:sym typeface="Calibri"/>
                <a:hlinkClick r:id="rId4"/>
              </a:rPr>
              <a:t>MeshLambertMaterial</a:t>
            </a:r>
            <a:r>
              <a:rPr lang="en-US" sz="1200" b="0" i="0" u="none" strike="noStrike" cap="none" dirty="0">
                <a:solidFill>
                  <a:schemeClr val="dk1"/>
                </a:solidFill>
                <a:effectLst/>
                <a:latin typeface="Calibri"/>
                <a:ea typeface="Calibri"/>
                <a:cs typeface="Calibri"/>
                <a:sym typeface="Calibri"/>
              </a:rPr>
              <a:t> or a </a:t>
            </a:r>
            <a:r>
              <a:rPr lang="en-US" sz="1200" b="0" i="0" u="none" strike="noStrike" cap="none" dirty="0" err="1">
                <a:solidFill>
                  <a:schemeClr val="dk1"/>
                </a:solidFill>
                <a:effectLst/>
                <a:latin typeface="Calibri"/>
                <a:ea typeface="Calibri"/>
                <a:cs typeface="Calibri"/>
                <a:sym typeface="Calibri"/>
                <a:hlinkClick r:id="rId3"/>
              </a:rPr>
              <a:t>MeshPhongMaterial</a:t>
            </a:r>
            <a:r>
              <a:rPr lang="en-US" sz="1200" b="0" i="0" u="none" strike="noStrike" cap="none" dirty="0">
                <a:solidFill>
                  <a:schemeClr val="dk1"/>
                </a:solidFill>
                <a:effectLst/>
                <a:latin typeface="Calibri"/>
                <a:ea typeface="Calibri"/>
                <a:cs typeface="Calibri"/>
                <a:sym typeface="Calibri"/>
              </a:rPr>
              <a:t> and setting the color to black (and shininess to 0 for </a:t>
            </a:r>
            <a:r>
              <a:rPr lang="en-US" sz="1200" b="0" i="0" u="none" strike="noStrike" cap="none" dirty="0" err="1">
                <a:solidFill>
                  <a:schemeClr val="dk1"/>
                </a:solidFill>
                <a:effectLst/>
                <a:latin typeface="Calibri"/>
                <a:ea typeface="Calibri"/>
                <a:cs typeface="Calibri"/>
                <a:sym typeface="Calibri"/>
              </a:rPr>
              <a:t>phong</a:t>
            </a:r>
            <a:r>
              <a:rPr lang="en-US" sz="1200" b="0" i="0" u="none" strike="noStrike" cap="none" dirty="0">
                <a:solidFill>
                  <a:schemeClr val="dk1"/>
                </a:solidFill>
                <a:effectLst/>
                <a:latin typeface="Calibri"/>
                <a:ea typeface="Calibri"/>
                <a:cs typeface="Calibri"/>
                <a:sym typeface="Calibri"/>
              </a:rPr>
              <a:t>) ends up looking just like the </a:t>
            </a:r>
            <a:r>
              <a:rPr lang="en-US" sz="1200" b="0" i="0" u="none" strike="noStrike" cap="none" dirty="0" err="1">
                <a:solidFill>
                  <a:schemeClr val="dk1"/>
                </a:solidFill>
                <a:effectLst/>
                <a:latin typeface="Calibri"/>
                <a:ea typeface="Calibri"/>
                <a:cs typeface="Calibri"/>
                <a:sym typeface="Calibri"/>
                <a:hlinkClick r:id="rId5"/>
              </a:rPr>
              <a:t>MeshBasicMaterial</a:t>
            </a:r>
            <a:r>
              <a:rPr lang="en-US" sz="1200" b="0" i="0" u="none" strike="noStrike" cap="none" dirty="0">
                <a:solidFill>
                  <a:schemeClr val="dk1"/>
                </a:solidFill>
                <a:effectLst/>
                <a:latin typeface="Calibri"/>
                <a:ea typeface="Calibri"/>
                <a:cs typeface="Calibri"/>
                <a:sym typeface="Calibri"/>
              </a:rPr>
              <a:t>.</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Why have all 3 when </a:t>
            </a:r>
            <a:r>
              <a:rPr lang="en-US" sz="1200" b="0" i="0" u="none" strike="noStrike" cap="none" dirty="0" err="1">
                <a:solidFill>
                  <a:schemeClr val="dk1"/>
                </a:solidFill>
                <a:effectLst/>
                <a:latin typeface="Calibri"/>
                <a:ea typeface="Calibri"/>
                <a:cs typeface="Calibri"/>
                <a:sym typeface="Calibri"/>
                <a:hlinkClick r:id="rId3"/>
              </a:rPr>
              <a:t>MeshPhongMaterial</a:t>
            </a:r>
            <a:r>
              <a:rPr lang="en-US" sz="1200" b="0" i="0" u="none" strike="noStrike" cap="none" dirty="0">
                <a:solidFill>
                  <a:schemeClr val="dk1"/>
                </a:solidFill>
                <a:effectLst/>
                <a:latin typeface="Calibri"/>
                <a:ea typeface="Calibri"/>
                <a:cs typeface="Calibri"/>
                <a:sym typeface="Calibri"/>
              </a:rPr>
              <a:t> can do the same things as </a:t>
            </a:r>
            <a:r>
              <a:rPr lang="en-US" sz="1200" b="0" i="0" u="none" strike="noStrike" cap="none" dirty="0" err="1">
                <a:solidFill>
                  <a:schemeClr val="dk1"/>
                </a:solidFill>
                <a:effectLst/>
                <a:latin typeface="Calibri"/>
                <a:ea typeface="Calibri"/>
                <a:cs typeface="Calibri"/>
                <a:sym typeface="Calibri"/>
                <a:hlinkClick r:id="rId5"/>
              </a:rPr>
              <a:t>MeshBasicMaterial</a:t>
            </a:r>
            <a:r>
              <a:rPr lang="en-US" sz="1200" b="0" i="0" u="none" strike="noStrike" cap="none" dirty="0">
                <a:solidFill>
                  <a:schemeClr val="dk1"/>
                </a:solidFill>
                <a:effectLst/>
                <a:latin typeface="Calibri"/>
                <a:ea typeface="Calibri"/>
                <a:cs typeface="Calibri"/>
                <a:sym typeface="Calibri"/>
              </a:rPr>
              <a:t> and </a:t>
            </a:r>
            <a:r>
              <a:rPr lang="en-US" sz="1200" b="0" i="0" u="none" strike="noStrike" cap="none" dirty="0" err="1">
                <a:solidFill>
                  <a:schemeClr val="dk1"/>
                </a:solidFill>
                <a:effectLst/>
                <a:latin typeface="Calibri"/>
                <a:ea typeface="Calibri"/>
                <a:cs typeface="Calibri"/>
                <a:sym typeface="Calibri"/>
                <a:hlinkClick r:id="rId4"/>
              </a:rPr>
              <a:t>MeshLambertMaterial</a:t>
            </a:r>
            <a:r>
              <a:rPr lang="en-US" sz="1200" b="0" i="0" u="none" strike="noStrike" cap="none" dirty="0">
                <a:solidFill>
                  <a:schemeClr val="dk1"/>
                </a:solidFill>
                <a:effectLst/>
                <a:latin typeface="Calibri"/>
                <a:ea typeface="Calibri"/>
                <a:cs typeface="Calibri"/>
                <a:sym typeface="Calibri"/>
              </a:rPr>
              <a:t>? The reason is the more sophisticated material takes more GPU power to draw. On a slower GPU like say a mobile phone you might want to reduce the GPU power needed to draw your scene by using one of the less complex materials. It also follows that if you don't need the extra features then use the simplest material. If you don't need the lighting and the specular highlight then use the </a:t>
            </a:r>
            <a:r>
              <a:rPr lang="en-US" sz="1200" b="0" i="0" u="none" strike="noStrike" cap="none" dirty="0" err="1">
                <a:solidFill>
                  <a:schemeClr val="dk1"/>
                </a:solidFill>
                <a:effectLst/>
                <a:latin typeface="Calibri"/>
                <a:ea typeface="Calibri"/>
                <a:cs typeface="Calibri"/>
                <a:sym typeface="Calibri"/>
                <a:hlinkClick r:id="rId5"/>
              </a:rPr>
              <a:t>MeshBasicMaterial</a:t>
            </a:r>
            <a:r>
              <a:rPr lang="en-US" sz="1200" b="0" i="0" u="none" strike="noStrike" cap="none" dirty="0">
                <a:solidFill>
                  <a:schemeClr val="dk1"/>
                </a:solidFill>
                <a:effectLst/>
                <a:latin typeface="Calibri"/>
                <a:ea typeface="Calibri"/>
                <a:cs typeface="Calibri"/>
                <a:sym typeface="Calibri"/>
              </a:rPr>
              <a:t>.</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p:txBody>
      </p:sp>
      <p:sp>
        <p:nvSpPr>
          <p:cNvPr id="143" name="Google Shape;143;p4:notes">
            <a:extLst>
              <a:ext uri="{FF2B5EF4-FFF2-40B4-BE49-F238E27FC236}">
                <a16:creationId xmlns:a16="http://schemas.microsoft.com/office/drawing/2014/main" id="{729B3A0D-6D7C-BAA4-7BE8-A551229827CD}"/>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0E9C0142-8227-55DA-4659-046ADFAD3AC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167279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A761B3F-2082-177A-19ED-3FE4F052957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D8C16632-2A15-D687-6BEA-98CB8318DEE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02E1984E-9B44-29A0-68C7-D6D37EE1871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cap="none" dirty="0">
                <a:solidFill>
                  <a:schemeClr val="dk1"/>
                </a:solidFill>
                <a:effectLst/>
                <a:latin typeface="Calibri"/>
                <a:ea typeface="Calibri"/>
                <a:cs typeface="Calibri"/>
                <a:sym typeface="Calibri"/>
              </a:rPr>
              <a:t>Standard Material:</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At a basic level </a:t>
            </a:r>
            <a:r>
              <a:rPr lang="en-US" sz="1200" b="0" i="0" u="none" strike="noStrike" cap="none" dirty="0">
                <a:solidFill>
                  <a:schemeClr val="dk1"/>
                </a:solidFill>
                <a:effectLst/>
                <a:latin typeface="Calibri"/>
                <a:ea typeface="Calibri"/>
                <a:cs typeface="Calibri"/>
                <a:sym typeface="Calibri"/>
                <a:hlinkClick r:id="rId3"/>
              </a:rPr>
              <a:t>roughness</a:t>
            </a:r>
            <a:r>
              <a:rPr lang="en-US" sz="1200" b="0" i="0" u="none" strike="noStrike" cap="none" dirty="0">
                <a:solidFill>
                  <a:schemeClr val="dk1"/>
                </a:solidFill>
                <a:effectLst/>
                <a:latin typeface="Calibri"/>
                <a:ea typeface="Calibri"/>
                <a:cs typeface="Calibri"/>
                <a:sym typeface="Calibri"/>
              </a:rPr>
              <a:t> is the opposite of shininess. Something that has a high roughness, like a baseball doesn't have hard reflections whereas something that's not rough, like a billiard ball, is very shiny. Roughness goes from 0 to 1.</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The other setting, </a:t>
            </a:r>
            <a:r>
              <a:rPr lang="en-US" sz="1200" b="0" i="0" u="none" strike="noStrike" cap="none" dirty="0" err="1">
                <a:solidFill>
                  <a:schemeClr val="dk1"/>
                </a:solidFill>
                <a:effectLst/>
                <a:latin typeface="Calibri"/>
                <a:ea typeface="Calibri"/>
                <a:cs typeface="Calibri"/>
                <a:sym typeface="Calibri"/>
                <a:hlinkClick r:id="rId4"/>
              </a:rPr>
              <a:t>metalness</a:t>
            </a:r>
            <a:r>
              <a:rPr lang="en-US" sz="1200" b="0" i="0" u="none" strike="noStrike" cap="none" dirty="0">
                <a:solidFill>
                  <a:schemeClr val="dk1"/>
                </a:solidFill>
                <a:effectLst/>
                <a:latin typeface="Calibri"/>
                <a:ea typeface="Calibri"/>
                <a:cs typeface="Calibri"/>
                <a:sym typeface="Calibri"/>
              </a:rPr>
              <a:t>, says how metal the material is. Metals behave differently than non-metals. 0 for non-metal and 1 for metal.</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Here's a quick sample of </a:t>
            </a:r>
            <a:r>
              <a:rPr lang="en-US" sz="1200" b="0" i="0" u="none" strike="noStrike" cap="none" dirty="0" err="1">
                <a:solidFill>
                  <a:schemeClr val="dk1"/>
                </a:solidFill>
                <a:effectLst/>
                <a:latin typeface="Calibri"/>
                <a:ea typeface="Calibri"/>
                <a:cs typeface="Calibri"/>
                <a:sym typeface="Calibri"/>
                <a:hlinkClick r:id="rId5"/>
              </a:rPr>
              <a:t>MeshStandardMaterial</a:t>
            </a:r>
            <a:r>
              <a:rPr lang="en-US" sz="1200" b="0" i="0" u="none" strike="noStrike" cap="none" dirty="0">
                <a:solidFill>
                  <a:schemeClr val="dk1"/>
                </a:solidFill>
                <a:effectLst/>
                <a:latin typeface="Calibri"/>
                <a:ea typeface="Calibri"/>
                <a:cs typeface="Calibri"/>
                <a:sym typeface="Calibri"/>
              </a:rPr>
              <a:t> with roughness from 0 to 1 across and </a:t>
            </a:r>
            <a:r>
              <a:rPr lang="en-US" sz="1200" b="0" i="0" u="none" strike="noStrike" cap="none" dirty="0" err="1">
                <a:solidFill>
                  <a:schemeClr val="dk1"/>
                </a:solidFill>
                <a:effectLst/>
                <a:latin typeface="Calibri"/>
                <a:ea typeface="Calibri"/>
                <a:cs typeface="Calibri"/>
                <a:sym typeface="Calibri"/>
              </a:rPr>
              <a:t>metalness</a:t>
            </a:r>
            <a:r>
              <a:rPr lang="en-US" sz="1200" b="0" i="0" u="none" strike="noStrike" cap="none" dirty="0">
                <a:solidFill>
                  <a:schemeClr val="dk1"/>
                </a:solidFill>
                <a:effectLst/>
                <a:latin typeface="Calibri"/>
                <a:ea typeface="Calibri"/>
                <a:cs typeface="Calibri"/>
                <a:sym typeface="Calibri"/>
              </a:rPr>
              <a:t> from 0 to 1 down.</a:t>
            </a:r>
          </a:p>
          <a:p>
            <a:pPr marL="171450" lvl="0" indent="-171450" algn="l" rtl="0">
              <a:spcBef>
                <a:spcPts val="0"/>
              </a:spcBef>
              <a:spcAft>
                <a:spcPts val="0"/>
              </a:spcAft>
              <a:buFontTx/>
              <a:buChar char="-"/>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FontTx/>
              <a:buNone/>
            </a:pPr>
            <a:r>
              <a:rPr lang="en-US" sz="1200" b="1" i="0" u="none" strike="noStrike" cap="none" dirty="0">
                <a:solidFill>
                  <a:schemeClr val="dk1"/>
                </a:solidFill>
                <a:effectLst/>
                <a:latin typeface="Calibri"/>
                <a:ea typeface="Calibri"/>
                <a:cs typeface="Calibri"/>
                <a:sym typeface="Calibri"/>
              </a:rPr>
              <a:t>Physical Material:</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The </a:t>
            </a:r>
            <a:r>
              <a:rPr lang="en-US" sz="1200" b="0" i="0" u="none" strike="noStrike" cap="none" dirty="0" err="1">
                <a:solidFill>
                  <a:schemeClr val="dk1"/>
                </a:solidFill>
                <a:effectLst/>
                <a:latin typeface="Calibri"/>
                <a:ea typeface="Calibri"/>
                <a:cs typeface="Calibri"/>
                <a:sym typeface="Calibri"/>
                <a:hlinkClick r:id="rId6"/>
              </a:rPr>
              <a:t>MeshPhysicalMaterial</a:t>
            </a:r>
            <a:r>
              <a:rPr lang="en-US" sz="1200" b="0" i="0" u="none" strike="noStrike" cap="none" dirty="0">
                <a:solidFill>
                  <a:schemeClr val="dk1"/>
                </a:solidFill>
                <a:effectLst/>
                <a:latin typeface="Calibri"/>
                <a:ea typeface="Calibri"/>
                <a:cs typeface="Calibri"/>
                <a:sym typeface="Calibri"/>
              </a:rPr>
              <a:t> is same as the </a:t>
            </a:r>
            <a:r>
              <a:rPr lang="en-US" sz="1200" b="0" i="0" u="none" strike="noStrike" cap="none" dirty="0" err="1">
                <a:solidFill>
                  <a:schemeClr val="dk1"/>
                </a:solidFill>
                <a:effectLst/>
                <a:latin typeface="Calibri"/>
                <a:ea typeface="Calibri"/>
                <a:cs typeface="Calibri"/>
                <a:sym typeface="Calibri"/>
                <a:hlinkClick r:id="rId5"/>
              </a:rPr>
              <a:t>MeshStandardMaterial</a:t>
            </a:r>
            <a:r>
              <a:rPr lang="en-US" sz="1200" b="0" i="0" u="none" strike="noStrike" cap="none" dirty="0">
                <a:solidFill>
                  <a:schemeClr val="dk1"/>
                </a:solidFill>
                <a:effectLst/>
                <a:latin typeface="Calibri"/>
                <a:ea typeface="Calibri"/>
                <a:cs typeface="Calibri"/>
                <a:sym typeface="Calibri"/>
              </a:rPr>
              <a:t> but it adds a clearcoat parameter that goes from 0 to 1 for how much to apply a clearcoat gloss layer and a </a:t>
            </a:r>
            <a:r>
              <a:rPr lang="en-US" sz="1200" b="0" i="0" u="none" strike="noStrike" cap="none" dirty="0" err="1">
                <a:solidFill>
                  <a:schemeClr val="dk1"/>
                </a:solidFill>
                <a:effectLst/>
                <a:latin typeface="Calibri"/>
                <a:ea typeface="Calibri"/>
                <a:cs typeface="Calibri"/>
                <a:sym typeface="Calibri"/>
              </a:rPr>
              <a:t>clearCoatRoughness</a:t>
            </a:r>
            <a:r>
              <a:rPr lang="en-US" sz="1200" b="0" i="0" u="none" strike="noStrike" cap="none" dirty="0">
                <a:solidFill>
                  <a:schemeClr val="dk1"/>
                </a:solidFill>
                <a:effectLst/>
                <a:latin typeface="Calibri"/>
                <a:ea typeface="Calibri"/>
                <a:cs typeface="Calibri"/>
                <a:sym typeface="Calibri"/>
              </a:rPr>
              <a:t> parameter that specifies how rough the gloss layer is.</a:t>
            </a:r>
            <a:br>
              <a:rPr lang="en-US" dirty="0"/>
            </a:b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p:txBody>
      </p:sp>
      <p:sp>
        <p:nvSpPr>
          <p:cNvPr id="143" name="Google Shape;143;p4:notes">
            <a:extLst>
              <a:ext uri="{FF2B5EF4-FFF2-40B4-BE49-F238E27FC236}">
                <a16:creationId xmlns:a16="http://schemas.microsoft.com/office/drawing/2014/main" id="{B2923399-F53A-1EC8-FF00-8FB9D0E21D45}"/>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377B5B2B-6A1B-D3F2-7349-7779E3BE8AF6}"/>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90390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E9E4FA4-5D46-BBD7-A564-851F36839999}"/>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4F15C7E-1B13-8D7F-A2CD-A132C2FA5C3C}"/>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5AF2943-6E2A-1DDF-3E5D-D98A560671C7}"/>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03E956FF-6891-7976-C9C3-212EEF7413E3}"/>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E379A933-06DC-DF3E-2272-82166794ADD4}"/>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95716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26E7332-C35E-4644-9B83-8DD5DD26BA0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8E1642C7-F05A-1BD7-A0A6-A76881FB59E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9084F06-FFE8-16C9-151B-4FFECD9D676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vi-VN" dirty="0"/>
              <a:t>Shader system trong Three.js là các chương trình nhỏ chạy trên GPU, kiểm soát cách các điểm ảnh và đỉnh được hiển thị, giúp định nghĩa ánh sáng, màu sắc và hiệu ứng vật liệu ở mức thấp. Three.js cung cấp shader tích hợp cho các vật liệu chuẩn, đồng thời cho phép bạn tạo shader tùy chỉnh bằng </a:t>
            </a:r>
            <a:r>
              <a:rPr lang="vi-VN" sz="1200" b="0" i="0" u="none" strike="noStrike" cap="none" dirty="0">
                <a:solidFill>
                  <a:schemeClr val="dk1"/>
                </a:solidFill>
                <a:latin typeface="Calibri"/>
                <a:ea typeface="Calibri"/>
                <a:cs typeface="Calibri"/>
                <a:sym typeface="Calibri"/>
              </a:rPr>
              <a:t>ShaderMaterial</a:t>
            </a:r>
            <a:r>
              <a:rPr lang="vi-VN" dirty="0"/>
              <a:t> để tạo hiệu ứng nâng cao.</a:t>
            </a: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96FC7EDF-BC95-E93A-5D1F-603A0698DAC6}"/>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4C272117-51B2-2751-22E2-DC40F65A43E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633962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0BFEA765-C8E5-08F6-03B3-649BF64134FB}"/>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67135A92-5661-353C-87A0-33C6A4868DC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E7E20B84-E249-562D-77D2-CFA4B991D5A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486DAE9B-FCBB-95AE-EAF4-9861E9462B4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6859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BD9EB7F-9694-F89E-B225-54D33D17BFC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CCB4BBF2-C7AF-56EB-A669-9DA5630F692C}"/>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4:notes">
            <a:extLst>
              <a:ext uri="{FF2B5EF4-FFF2-40B4-BE49-F238E27FC236}">
                <a16:creationId xmlns:a16="http://schemas.microsoft.com/office/drawing/2014/main" id="{4A9BBF11-FC94-9C79-40EA-7CD479453B7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r>
              <a:rPr lang="en-US" sz="1200" b="1" i="0" u="none" strike="noStrike" cap="none" dirty="0">
                <a:solidFill>
                  <a:schemeClr val="dk1"/>
                </a:solidFill>
                <a:effectLst/>
                <a:latin typeface="Calibri"/>
                <a:ea typeface="Calibri"/>
                <a:cs typeface="Calibri"/>
                <a:sym typeface="Calibri"/>
              </a:rPr>
              <a:t>Hemisphere Light:</a:t>
            </a:r>
          </a:p>
          <a:p>
            <a:pPr marL="171450" lvl="0" indent="-171450" algn="l" rtl="0">
              <a:spcBef>
                <a:spcPts val="0"/>
              </a:spcBef>
              <a:spcAft>
                <a:spcPts val="0"/>
              </a:spcAft>
              <a:buFontTx/>
              <a:buChar char="-"/>
            </a:pPr>
            <a:r>
              <a:rPr lang="en-US" dirty="0"/>
              <a:t>The sky color if the surface of the object is pointing up and the ground color if the surface of the object is pointing down.</a:t>
            </a:r>
            <a:endParaRPr lang="en-US" sz="1050" b="1"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Notice again there is almost no definition, everything looks kind of flat. The </a:t>
            </a:r>
            <a:r>
              <a:rPr lang="en-US" sz="1200" b="0" i="0" u="none" strike="noStrike" cap="none" dirty="0" err="1">
                <a:solidFill>
                  <a:schemeClr val="dk1"/>
                </a:solidFill>
                <a:effectLst/>
                <a:latin typeface="Calibri"/>
                <a:ea typeface="Calibri"/>
                <a:cs typeface="Calibri"/>
                <a:sym typeface="Calibri"/>
                <a:hlinkClick r:id="rId3"/>
              </a:rPr>
              <a:t>HemisphereLight</a:t>
            </a:r>
            <a:r>
              <a:rPr lang="en-US" sz="1200" b="0" i="0" u="none" strike="noStrike" cap="none" dirty="0">
                <a:solidFill>
                  <a:schemeClr val="dk1"/>
                </a:solidFill>
                <a:effectLst/>
                <a:latin typeface="Calibri"/>
                <a:ea typeface="Calibri"/>
                <a:cs typeface="Calibri"/>
                <a:sym typeface="Calibri"/>
              </a:rPr>
              <a:t> used in combination with another light can help give a nice kind of influence of the color of the sky and ground.</a:t>
            </a:r>
          </a:p>
          <a:p>
            <a:pPr marL="171450" lvl="0" indent="-171450" algn="l" rtl="0">
              <a:spcBef>
                <a:spcPts val="0"/>
              </a:spcBef>
              <a:spcAft>
                <a:spcPts val="0"/>
              </a:spcAft>
              <a:buFontTx/>
              <a:buChar char="-"/>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FontTx/>
              <a:buNone/>
            </a:pPr>
            <a:r>
              <a:rPr lang="en-US" sz="1200" b="1" i="0" u="none" strike="noStrike" cap="none" dirty="0">
                <a:solidFill>
                  <a:schemeClr val="dk1"/>
                </a:solidFill>
                <a:effectLst/>
                <a:latin typeface="Calibri"/>
                <a:ea typeface="Calibri"/>
                <a:cs typeface="Calibri"/>
                <a:sym typeface="Calibri"/>
              </a:rPr>
              <a:t>Point Light:</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A </a:t>
            </a:r>
            <a:r>
              <a:rPr lang="en-US" sz="1200" b="0" i="0" u="none" strike="noStrike" cap="none" dirty="0" err="1">
                <a:solidFill>
                  <a:schemeClr val="dk1"/>
                </a:solidFill>
                <a:effectLst/>
                <a:latin typeface="Calibri"/>
                <a:ea typeface="Calibri"/>
                <a:cs typeface="Calibri"/>
                <a:sym typeface="Calibri"/>
                <a:hlinkClick r:id="rId4"/>
              </a:rPr>
              <a:t>PointLight</a:t>
            </a:r>
            <a:r>
              <a:rPr lang="en-US" sz="1200" b="0" i="0" u="none" strike="noStrike" cap="none" dirty="0">
                <a:solidFill>
                  <a:schemeClr val="dk1"/>
                </a:solidFill>
                <a:effectLst/>
                <a:latin typeface="Calibri"/>
                <a:ea typeface="Calibri"/>
                <a:cs typeface="Calibri"/>
                <a:sym typeface="Calibri"/>
              </a:rPr>
              <a:t> has the added property of </a:t>
            </a:r>
            <a:r>
              <a:rPr lang="en-US" sz="1200" b="0" i="0" u="none" strike="noStrike" cap="none" dirty="0">
                <a:solidFill>
                  <a:schemeClr val="dk1"/>
                </a:solidFill>
                <a:effectLst/>
                <a:latin typeface="Calibri"/>
                <a:ea typeface="Calibri"/>
                <a:cs typeface="Calibri"/>
                <a:sym typeface="Calibri"/>
                <a:hlinkClick r:id="rId5"/>
              </a:rPr>
              <a:t>distance</a:t>
            </a:r>
            <a:r>
              <a:rPr lang="en-US" sz="1200" b="0" i="0" u="none" strike="noStrike" cap="none" dirty="0">
                <a:solidFill>
                  <a:schemeClr val="dk1"/>
                </a:solidFill>
                <a:effectLst/>
                <a:latin typeface="Calibri"/>
                <a:ea typeface="Calibri"/>
                <a:cs typeface="Calibri"/>
                <a:sym typeface="Calibri"/>
              </a:rPr>
              <a:t>. If the distance is 0 then the </a:t>
            </a:r>
            <a:r>
              <a:rPr lang="en-US" sz="1200" b="0" i="0" u="none" strike="noStrike" cap="none" dirty="0" err="1">
                <a:solidFill>
                  <a:schemeClr val="dk1"/>
                </a:solidFill>
                <a:effectLst/>
                <a:latin typeface="Calibri"/>
                <a:ea typeface="Calibri"/>
                <a:cs typeface="Calibri"/>
                <a:sym typeface="Calibri"/>
                <a:hlinkClick r:id="rId4"/>
              </a:rPr>
              <a:t>PointLight</a:t>
            </a:r>
            <a:r>
              <a:rPr lang="en-US" sz="1200" b="0" i="0" u="none" strike="noStrike" cap="none" dirty="0">
                <a:solidFill>
                  <a:schemeClr val="dk1"/>
                </a:solidFill>
                <a:effectLst/>
                <a:latin typeface="Calibri"/>
                <a:ea typeface="Calibri"/>
                <a:cs typeface="Calibri"/>
                <a:sym typeface="Calibri"/>
              </a:rPr>
              <a:t> shines to infinity. If the distance is greater than 0 then the light shines its full intensity at the light and fades to no influence at distance units away from the light.</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Notice when distance is &gt; 0 how the light fades out.</a:t>
            </a:r>
          </a:p>
          <a:p>
            <a:pPr marL="171450" lvl="0" indent="-171450" algn="l" rtl="0">
              <a:spcBef>
                <a:spcPts val="0"/>
              </a:spcBef>
              <a:spcAft>
                <a:spcPts val="0"/>
              </a:spcAft>
              <a:buFontTx/>
              <a:buChar char="-"/>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FontTx/>
              <a:buNone/>
            </a:pPr>
            <a:r>
              <a:rPr lang="en-US" sz="1200" b="1" i="0" u="none" strike="noStrike" cap="none" dirty="0">
                <a:solidFill>
                  <a:schemeClr val="dk1"/>
                </a:solidFill>
                <a:effectLst/>
                <a:latin typeface="Calibri"/>
                <a:ea typeface="Calibri"/>
                <a:cs typeface="Calibri"/>
                <a:sym typeface="Calibri"/>
              </a:rPr>
              <a:t>Spot Light:</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There's actually 2 cones. An outer cone and an inner cone. Between the inner cone and the outer cone the light fades from full intensity to zero.</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To use a </a:t>
            </a:r>
            <a:r>
              <a:rPr lang="en-US" sz="1200" b="0" i="0" u="none" strike="noStrike" cap="none" dirty="0" err="1">
                <a:solidFill>
                  <a:schemeClr val="dk1"/>
                </a:solidFill>
                <a:effectLst/>
                <a:latin typeface="Calibri"/>
                <a:ea typeface="Calibri"/>
                <a:cs typeface="Calibri"/>
                <a:sym typeface="Calibri"/>
                <a:hlinkClick r:id="rId6"/>
              </a:rPr>
              <a:t>SpotLight</a:t>
            </a:r>
            <a:r>
              <a:rPr lang="en-US" sz="1200" b="0" i="0" u="none" strike="noStrike" cap="none" dirty="0">
                <a:solidFill>
                  <a:schemeClr val="dk1"/>
                </a:solidFill>
                <a:effectLst/>
                <a:latin typeface="Calibri"/>
                <a:ea typeface="Calibri"/>
                <a:cs typeface="Calibri"/>
                <a:sym typeface="Calibri"/>
              </a:rPr>
              <a:t> we need a target just like the directional light. The light's cone will open toward the target.</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The inner cone is defined by setting the </a:t>
            </a:r>
            <a:r>
              <a:rPr lang="en-US" sz="1200" b="0" i="0" u="none" strike="noStrike" cap="none" dirty="0">
                <a:solidFill>
                  <a:schemeClr val="dk1"/>
                </a:solidFill>
                <a:effectLst/>
                <a:latin typeface="Calibri"/>
                <a:ea typeface="Calibri"/>
                <a:cs typeface="Calibri"/>
                <a:sym typeface="Calibri"/>
                <a:hlinkClick r:id="rId7"/>
              </a:rPr>
              <a:t>penumbra</a:t>
            </a:r>
            <a:r>
              <a:rPr lang="en-US" sz="1200" b="0" i="0" u="none" strike="noStrike" cap="none" dirty="0">
                <a:solidFill>
                  <a:schemeClr val="dk1"/>
                </a:solidFill>
                <a:effectLst/>
                <a:latin typeface="Calibri"/>
                <a:ea typeface="Calibri"/>
                <a:cs typeface="Calibri"/>
                <a:sym typeface="Calibri"/>
              </a:rPr>
              <a:t> property as a percentage from the outer cone. In other words when penumbra is 0 then the inner cone is the same size (0 = no difference) from the outer cone. When the penumbra is 1 then the light fades starting in the center of the cone to the outer cone. When penumbra is .5 then the light fades starting from 50% between the center of the outer cone.</a:t>
            </a:r>
          </a:p>
          <a:p>
            <a:pPr marL="171450" lvl="0" indent="-171450" algn="l" rtl="0">
              <a:spcBef>
                <a:spcPts val="0"/>
              </a:spcBef>
              <a:spcAft>
                <a:spcPts val="0"/>
              </a:spcAft>
              <a:buFontTx/>
              <a:buChar char="-"/>
            </a:pPr>
            <a:r>
              <a:rPr lang="en-US" sz="1200" b="0" i="0" u="none" strike="noStrike" cap="none" dirty="0">
                <a:solidFill>
                  <a:schemeClr val="dk1"/>
                </a:solidFill>
                <a:effectLst/>
                <a:latin typeface="Calibri"/>
                <a:ea typeface="Calibri"/>
                <a:cs typeface="Calibri"/>
                <a:sym typeface="Calibri"/>
              </a:rPr>
              <a:t>Notice with the default penumbra of 0 the spotlight has a very sharp edge whereas as you adjust the penumbra toward 1 the edge blurs.</a:t>
            </a:r>
            <a:endParaRPr lang="en-US" sz="1200" b="1"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FontTx/>
              <a:buNone/>
            </a:pP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FontTx/>
              <a:buNone/>
            </a:pP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Tx/>
              <a:buChar char="-"/>
            </a:pPr>
            <a:endParaRPr lang="en-US" sz="1200" b="1" i="0" u="none" strike="noStrike" cap="none" dirty="0">
              <a:solidFill>
                <a:schemeClr val="dk1"/>
              </a:solidFill>
              <a:effectLst/>
              <a:latin typeface="Calibri"/>
              <a:ea typeface="Calibri"/>
              <a:cs typeface="Calibri"/>
              <a:sym typeface="Calibri"/>
            </a:endParaRPr>
          </a:p>
        </p:txBody>
      </p:sp>
      <p:sp>
        <p:nvSpPr>
          <p:cNvPr id="143" name="Google Shape;143;p4:notes">
            <a:extLst>
              <a:ext uri="{FF2B5EF4-FFF2-40B4-BE49-F238E27FC236}">
                <a16:creationId xmlns:a16="http://schemas.microsoft.com/office/drawing/2014/main" id="{B527EE2C-B6CF-2AC5-38CC-AEB9C516A8BA}"/>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44" name="Google Shape;144;p4:notes">
            <a:extLst>
              <a:ext uri="{FF2B5EF4-FFF2-40B4-BE49-F238E27FC236}">
                <a16:creationId xmlns:a16="http://schemas.microsoft.com/office/drawing/2014/main" id="{4479574C-375F-CD66-8855-BABA3983191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822151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0"/>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0"/>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30"/>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0"/>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4" name="Google Shape;24;p30"/>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30"/>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30"/>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30"/>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31"/>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1"/>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rgbClr val="888888"/>
                </a:solidFill>
              </a:defRPr>
            </a:lvl1pPr>
            <a:lvl2pPr marL="914400" lvl="1" indent="-228600" algn="l">
              <a:spcBef>
                <a:spcPts val="500"/>
              </a:spcBef>
              <a:spcAft>
                <a:spcPts val="0"/>
              </a:spcAft>
              <a:buSzPts val="1368"/>
              <a:buNone/>
              <a:defRPr sz="1800">
                <a:solidFill>
                  <a:srgbClr val="888888"/>
                </a:solidFill>
              </a:defRPr>
            </a:lvl2pPr>
            <a:lvl3pPr marL="1371600" lvl="2" indent="-228600" algn="l">
              <a:spcBef>
                <a:spcPts val="500"/>
              </a:spcBef>
              <a:spcAft>
                <a:spcPts val="0"/>
              </a:spcAft>
              <a:buSzPts val="1216"/>
              <a:buNone/>
              <a:defRPr sz="1600">
                <a:solidFill>
                  <a:srgbClr val="888888"/>
                </a:solidFill>
              </a:defRPr>
            </a:lvl3pPr>
            <a:lvl4pPr marL="1828800" lvl="3" indent="-228600" algn="l">
              <a:spcBef>
                <a:spcPts val="400"/>
              </a:spcBef>
              <a:spcAft>
                <a:spcPts val="0"/>
              </a:spcAft>
              <a:buSzPts val="980"/>
              <a:buNone/>
              <a:defRPr sz="1400">
                <a:solidFill>
                  <a:srgbClr val="888888"/>
                </a:solidFill>
              </a:defRPr>
            </a:lvl4pPr>
            <a:lvl5pPr marL="2286000" lvl="4" indent="-228600" algn="l">
              <a:spcBef>
                <a:spcPts val="300"/>
              </a:spcBef>
              <a:spcAft>
                <a:spcPts val="0"/>
              </a:spcAft>
              <a:buSzPts val="980"/>
              <a:buNone/>
              <a:defRPr sz="1400">
                <a:solidFill>
                  <a:srgbClr val="888888"/>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1" name="Google Shape;31;p31"/>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1"/>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1"/>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4" name="Google Shape;34;p31"/>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5" name="Google Shape;35;p31"/>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2"/>
          <p:cNvSpPr txBox="1">
            <a:spLocks noGrp="1"/>
          </p:cNvSpPr>
          <p:nvPr>
            <p:ph type="dt" idx="10"/>
          </p:nvPr>
        </p:nvSpPr>
        <p:spPr>
          <a:xfrm>
            <a:off x="609600" y="6353304"/>
            <a:ext cx="2289048" cy="369072"/>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solidFill>
                  <a:srgbClr val="BFBFB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2"/>
          <p:cNvSpPr txBox="1">
            <a:spLocks noGrp="1"/>
          </p:cNvSpPr>
          <p:nvPr>
            <p:ph type="sldNum" idx="12"/>
          </p:nvPr>
        </p:nvSpPr>
        <p:spPr>
          <a:xfrm>
            <a:off x="6705600" y="6356340"/>
            <a:ext cx="1981200" cy="34926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400" b="0" i="0" u="none" strike="noStrike" cap="none">
                <a:solidFill>
                  <a:schemeClr val="dk2"/>
                </a:solidFill>
                <a:latin typeface="Gill Sans"/>
                <a:ea typeface="Gill Sans"/>
                <a:cs typeface="Gill Sans"/>
                <a:sym typeface="Gill Sans"/>
              </a:defRPr>
            </a:lvl1pPr>
            <a:lvl2pPr marL="0" lvl="1" indent="0" algn="r">
              <a:spcBef>
                <a:spcPts val="0"/>
              </a:spcBef>
              <a:buNone/>
              <a:defRPr sz="1400" b="0" i="0" u="none" strike="noStrike" cap="none">
                <a:solidFill>
                  <a:schemeClr val="dk2"/>
                </a:solidFill>
                <a:latin typeface="Gill Sans"/>
                <a:ea typeface="Gill Sans"/>
                <a:cs typeface="Gill Sans"/>
                <a:sym typeface="Gill Sans"/>
              </a:defRPr>
            </a:lvl2pPr>
            <a:lvl3pPr marL="0" lvl="2" indent="0" algn="r">
              <a:spcBef>
                <a:spcPts val="0"/>
              </a:spcBef>
              <a:buNone/>
              <a:defRPr sz="1400" b="0" i="0" u="none" strike="noStrike" cap="none">
                <a:solidFill>
                  <a:schemeClr val="dk2"/>
                </a:solidFill>
                <a:latin typeface="Gill Sans"/>
                <a:ea typeface="Gill Sans"/>
                <a:cs typeface="Gill Sans"/>
                <a:sym typeface="Gill Sans"/>
              </a:defRPr>
            </a:lvl3pPr>
            <a:lvl4pPr marL="0" lvl="3" indent="0" algn="r">
              <a:spcBef>
                <a:spcPts val="0"/>
              </a:spcBef>
              <a:buNone/>
              <a:defRPr sz="1400" b="0" i="0" u="none" strike="noStrike" cap="none">
                <a:solidFill>
                  <a:schemeClr val="dk2"/>
                </a:solidFill>
                <a:latin typeface="Gill Sans"/>
                <a:ea typeface="Gill Sans"/>
                <a:cs typeface="Gill Sans"/>
                <a:sym typeface="Gill Sans"/>
              </a:defRPr>
            </a:lvl4pPr>
            <a:lvl5pPr marL="0" lvl="4" indent="0" algn="r">
              <a:spcBef>
                <a:spcPts val="0"/>
              </a:spcBef>
              <a:buNone/>
              <a:defRPr sz="1400" b="0" i="0" u="none" strike="noStrike" cap="none">
                <a:solidFill>
                  <a:schemeClr val="dk2"/>
                </a:solidFill>
                <a:latin typeface="Gill Sans"/>
                <a:ea typeface="Gill Sans"/>
                <a:cs typeface="Gill Sans"/>
                <a:sym typeface="Gill Sans"/>
              </a:defRPr>
            </a:lvl5pPr>
            <a:lvl6pPr marL="0" lvl="5" indent="0" algn="r">
              <a:spcBef>
                <a:spcPts val="0"/>
              </a:spcBef>
              <a:buNone/>
              <a:defRPr sz="1400" b="0" i="0" u="none" strike="noStrike" cap="none">
                <a:solidFill>
                  <a:schemeClr val="dk2"/>
                </a:solidFill>
                <a:latin typeface="Gill Sans"/>
                <a:ea typeface="Gill Sans"/>
                <a:cs typeface="Gill Sans"/>
                <a:sym typeface="Gill Sans"/>
              </a:defRPr>
            </a:lvl6pPr>
            <a:lvl7pPr marL="0" lvl="6" indent="0" algn="r">
              <a:spcBef>
                <a:spcPts val="0"/>
              </a:spcBef>
              <a:buNone/>
              <a:defRPr sz="1400" b="0" i="0" u="none" strike="noStrike" cap="none">
                <a:solidFill>
                  <a:schemeClr val="dk2"/>
                </a:solidFill>
                <a:latin typeface="Gill Sans"/>
                <a:ea typeface="Gill Sans"/>
                <a:cs typeface="Gill Sans"/>
                <a:sym typeface="Gill Sans"/>
              </a:defRPr>
            </a:lvl7pPr>
            <a:lvl8pPr marL="0" lvl="7" indent="0" algn="r">
              <a:spcBef>
                <a:spcPts val="0"/>
              </a:spcBef>
              <a:buNone/>
              <a:defRPr sz="1400" b="0" i="0" u="none" strike="noStrike" cap="none">
                <a:solidFill>
                  <a:schemeClr val="dk2"/>
                </a:solidFill>
                <a:latin typeface="Gill Sans"/>
                <a:ea typeface="Gill Sans"/>
                <a:cs typeface="Gill Sans"/>
                <a:sym typeface="Gill Sans"/>
              </a:defRPr>
            </a:lvl8pPr>
            <a:lvl9pPr marL="0" lvl="8" indent="0" algn="r">
              <a:spcBef>
                <a:spcPts val="0"/>
              </a:spcBef>
              <a:buNone/>
              <a:defRPr sz="1400" b="0" i="0" u="none" strike="noStrike" cap="none">
                <a:solidFill>
                  <a:schemeClr val="dk2"/>
                </a:solidFill>
                <a:latin typeface="Gill Sans"/>
                <a:ea typeface="Gill Sans"/>
                <a:cs typeface="Gill Sans"/>
                <a:sym typeface="Gill Sans"/>
              </a:defRPr>
            </a:lvl9pPr>
          </a:lstStyle>
          <a:p>
            <a:pPr marL="0" lvl="0" indent="0" algn="r" rtl="0">
              <a:spcBef>
                <a:spcPts val="0"/>
              </a:spcBef>
              <a:spcAft>
                <a:spcPts val="0"/>
              </a:spcAft>
              <a:buNone/>
            </a:pPr>
            <a:endParaRPr/>
          </a:p>
        </p:txBody>
      </p:sp>
      <p:sp>
        <p:nvSpPr>
          <p:cNvPr id="41" name="Google Shape;41;p32"/>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34"/>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4"/>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6" name="Google Shape;56;p34"/>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34"/>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5"/>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3" name="Google Shape;63;p35"/>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3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36"/>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36"/>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37"/>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7"/>
          <p:cNvSpPr txBox="1">
            <a:spLocks noGrp="1"/>
          </p:cNvSpPr>
          <p:nvPr>
            <p:ph type="body" idx="1"/>
          </p:nvPr>
        </p:nvSpPr>
        <p:spPr>
          <a:xfrm>
            <a:off x="6324600" y="1219200"/>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3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37"/>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37"/>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37"/>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37"/>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0"/>
        <p:cNvGrpSpPr/>
        <p:nvPr/>
      </p:nvGrpSpPr>
      <p:grpSpPr>
        <a:xfrm>
          <a:off x="0" y="0"/>
          <a:ext cx="0" cy="0"/>
          <a:chOff x="0" y="0"/>
          <a:chExt cx="0" cy="0"/>
        </a:xfrm>
      </p:grpSpPr>
      <p:sp>
        <p:nvSpPr>
          <p:cNvPr id="81" name="Google Shape;81;p38"/>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dk1"/>
              </a:buClr>
              <a:buSzPts val="2000"/>
              <a:buFont typeface="Bookman Old Style"/>
              <a:buNone/>
              <a:defRPr sz="2000" b="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8"/>
          <p:cNvSpPr>
            <a:spLocks noGrp="1"/>
          </p:cNvSpPr>
          <p:nvPr>
            <p:ph type="pic" idx="2"/>
          </p:nvPr>
        </p:nvSpPr>
        <p:spPr>
          <a:xfrm>
            <a:off x="457200" y="1905000"/>
            <a:ext cx="8229600" cy="4270248"/>
          </a:xfrm>
          <a:prstGeom prst="rect">
            <a:avLst/>
          </a:prstGeom>
          <a:solidFill>
            <a:schemeClr val="dk1"/>
          </a:solidFill>
          <a:ln>
            <a:noFill/>
          </a:ln>
        </p:spPr>
      </p:sp>
      <p:sp>
        <p:nvSpPr>
          <p:cNvPr id="83" name="Google Shape;83;p38"/>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3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38"/>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38"/>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38"/>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9"/>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3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4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40"/>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40"/>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40"/>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2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8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2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29"/>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2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threejs.org/docs/#api/en/materials/MeshBasicMaterial" TargetMode="External"/><Relationship Id="rId7" Type="http://schemas.openxmlformats.org/officeDocument/2006/relationships/hyperlink" Target="https://threejs.org/docs/#api/en/materials/MeshPhysicalMaterial"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hyperlink" Target="https://threejs.org/docs/#api/en/materials/MeshStandardMaterial" TargetMode="External"/><Relationship Id="rId5" Type="http://schemas.openxmlformats.org/officeDocument/2006/relationships/hyperlink" Target="https://threejs.org/docs/#api/en/materials/MeshPhongMaterial" TargetMode="External"/><Relationship Id="rId4" Type="http://schemas.openxmlformats.org/officeDocument/2006/relationships/hyperlink" Target="https://threejs.org/docs/#api/en/materials/MeshLambertMateria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hreejs.org/docs/#api/en/lights/AmbientLight"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threejs.org/docs/#api/en/lights/PointLight" TargetMode="External"/><Relationship Id="rId5" Type="http://schemas.openxmlformats.org/officeDocument/2006/relationships/hyperlink" Target="https://threejs.org/docs/#api/en/lights/DirectionalLight" TargetMode="External"/><Relationship Id="rId4" Type="http://schemas.openxmlformats.org/officeDocument/2006/relationships/hyperlink" Target="https://threejs.org/docs/#api/en/lights/HemisphereLigh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1219200" y="3886200"/>
            <a:ext cx="6934200" cy="990600"/>
          </a:xfrm>
          <a:prstGeom prst="rect">
            <a:avLst/>
          </a:prstGeom>
          <a:noFill/>
          <a:ln>
            <a:noFill/>
          </a:ln>
        </p:spPr>
        <p:txBody>
          <a:bodyPr spcFirstLastPara="1" wrap="square" lIns="91425" tIns="45700" rIns="91425" bIns="45700" anchor="t" anchorCtr="0">
            <a:noAutofit/>
          </a:bodyPr>
          <a:lstStyle/>
          <a:p>
            <a:pPr lvl="0">
              <a:buSzPts val="3000"/>
            </a:pPr>
            <a:r>
              <a:rPr lang="en-US" sz="3000" dirty="0"/>
              <a:t>CTE 2059 - Computer Graphic</a:t>
            </a:r>
            <a:br>
              <a:rPr lang="en-US" sz="3000" dirty="0"/>
            </a:br>
            <a:r>
              <a:rPr lang="en-US" sz="3000" dirty="0"/>
              <a:t>Lecture 2 – Materials &amp; Lights</a:t>
            </a:r>
            <a:endParaRPr sz="3000" dirty="0"/>
          </a:p>
        </p:txBody>
      </p:sp>
      <p:sp>
        <p:nvSpPr>
          <p:cNvPr id="112" name="Google Shape;112;p1"/>
          <p:cNvSpPr txBox="1">
            <a:spLocks noGrp="1"/>
          </p:cNvSpPr>
          <p:nvPr>
            <p:ph type="subTitle" idx="1"/>
          </p:nvPr>
        </p:nvSpPr>
        <p:spPr>
          <a:xfrm>
            <a:off x="1143000" y="5029200"/>
            <a:ext cx="7086600" cy="685800"/>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dirty="0">
                <a:solidFill>
                  <a:schemeClr val="dk1"/>
                </a:solidFill>
                <a:latin typeface="Cambria"/>
                <a:ea typeface="Cambria"/>
                <a:cs typeface="Cambria"/>
                <a:sym typeface="Cambria"/>
              </a:rPr>
              <a:t>University of Engineering and Technology</a:t>
            </a:r>
          </a:p>
          <a:p>
            <a:pPr marL="0" lvl="0" indent="0"/>
            <a:r>
              <a:rPr lang="en-US" dirty="0">
                <a:solidFill>
                  <a:schemeClr val="dk1"/>
                </a:solidFill>
                <a:latin typeface="Cambria"/>
                <a:ea typeface="Cambria"/>
                <a:sym typeface="Cambria"/>
              </a:rPr>
              <a:t>VIETNAM NATIONAL UNIVERSITY, HANOI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8848204ce3_0_96"/>
          <p:cNvSpPr txBox="1">
            <a:spLocks noGrp="1"/>
          </p:cNvSpPr>
          <p:nvPr>
            <p:ph type="title"/>
          </p:nvPr>
        </p:nvSpPr>
        <p:spPr>
          <a:xfrm>
            <a:off x="457200" y="152400"/>
            <a:ext cx="8229600" cy="990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Outline</a:t>
            </a:r>
            <a:endParaRPr/>
          </a:p>
        </p:txBody>
      </p:sp>
      <p:sp>
        <p:nvSpPr>
          <p:cNvPr id="119" name="Google Shape;119;g38848204ce3_0_96"/>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lvl="0">
              <a:spcBef>
                <a:spcPts val="0"/>
              </a:spcBef>
            </a:pPr>
            <a:r>
              <a:rPr lang="en-US" sz="2400" b="1" dirty="0"/>
              <a:t>Getting Started</a:t>
            </a:r>
          </a:p>
          <a:p>
            <a:pPr lvl="1">
              <a:spcBef>
                <a:spcPts val="0"/>
              </a:spcBef>
            </a:pPr>
            <a:r>
              <a:rPr lang="en-US" sz="2000" dirty="0"/>
              <a:t>Reviewing Assignment 1</a:t>
            </a:r>
          </a:p>
          <a:p>
            <a:pPr lvl="1">
              <a:spcBef>
                <a:spcPts val="0"/>
              </a:spcBef>
            </a:pPr>
            <a:r>
              <a:rPr lang="en-US" sz="2000" dirty="0"/>
              <a:t>Installation</a:t>
            </a:r>
          </a:p>
          <a:p>
            <a:pPr marL="457200" lvl="0" indent="-315468" algn="l" rtl="0">
              <a:spcBef>
                <a:spcPts val="0"/>
              </a:spcBef>
              <a:spcAft>
                <a:spcPts val="0"/>
              </a:spcAft>
              <a:buSzPts val="1368"/>
              <a:buChar char="🞂"/>
            </a:pPr>
            <a:r>
              <a:rPr lang="en-US" sz="2400" b="1" dirty="0"/>
              <a:t>Materials</a:t>
            </a:r>
          </a:p>
          <a:p>
            <a:pPr lvl="1">
              <a:spcBef>
                <a:spcPts val="0"/>
              </a:spcBef>
            </a:pPr>
            <a:r>
              <a:rPr lang="en-US" sz="2000" dirty="0"/>
              <a:t>How to set material properties?</a:t>
            </a:r>
          </a:p>
          <a:p>
            <a:pPr lvl="1">
              <a:spcBef>
                <a:spcPts val="0"/>
              </a:spcBef>
            </a:pPr>
            <a:r>
              <a:rPr lang="en-US" sz="2000" dirty="0"/>
              <a:t>Commonly used types of material</a:t>
            </a:r>
          </a:p>
          <a:p>
            <a:pPr lvl="1">
              <a:spcBef>
                <a:spcPts val="0"/>
              </a:spcBef>
            </a:pPr>
            <a:r>
              <a:rPr lang="en-US" sz="2000" dirty="0"/>
              <a:t>Other types of material</a:t>
            </a:r>
          </a:p>
          <a:p>
            <a:pPr marL="457200" lvl="0" indent="-315468" algn="l" rtl="0">
              <a:spcBef>
                <a:spcPts val="0"/>
              </a:spcBef>
              <a:spcAft>
                <a:spcPts val="0"/>
              </a:spcAft>
              <a:buSzPts val="1368"/>
              <a:buChar char="🞂"/>
            </a:pPr>
            <a:r>
              <a:rPr lang="en-US" sz="2400" b="1" dirty="0"/>
              <a:t>Lights</a:t>
            </a:r>
          </a:p>
          <a:p>
            <a:pPr lvl="1">
              <a:spcBef>
                <a:spcPts val="0"/>
              </a:spcBef>
            </a:pPr>
            <a:r>
              <a:rPr lang="en-US" sz="2100" dirty="0"/>
              <a:t>Commonly used types of light</a:t>
            </a:r>
          </a:p>
        </p:txBody>
      </p:sp>
      <p:sp>
        <p:nvSpPr>
          <p:cNvPr id="3" name="Slide Number Placeholder 2">
            <a:extLst>
              <a:ext uri="{FF2B5EF4-FFF2-40B4-BE49-F238E27FC236}">
                <a16:creationId xmlns:a16="http://schemas.microsoft.com/office/drawing/2014/main" id="{74317003-EBEA-9A4F-45E5-043B1E3A5283}"/>
              </a:ext>
            </a:extLst>
          </p:cNvPr>
          <p:cNvSpPr>
            <a:spLocks noGrp="1"/>
          </p:cNvSpPr>
          <p:nvPr>
            <p:ph type="sldNum" idx="12"/>
          </p:nvPr>
        </p:nvSpPr>
        <p:spPr/>
        <p:txBody>
          <a:bodyPr/>
          <a:lstStyle/>
          <a:p>
            <a:pPr marL="0" lvl="0" indent="0" algn="r" rtl="0">
              <a:spcBef>
                <a:spcPts val="0"/>
              </a:spcBef>
              <a:spcAft>
                <a:spcPts val="0"/>
              </a:spcAft>
              <a:buNone/>
            </a:pPr>
            <a:r>
              <a:rPr lang="en-US"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B71CDE8D-0AB8-F4B6-B5DC-B89DBC4DB41F}"/>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6A082B44-AD99-4326-7163-8925182B5DD4}"/>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Getting Started</a:t>
            </a:r>
            <a:endParaRPr dirty="0"/>
          </a:p>
        </p:txBody>
      </p:sp>
      <p:sp>
        <p:nvSpPr>
          <p:cNvPr id="126" name="Google Shape;126;p2">
            <a:extLst>
              <a:ext uri="{FF2B5EF4-FFF2-40B4-BE49-F238E27FC236}">
                <a16:creationId xmlns:a16="http://schemas.microsoft.com/office/drawing/2014/main" id="{9BAD3AD8-3231-B169-F538-D9951DEF3F5A}"/>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4" name="Slide Number Placeholder 3">
            <a:extLst>
              <a:ext uri="{FF2B5EF4-FFF2-40B4-BE49-F238E27FC236}">
                <a16:creationId xmlns:a16="http://schemas.microsoft.com/office/drawing/2014/main" id="{4CFA1DE5-9444-E256-9F4D-E48C5397ADA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73797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F039324-9B43-F2AE-67CB-56B64C79215E}"/>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873D605-D0F4-2EDD-C5A3-524CF60AC775}"/>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dirty="0"/>
              <a:t>Installation</a:t>
            </a:r>
            <a:endParaRPr dirty="0"/>
          </a:p>
        </p:txBody>
      </p:sp>
      <p:sp>
        <p:nvSpPr>
          <p:cNvPr id="138" name="Google Shape;138;p3">
            <a:extLst>
              <a:ext uri="{FF2B5EF4-FFF2-40B4-BE49-F238E27FC236}">
                <a16:creationId xmlns:a16="http://schemas.microsoft.com/office/drawing/2014/main" id="{969670E5-13A2-54B5-2689-3C5565386C7F}"/>
              </a:ext>
            </a:extLst>
          </p:cNvPr>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Autofit/>
          </a:bodyPr>
          <a:lstStyle/>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2000" b="1" dirty="0"/>
              <a:t>Open </a:t>
            </a:r>
            <a:r>
              <a:rPr lang="en-US" sz="2000" b="1" dirty="0" err="1"/>
              <a:t>VSCode</a:t>
            </a:r>
            <a:r>
              <a:rPr lang="en-US" sz="2000" b="1" dirty="0"/>
              <a:t> and create a new folder</a:t>
            </a:r>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2000" b="1" dirty="0"/>
              <a:t>Download the source code for Lecture 2 from the UET Portal</a:t>
            </a:r>
            <a:endParaRPr lang="en-US" sz="2000" dirty="0"/>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r>
              <a:rPr lang="en-US" sz="2000" b="1" dirty="0"/>
              <a:t>Open a terminal and type the following command:</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err="1"/>
              <a:t>npm</a:t>
            </a:r>
            <a:r>
              <a:rPr lang="en-US" sz="1700" dirty="0"/>
              <a:t> install </a:t>
            </a:r>
            <a:r>
              <a:rPr lang="en-US" sz="1700" dirty="0" err="1"/>
              <a:t>lil-gui</a:t>
            </a:r>
            <a:endParaRPr lang="en-US" sz="1700" dirty="0"/>
          </a:p>
          <a:p>
            <a:pPr indent="-457200" algn="just">
              <a:lnSpc>
                <a:spcPct val="150000"/>
              </a:lnSpc>
              <a:buClr>
                <a:schemeClr val="accent4">
                  <a:lumMod val="75000"/>
                </a:schemeClr>
              </a:buClr>
              <a:buSzPts val="1976"/>
              <a:buFont typeface="Wingdings" panose="05000000000000000000" pitchFamily="2" charset="2"/>
              <a:buChar char="q"/>
            </a:pPr>
            <a:r>
              <a:rPr lang="en-US" sz="2000" b="1" dirty="0"/>
              <a:t>Run the source code. You should see a webpage with two tabs:</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Materials</a:t>
            </a:r>
          </a:p>
          <a:p>
            <a:pPr lvl="1" indent="-457200" algn="just">
              <a:lnSpc>
                <a:spcPct val="150000"/>
              </a:lnSpc>
              <a:buClr>
                <a:schemeClr val="accent4">
                  <a:lumMod val="75000"/>
                </a:schemeClr>
              </a:buClr>
              <a:buSzPts val="1976"/>
              <a:buFont typeface="Wingdings" panose="05000000000000000000" pitchFamily="2" charset="2"/>
              <a:buChar char="q"/>
            </a:pPr>
            <a:r>
              <a:rPr lang="en-US" sz="1700" dirty="0"/>
              <a:t>Lights</a:t>
            </a:r>
          </a:p>
        </p:txBody>
      </p:sp>
      <p:sp>
        <p:nvSpPr>
          <p:cNvPr id="3" name="Slide Number Placeholder 2">
            <a:extLst>
              <a:ext uri="{FF2B5EF4-FFF2-40B4-BE49-F238E27FC236}">
                <a16:creationId xmlns:a16="http://schemas.microsoft.com/office/drawing/2014/main" id="{71120C1D-0606-742F-EADA-2FC1C52EA1F5}"/>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pic>
        <p:nvPicPr>
          <p:cNvPr id="4" name="Picture 3">
            <a:extLst>
              <a:ext uri="{FF2B5EF4-FFF2-40B4-BE49-F238E27FC236}">
                <a16:creationId xmlns:a16="http://schemas.microsoft.com/office/drawing/2014/main" id="{136EF752-FBCF-1FCF-DBB2-58C3640D83AA}"/>
              </a:ext>
            </a:extLst>
          </p:cNvPr>
          <p:cNvPicPr>
            <a:picLocks noChangeAspect="1"/>
          </p:cNvPicPr>
          <p:nvPr/>
        </p:nvPicPr>
        <p:blipFill>
          <a:blip r:embed="rId3"/>
          <a:stretch>
            <a:fillRect/>
          </a:stretch>
        </p:blipFill>
        <p:spPr>
          <a:xfrm>
            <a:off x="3938494" y="3860956"/>
            <a:ext cx="4350869" cy="2296004"/>
          </a:xfrm>
          <a:prstGeom prst="rect">
            <a:avLst/>
          </a:prstGeom>
        </p:spPr>
      </p:pic>
    </p:spTree>
    <p:extLst>
      <p:ext uri="{BB962C8B-B14F-4D97-AF65-F5344CB8AC3E}">
        <p14:creationId xmlns:p14="http://schemas.microsoft.com/office/powerpoint/2010/main" val="342172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7065FD35-E86A-5FD5-06D1-1F1C4EE73A58}"/>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888B1380-106D-6975-2288-4CA700F15FE5}"/>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Materials</a:t>
            </a:r>
            <a:endParaRPr dirty="0"/>
          </a:p>
        </p:txBody>
      </p:sp>
      <p:sp>
        <p:nvSpPr>
          <p:cNvPr id="126" name="Google Shape;126;p2">
            <a:extLst>
              <a:ext uri="{FF2B5EF4-FFF2-40B4-BE49-F238E27FC236}">
                <a16:creationId xmlns:a16="http://schemas.microsoft.com/office/drawing/2014/main" id="{79918B0D-05F7-92F4-7E62-FDBEEA155BF9}"/>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4" name="Slide Number Placeholder 3">
            <a:extLst>
              <a:ext uri="{FF2B5EF4-FFF2-40B4-BE49-F238E27FC236}">
                <a16:creationId xmlns:a16="http://schemas.microsoft.com/office/drawing/2014/main" id="{12F15D5C-24CE-371F-4CAA-0CA4AE30F53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222352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BEEFA3F2-BD5A-3DD6-D03F-C9BCE0816ECF}"/>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B7C8CD70-088D-831A-6DE5-EF3205A5E5E9}"/>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How to set material properties</a:t>
            </a:r>
            <a:endParaRPr dirty="0"/>
          </a:p>
        </p:txBody>
      </p:sp>
      <p:sp>
        <p:nvSpPr>
          <p:cNvPr id="149" name="Google Shape;149;p4">
            <a:extLst>
              <a:ext uri="{FF2B5EF4-FFF2-40B4-BE49-F238E27FC236}">
                <a16:creationId xmlns:a16="http://schemas.microsoft.com/office/drawing/2014/main" id="{87B2506C-E709-1104-EF79-AC62B6CB1154}"/>
              </a:ext>
            </a:extLst>
          </p:cNvPr>
          <p:cNvSpPr txBox="1">
            <a:spLocks noGrp="1"/>
          </p:cNvSpPr>
          <p:nvPr>
            <p:ph type="body" idx="1"/>
          </p:nvPr>
        </p:nvSpPr>
        <p:spPr>
          <a:xfrm>
            <a:off x="410307" y="1205131"/>
            <a:ext cx="8229600" cy="729177"/>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Materials define how object will appear in the scene. </a:t>
            </a:r>
          </a:p>
          <a:p>
            <a:pPr marL="0" lvl="0" indent="0" algn="just" rtl="0">
              <a:spcBef>
                <a:spcPts val="0"/>
              </a:spcBef>
              <a:spcAft>
                <a:spcPts val="0"/>
              </a:spcAft>
              <a:buSzPts val="1976"/>
              <a:buNone/>
            </a:pPr>
            <a:r>
              <a:rPr lang="en-US" sz="2000" dirty="0"/>
              <a:t>There are 2 ways to set most material properties.</a:t>
            </a:r>
            <a:endParaRPr sz="2000" dirty="0"/>
          </a:p>
        </p:txBody>
      </p:sp>
      <p:sp>
        <p:nvSpPr>
          <p:cNvPr id="9" name="Slide Number Placeholder 8">
            <a:extLst>
              <a:ext uri="{FF2B5EF4-FFF2-40B4-BE49-F238E27FC236}">
                <a16:creationId xmlns:a16="http://schemas.microsoft.com/office/drawing/2014/main" id="{11B3514C-A5AF-574D-30FE-127A4049BD36}"/>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pic>
        <p:nvPicPr>
          <p:cNvPr id="3" name="Picture 2">
            <a:extLst>
              <a:ext uri="{FF2B5EF4-FFF2-40B4-BE49-F238E27FC236}">
                <a16:creationId xmlns:a16="http://schemas.microsoft.com/office/drawing/2014/main" id="{8F2B49DB-B5C7-059A-55C2-914D6FF3A96E}"/>
              </a:ext>
            </a:extLst>
          </p:cNvPr>
          <p:cNvPicPr>
            <a:picLocks noChangeAspect="1"/>
          </p:cNvPicPr>
          <p:nvPr/>
        </p:nvPicPr>
        <p:blipFill>
          <a:blip r:embed="rId3"/>
          <a:stretch>
            <a:fillRect/>
          </a:stretch>
        </p:blipFill>
        <p:spPr>
          <a:xfrm>
            <a:off x="527538" y="2370330"/>
            <a:ext cx="5464013" cy="1379340"/>
          </a:xfrm>
          <a:prstGeom prst="rect">
            <a:avLst/>
          </a:prstGeom>
        </p:spPr>
      </p:pic>
      <p:pic>
        <p:nvPicPr>
          <p:cNvPr id="5" name="Picture 4">
            <a:extLst>
              <a:ext uri="{FF2B5EF4-FFF2-40B4-BE49-F238E27FC236}">
                <a16:creationId xmlns:a16="http://schemas.microsoft.com/office/drawing/2014/main" id="{846056CC-C1AD-46E3-5263-C3FC68D5F3FE}"/>
              </a:ext>
            </a:extLst>
          </p:cNvPr>
          <p:cNvPicPr>
            <a:picLocks noChangeAspect="1"/>
          </p:cNvPicPr>
          <p:nvPr/>
        </p:nvPicPr>
        <p:blipFill>
          <a:blip r:embed="rId4"/>
          <a:stretch>
            <a:fillRect/>
          </a:stretch>
        </p:blipFill>
        <p:spPr>
          <a:xfrm>
            <a:off x="527538" y="4779543"/>
            <a:ext cx="4419983" cy="1432684"/>
          </a:xfrm>
          <a:prstGeom prst="rect">
            <a:avLst/>
          </a:prstGeom>
        </p:spPr>
      </p:pic>
      <p:sp>
        <p:nvSpPr>
          <p:cNvPr id="6" name="Google Shape;149;p4">
            <a:extLst>
              <a:ext uri="{FF2B5EF4-FFF2-40B4-BE49-F238E27FC236}">
                <a16:creationId xmlns:a16="http://schemas.microsoft.com/office/drawing/2014/main" id="{61123715-35B9-5FB5-5D6F-6DF8C94EC046}"/>
              </a:ext>
            </a:extLst>
          </p:cNvPr>
          <p:cNvSpPr txBox="1">
            <a:spLocks/>
          </p:cNvSpPr>
          <p:nvPr/>
        </p:nvSpPr>
        <p:spPr>
          <a:xfrm>
            <a:off x="457200" y="4050366"/>
            <a:ext cx="8229600" cy="72917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indent="0" algn="just">
              <a:spcBef>
                <a:spcPts val="0"/>
              </a:spcBef>
              <a:buSzPts val="1976"/>
              <a:buFont typeface="Noto Sans Symbols"/>
              <a:buNone/>
            </a:pPr>
            <a:r>
              <a:rPr lang="en-US" sz="2000" b="1" dirty="0"/>
              <a:t>After creation time: </a:t>
            </a:r>
            <a:r>
              <a:rPr lang="en-US" sz="2000" dirty="0"/>
              <a:t>Ideal for dynamic updates (e.g., animations, runtime conditions).</a:t>
            </a:r>
            <a:endParaRPr lang="en-US" sz="2000" b="1" dirty="0"/>
          </a:p>
        </p:txBody>
      </p:sp>
      <p:sp>
        <p:nvSpPr>
          <p:cNvPr id="7" name="Google Shape;149;p4">
            <a:extLst>
              <a:ext uri="{FF2B5EF4-FFF2-40B4-BE49-F238E27FC236}">
                <a16:creationId xmlns:a16="http://schemas.microsoft.com/office/drawing/2014/main" id="{7C65614E-D376-DBB0-85E9-C1D2D48E84BE}"/>
              </a:ext>
            </a:extLst>
          </p:cNvPr>
          <p:cNvSpPr txBox="1">
            <a:spLocks/>
          </p:cNvSpPr>
          <p:nvPr/>
        </p:nvSpPr>
        <p:spPr>
          <a:xfrm>
            <a:off x="457200" y="1967131"/>
            <a:ext cx="8229600" cy="72917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indent="0" algn="just">
              <a:spcBef>
                <a:spcPts val="0"/>
              </a:spcBef>
              <a:buSzPts val="1976"/>
              <a:buFont typeface="Noto Sans Symbols"/>
              <a:buNone/>
            </a:pPr>
            <a:r>
              <a:rPr lang="en-US" sz="2000" b="1" dirty="0"/>
              <a:t>At creation time: </a:t>
            </a:r>
            <a:r>
              <a:rPr lang="en-US" sz="2000" dirty="0"/>
              <a:t>Best for static or default values that won’t change.</a:t>
            </a:r>
            <a:endParaRPr lang="en-US" sz="2000" b="1" dirty="0"/>
          </a:p>
        </p:txBody>
      </p:sp>
    </p:spTree>
    <p:extLst>
      <p:ext uri="{BB962C8B-B14F-4D97-AF65-F5344CB8AC3E}">
        <p14:creationId xmlns:p14="http://schemas.microsoft.com/office/powerpoint/2010/main" val="291608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B0E5E08B-94BE-4F1F-47DA-F58E012F2C19}"/>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40C33FDF-5841-7FD7-D5B7-092DAA4D4317}"/>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Commonly used types of material</a:t>
            </a:r>
            <a:endParaRPr dirty="0"/>
          </a:p>
        </p:txBody>
      </p:sp>
      <p:sp>
        <p:nvSpPr>
          <p:cNvPr id="9" name="Slide Number Placeholder 8">
            <a:extLst>
              <a:ext uri="{FF2B5EF4-FFF2-40B4-BE49-F238E27FC236}">
                <a16:creationId xmlns:a16="http://schemas.microsoft.com/office/drawing/2014/main" id="{BA7601B3-2B29-4C30-76AE-A62B3DBB145E}"/>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pic>
        <p:nvPicPr>
          <p:cNvPr id="3" name="Picture 2">
            <a:extLst>
              <a:ext uri="{FF2B5EF4-FFF2-40B4-BE49-F238E27FC236}">
                <a16:creationId xmlns:a16="http://schemas.microsoft.com/office/drawing/2014/main" id="{29B5E1A9-F4BB-D473-33F5-6300C68825E2}"/>
              </a:ext>
            </a:extLst>
          </p:cNvPr>
          <p:cNvPicPr>
            <a:picLocks noChangeAspect="1"/>
          </p:cNvPicPr>
          <p:nvPr/>
        </p:nvPicPr>
        <p:blipFill>
          <a:blip r:embed="rId3"/>
          <a:stretch>
            <a:fillRect/>
          </a:stretch>
        </p:blipFill>
        <p:spPr>
          <a:xfrm>
            <a:off x="140448" y="3137607"/>
            <a:ext cx="4320000" cy="2725180"/>
          </a:xfrm>
          <a:prstGeom prst="rect">
            <a:avLst/>
          </a:prstGeom>
        </p:spPr>
      </p:pic>
      <p:pic>
        <p:nvPicPr>
          <p:cNvPr id="6" name="Picture 5">
            <a:extLst>
              <a:ext uri="{FF2B5EF4-FFF2-40B4-BE49-F238E27FC236}">
                <a16:creationId xmlns:a16="http://schemas.microsoft.com/office/drawing/2014/main" id="{A6F25455-CCB3-A4EB-E2D0-A175C77C99AF}"/>
              </a:ext>
            </a:extLst>
          </p:cNvPr>
          <p:cNvPicPr>
            <a:picLocks noChangeAspect="1"/>
          </p:cNvPicPr>
          <p:nvPr/>
        </p:nvPicPr>
        <p:blipFill>
          <a:blip r:embed="rId4"/>
          <a:stretch>
            <a:fillRect/>
          </a:stretch>
        </p:blipFill>
        <p:spPr>
          <a:xfrm>
            <a:off x="4632583" y="3137607"/>
            <a:ext cx="4320000" cy="1213932"/>
          </a:xfrm>
          <a:prstGeom prst="rect">
            <a:avLst/>
          </a:prstGeom>
        </p:spPr>
      </p:pic>
      <p:pic>
        <p:nvPicPr>
          <p:cNvPr id="10" name="Picture 9">
            <a:extLst>
              <a:ext uri="{FF2B5EF4-FFF2-40B4-BE49-F238E27FC236}">
                <a16:creationId xmlns:a16="http://schemas.microsoft.com/office/drawing/2014/main" id="{2F9396F2-81EC-2E3E-5739-1F247C300F9E}"/>
              </a:ext>
            </a:extLst>
          </p:cNvPr>
          <p:cNvPicPr>
            <a:picLocks noChangeAspect="1"/>
          </p:cNvPicPr>
          <p:nvPr/>
        </p:nvPicPr>
        <p:blipFill>
          <a:blip r:embed="rId5"/>
          <a:stretch>
            <a:fillRect/>
          </a:stretch>
        </p:blipFill>
        <p:spPr>
          <a:xfrm>
            <a:off x="4632583" y="4389704"/>
            <a:ext cx="4320000" cy="1473083"/>
          </a:xfrm>
          <a:prstGeom prst="rect">
            <a:avLst/>
          </a:prstGeom>
        </p:spPr>
      </p:pic>
      <p:sp>
        <p:nvSpPr>
          <p:cNvPr id="12" name="Google Shape;149;p4">
            <a:extLst>
              <a:ext uri="{FF2B5EF4-FFF2-40B4-BE49-F238E27FC236}">
                <a16:creationId xmlns:a16="http://schemas.microsoft.com/office/drawing/2014/main" id="{A155E730-1274-0A4E-8BCE-34C5D2B6F926}"/>
              </a:ext>
            </a:extLst>
          </p:cNvPr>
          <p:cNvSpPr txBox="1">
            <a:spLocks noGrp="1"/>
          </p:cNvSpPr>
          <p:nvPr>
            <p:ph type="body" idx="1"/>
          </p:nvPr>
        </p:nvSpPr>
        <p:spPr>
          <a:xfrm>
            <a:off x="410307" y="1205131"/>
            <a:ext cx="8229600" cy="182494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There are 3 commonly used non-PBR materials: Basic, Lambert, and Phong</a:t>
            </a:r>
          </a:p>
          <a:p>
            <a:pPr marL="342900" lvl="0" indent="-342900" algn="just" rtl="0">
              <a:spcBef>
                <a:spcPts val="0"/>
              </a:spcBef>
              <a:spcAft>
                <a:spcPts val="0"/>
              </a:spcAft>
              <a:buSzPts val="1976"/>
              <a:buFont typeface="Arial" panose="020B0604020202020204" pitchFamily="34" charset="0"/>
              <a:buChar char="•"/>
            </a:pPr>
            <a:r>
              <a:rPr lang="en-US" sz="2000" b="1" dirty="0"/>
              <a:t>Basic Material </a:t>
            </a:r>
            <a:r>
              <a:rPr lang="en-US" sz="2000" dirty="0"/>
              <a:t>is not affected by lights</a:t>
            </a:r>
          </a:p>
          <a:p>
            <a:pPr marL="342900" lvl="0" indent="-342900" algn="just" rtl="0">
              <a:spcBef>
                <a:spcPts val="0"/>
              </a:spcBef>
              <a:spcAft>
                <a:spcPts val="0"/>
              </a:spcAft>
              <a:buSzPts val="1976"/>
              <a:buFont typeface="Arial" panose="020B0604020202020204" pitchFamily="34" charset="0"/>
              <a:buChar char="•"/>
            </a:pPr>
            <a:r>
              <a:rPr lang="en-US" sz="2000" b="1" dirty="0"/>
              <a:t>Lambert Material </a:t>
            </a:r>
            <a:r>
              <a:rPr lang="en-US" sz="2000" dirty="0"/>
              <a:t>computes lighting only at the vertices</a:t>
            </a:r>
          </a:p>
          <a:p>
            <a:pPr marL="342900" lvl="0" indent="-342900" algn="just" rtl="0">
              <a:spcBef>
                <a:spcPts val="0"/>
              </a:spcBef>
              <a:spcAft>
                <a:spcPts val="0"/>
              </a:spcAft>
              <a:buSzPts val="1976"/>
              <a:buFont typeface="Arial" panose="020B0604020202020204" pitchFamily="34" charset="0"/>
              <a:buChar char="•"/>
            </a:pPr>
            <a:r>
              <a:rPr lang="en-US" sz="2000" b="1" dirty="0"/>
              <a:t>Phong Material </a:t>
            </a:r>
            <a:r>
              <a:rPr lang="en-US" sz="2000" dirty="0"/>
              <a:t>computes lighting at every pixel and support specular highlights.</a:t>
            </a:r>
            <a:endParaRPr sz="2000" dirty="0"/>
          </a:p>
        </p:txBody>
      </p:sp>
    </p:spTree>
    <p:extLst>
      <p:ext uri="{BB962C8B-B14F-4D97-AF65-F5344CB8AC3E}">
        <p14:creationId xmlns:p14="http://schemas.microsoft.com/office/powerpoint/2010/main" val="3462122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C880FB99-26C2-17C4-E32A-9E8624B4D65D}"/>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6F9DBDE5-19C6-370D-C50C-A49B00EC7E3A}"/>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Commonly used types of material</a:t>
            </a:r>
            <a:endParaRPr dirty="0"/>
          </a:p>
        </p:txBody>
      </p:sp>
      <p:sp>
        <p:nvSpPr>
          <p:cNvPr id="9" name="Slide Number Placeholder 8">
            <a:extLst>
              <a:ext uri="{FF2B5EF4-FFF2-40B4-BE49-F238E27FC236}">
                <a16:creationId xmlns:a16="http://schemas.microsoft.com/office/drawing/2014/main" id="{D72A499B-0A2A-765D-AFA5-5951D0249E4B}"/>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sp>
        <p:nvSpPr>
          <p:cNvPr id="12" name="Google Shape;149;p4">
            <a:extLst>
              <a:ext uri="{FF2B5EF4-FFF2-40B4-BE49-F238E27FC236}">
                <a16:creationId xmlns:a16="http://schemas.microsoft.com/office/drawing/2014/main" id="{F42F1DBF-7B5B-BB8C-1E49-EB37AB0B1D89}"/>
              </a:ext>
            </a:extLst>
          </p:cNvPr>
          <p:cNvSpPr txBox="1">
            <a:spLocks noGrp="1"/>
          </p:cNvSpPr>
          <p:nvPr>
            <p:ph type="body" idx="1"/>
          </p:nvPr>
        </p:nvSpPr>
        <p:spPr>
          <a:xfrm>
            <a:off x="410307" y="1205131"/>
            <a:ext cx="8229600" cy="182494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There are 2 commonly used PBR materials: Standard, Physical</a:t>
            </a:r>
          </a:p>
          <a:p>
            <a:pPr marL="342900" lvl="0" indent="-342900" algn="just" rtl="0">
              <a:spcBef>
                <a:spcPts val="0"/>
              </a:spcBef>
              <a:spcAft>
                <a:spcPts val="0"/>
              </a:spcAft>
              <a:buSzPts val="1976"/>
              <a:buFont typeface="Arial" panose="020B0604020202020204" pitchFamily="34" charset="0"/>
              <a:buChar char="•"/>
            </a:pPr>
            <a:r>
              <a:rPr lang="en-US" sz="2000" b="1" dirty="0"/>
              <a:t>Standard Material </a:t>
            </a:r>
            <a:r>
              <a:rPr lang="en-US" sz="2000" dirty="0"/>
              <a:t>has 2 settings </a:t>
            </a:r>
            <a:r>
              <a:rPr lang="en-US" sz="2000" b="1" dirty="0"/>
              <a:t>roughness </a:t>
            </a:r>
            <a:r>
              <a:rPr lang="en-US" sz="2000" dirty="0"/>
              <a:t>and </a:t>
            </a:r>
            <a:r>
              <a:rPr lang="en-US" sz="2000" b="1" dirty="0" err="1"/>
              <a:t>metalness</a:t>
            </a:r>
            <a:endParaRPr lang="en-US" sz="2000" dirty="0"/>
          </a:p>
          <a:p>
            <a:pPr marL="342900" lvl="0" indent="-342900" algn="just" rtl="0">
              <a:spcBef>
                <a:spcPts val="0"/>
              </a:spcBef>
              <a:spcAft>
                <a:spcPts val="0"/>
              </a:spcAft>
              <a:buSzPts val="1976"/>
              <a:buFont typeface="Arial" panose="020B0604020202020204" pitchFamily="34" charset="0"/>
              <a:buChar char="•"/>
            </a:pPr>
            <a:r>
              <a:rPr lang="en-US" sz="2000" b="1" dirty="0"/>
              <a:t>Physical Material </a:t>
            </a:r>
            <a:r>
              <a:rPr lang="en-US" sz="2000" dirty="0"/>
              <a:t>is same as </a:t>
            </a:r>
            <a:r>
              <a:rPr lang="en-US" sz="2000" b="1" dirty="0"/>
              <a:t>Standard Material</a:t>
            </a:r>
            <a:r>
              <a:rPr lang="en-US" sz="2000" dirty="0"/>
              <a:t>, but it adds a clearcoat gloss layer.</a:t>
            </a:r>
          </a:p>
        </p:txBody>
      </p:sp>
      <p:pic>
        <p:nvPicPr>
          <p:cNvPr id="4" name="Picture 3">
            <a:extLst>
              <a:ext uri="{FF2B5EF4-FFF2-40B4-BE49-F238E27FC236}">
                <a16:creationId xmlns:a16="http://schemas.microsoft.com/office/drawing/2014/main" id="{69A2035F-0FEF-2534-E0DF-2A12D6B3E59A}"/>
              </a:ext>
            </a:extLst>
          </p:cNvPr>
          <p:cNvPicPr>
            <a:picLocks noChangeAspect="1"/>
          </p:cNvPicPr>
          <p:nvPr/>
        </p:nvPicPr>
        <p:blipFill>
          <a:blip r:embed="rId3"/>
          <a:stretch>
            <a:fillRect/>
          </a:stretch>
        </p:blipFill>
        <p:spPr>
          <a:xfrm>
            <a:off x="252000" y="2827332"/>
            <a:ext cx="4320000" cy="3133521"/>
          </a:xfrm>
          <a:prstGeom prst="rect">
            <a:avLst/>
          </a:prstGeom>
        </p:spPr>
      </p:pic>
      <p:pic>
        <p:nvPicPr>
          <p:cNvPr id="7" name="Picture 6">
            <a:extLst>
              <a:ext uri="{FF2B5EF4-FFF2-40B4-BE49-F238E27FC236}">
                <a16:creationId xmlns:a16="http://schemas.microsoft.com/office/drawing/2014/main" id="{785582BE-5409-2F94-DC4C-2D88E11FF87A}"/>
              </a:ext>
            </a:extLst>
          </p:cNvPr>
          <p:cNvPicPr>
            <a:picLocks/>
          </p:cNvPicPr>
          <p:nvPr/>
        </p:nvPicPr>
        <p:blipFill>
          <a:blip r:embed="rId4"/>
          <a:stretch>
            <a:fillRect/>
          </a:stretch>
        </p:blipFill>
        <p:spPr>
          <a:xfrm>
            <a:off x="4730308" y="2827331"/>
            <a:ext cx="4320000" cy="3132000"/>
          </a:xfrm>
          <a:prstGeom prst="rect">
            <a:avLst/>
          </a:prstGeom>
        </p:spPr>
      </p:pic>
    </p:spTree>
    <p:extLst>
      <p:ext uri="{BB962C8B-B14F-4D97-AF65-F5344CB8AC3E}">
        <p14:creationId xmlns:p14="http://schemas.microsoft.com/office/powerpoint/2010/main" val="205851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5835D421-CCEA-5FA7-0601-74A93ADAF35D}"/>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2EA0455D-078A-032B-977A-B7B0E4F0A914}"/>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Commonly used types of material</a:t>
            </a:r>
            <a:endParaRPr dirty="0"/>
          </a:p>
        </p:txBody>
      </p:sp>
      <p:sp>
        <p:nvSpPr>
          <p:cNvPr id="138" name="Google Shape;138;p3">
            <a:extLst>
              <a:ext uri="{FF2B5EF4-FFF2-40B4-BE49-F238E27FC236}">
                <a16:creationId xmlns:a16="http://schemas.microsoft.com/office/drawing/2014/main" id="{A3F41271-11EF-9D34-BF00-CCEE7477B9A4}"/>
              </a:ext>
            </a:extLst>
          </p:cNvPr>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Autofit/>
          </a:bodyPr>
          <a:lstStyle/>
          <a:p>
            <a:pPr lvl="0" indent="-457200" algn="just">
              <a:lnSpc>
                <a:spcPct val="150000"/>
              </a:lnSpc>
              <a:buClr>
                <a:schemeClr val="accent4">
                  <a:lumMod val="75000"/>
                </a:schemeClr>
              </a:buClr>
              <a:buSzPts val="1976"/>
              <a:buFont typeface="Wingdings" panose="05000000000000000000" pitchFamily="2" charset="2"/>
              <a:buChar char="q"/>
            </a:pPr>
            <a:r>
              <a:rPr lang="en-US" dirty="0"/>
              <a:t>The various standard materials progress from fastest to slowest </a:t>
            </a:r>
          </a:p>
          <a:p>
            <a:pPr marL="0" lvl="0" indent="0" algn="ctr">
              <a:lnSpc>
                <a:spcPct val="150000"/>
              </a:lnSpc>
              <a:buClr>
                <a:schemeClr val="accent4">
                  <a:lumMod val="75000"/>
                </a:schemeClr>
              </a:buClr>
              <a:buSzPts val="1976"/>
              <a:buNone/>
            </a:pPr>
            <a:r>
              <a:rPr lang="en-US" dirty="0">
                <a:hlinkClick r:id="rId3"/>
              </a:rPr>
              <a:t>Basic</a:t>
            </a:r>
            <a:r>
              <a:rPr lang="en-US" dirty="0"/>
              <a:t> ➡ </a:t>
            </a:r>
            <a:r>
              <a:rPr lang="en-US" dirty="0">
                <a:hlinkClick r:id="rId4"/>
              </a:rPr>
              <a:t>Lambert</a:t>
            </a:r>
            <a:r>
              <a:rPr lang="en-US" dirty="0"/>
              <a:t> ➡ </a:t>
            </a:r>
            <a:r>
              <a:rPr lang="en-US" dirty="0">
                <a:hlinkClick r:id="rId5"/>
              </a:rPr>
              <a:t>Phong</a:t>
            </a:r>
            <a:r>
              <a:rPr lang="en-US" dirty="0"/>
              <a:t> ➡ </a:t>
            </a:r>
            <a:r>
              <a:rPr lang="en-US" dirty="0">
                <a:hlinkClick r:id="rId6"/>
              </a:rPr>
              <a:t>Standard</a:t>
            </a:r>
            <a:r>
              <a:rPr lang="en-US" dirty="0"/>
              <a:t> ➡ </a:t>
            </a:r>
            <a:r>
              <a:rPr lang="en-US" dirty="0">
                <a:hlinkClick r:id="rId7"/>
              </a:rPr>
              <a:t>Physical</a:t>
            </a:r>
            <a:endParaRPr lang="en-US" dirty="0"/>
          </a:p>
          <a:p>
            <a:pPr lvl="0" indent="-457200" algn="just">
              <a:lnSpc>
                <a:spcPct val="150000"/>
              </a:lnSpc>
              <a:buClr>
                <a:schemeClr val="accent4">
                  <a:lumMod val="75000"/>
                </a:schemeClr>
              </a:buClr>
              <a:buSzPts val="1976"/>
              <a:buFont typeface="Wingdings" panose="05000000000000000000" pitchFamily="2" charset="2"/>
              <a:buChar char="q"/>
            </a:pPr>
            <a:r>
              <a:rPr lang="en-US" dirty="0"/>
              <a:t>The slower materials can make more realistic looking scenes, but you might need to design your code to use the faster materials on low powered machines.</a:t>
            </a:r>
            <a:endParaRPr lang="en-US" sz="2000" dirty="0"/>
          </a:p>
        </p:txBody>
      </p:sp>
      <p:sp>
        <p:nvSpPr>
          <p:cNvPr id="3" name="Slide Number Placeholder 2">
            <a:extLst>
              <a:ext uri="{FF2B5EF4-FFF2-40B4-BE49-F238E27FC236}">
                <a16:creationId xmlns:a16="http://schemas.microsoft.com/office/drawing/2014/main" id="{5F713C95-A5C9-E1DC-6DED-926BEC5C8B75}"/>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spTree>
    <p:extLst>
      <p:ext uri="{BB962C8B-B14F-4D97-AF65-F5344CB8AC3E}">
        <p14:creationId xmlns:p14="http://schemas.microsoft.com/office/powerpoint/2010/main" val="3070676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5AA4263A-EFFF-88AA-9261-0777EADF4A4B}"/>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D55CDB0-7D2E-F2CB-31E4-2AF86ADE3BD1}"/>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Other types of material</a:t>
            </a:r>
            <a:endParaRPr dirty="0"/>
          </a:p>
        </p:txBody>
      </p:sp>
      <p:sp>
        <p:nvSpPr>
          <p:cNvPr id="138" name="Google Shape;138;p3">
            <a:extLst>
              <a:ext uri="{FF2B5EF4-FFF2-40B4-BE49-F238E27FC236}">
                <a16:creationId xmlns:a16="http://schemas.microsoft.com/office/drawing/2014/main" id="{C2D8D4F6-2883-74FC-12E6-4300B16A1923}"/>
              </a:ext>
            </a:extLst>
          </p:cNvPr>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Autofit/>
          </a:bodyPr>
          <a:lstStyle/>
          <a:p>
            <a:pPr marL="0" lvl="0" indent="0" algn="just">
              <a:lnSpc>
                <a:spcPct val="150000"/>
              </a:lnSpc>
              <a:buClr>
                <a:schemeClr val="accent4">
                  <a:lumMod val="75000"/>
                </a:schemeClr>
              </a:buClr>
              <a:buSzPts val="1976"/>
              <a:buNone/>
            </a:pPr>
            <a:r>
              <a:rPr lang="en-US" dirty="0"/>
              <a:t>There are 3 materials that have special uses</a:t>
            </a:r>
          </a:p>
          <a:p>
            <a:pPr lvl="0" indent="-457200" algn="just">
              <a:lnSpc>
                <a:spcPct val="150000"/>
              </a:lnSpc>
              <a:buClr>
                <a:schemeClr val="accent4">
                  <a:lumMod val="75000"/>
                </a:schemeClr>
              </a:buClr>
              <a:buSzPts val="1976"/>
              <a:buFont typeface="Wingdings" panose="05000000000000000000" pitchFamily="2" charset="2"/>
              <a:buChar char="q"/>
            </a:pPr>
            <a:r>
              <a:rPr lang="en-US" sz="2000" b="1" dirty="0"/>
              <a:t>Shadow Material </a:t>
            </a:r>
            <a:r>
              <a:rPr lang="en-US" sz="2000" dirty="0"/>
              <a:t>is used to get the data created from shadows.</a:t>
            </a:r>
          </a:p>
          <a:p>
            <a:pPr lvl="0" indent="-457200" algn="just">
              <a:lnSpc>
                <a:spcPct val="150000"/>
              </a:lnSpc>
              <a:buClr>
                <a:schemeClr val="accent4">
                  <a:lumMod val="75000"/>
                </a:schemeClr>
              </a:buClr>
              <a:buSzPts val="1976"/>
              <a:buFont typeface="Wingdings" panose="05000000000000000000" pitchFamily="2" charset="2"/>
              <a:buChar char="q"/>
            </a:pPr>
            <a:r>
              <a:rPr lang="en-US" sz="2000" b="1" dirty="0"/>
              <a:t>Normal Material </a:t>
            </a:r>
            <a:r>
              <a:rPr lang="en-US" sz="2000" dirty="0"/>
              <a:t>will show the </a:t>
            </a:r>
            <a:r>
              <a:rPr lang="en-US" sz="2000" i="1" dirty="0"/>
              <a:t>normals</a:t>
            </a:r>
            <a:r>
              <a:rPr lang="en-US" sz="2000" dirty="0"/>
              <a:t> of geometry. </a:t>
            </a:r>
            <a:r>
              <a:rPr lang="en-US" sz="2000" i="1" dirty="0"/>
              <a:t>Normals</a:t>
            </a:r>
            <a:r>
              <a:rPr lang="en-US" sz="2000" dirty="0"/>
              <a:t> are the direction a particular triangle or pixel faces.</a:t>
            </a:r>
          </a:p>
          <a:p>
            <a:pPr lvl="0" indent="-457200" algn="just">
              <a:lnSpc>
                <a:spcPct val="150000"/>
              </a:lnSpc>
              <a:buClr>
                <a:schemeClr val="accent4">
                  <a:lumMod val="75000"/>
                </a:schemeClr>
              </a:buClr>
              <a:buSzPts val="1976"/>
              <a:buFont typeface="Wingdings" panose="05000000000000000000" pitchFamily="2" charset="2"/>
              <a:buChar char="q"/>
            </a:pPr>
            <a:r>
              <a:rPr lang="en-US" sz="2000" b="1" dirty="0"/>
              <a:t>Shader Material </a:t>
            </a:r>
            <a:r>
              <a:rPr lang="en-US" sz="2000" dirty="0"/>
              <a:t>is for making custom materials using the three.js shader system.</a:t>
            </a:r>
            <a:endParaRPr lang="en-US" sz="1600" dirty="0"/>
          </a:p>
        </p:txBody>
      </p:sp>
      <p:sp>
        <p:nvSpPr>
          <p:cNvPr id="3" name="Slide Number Placeholder 2">
            <a:extLst>
              <a:ext uri="{FF2B5EF4-FFF2-40B4-BE49-F238E27FC236}">
                <a16:creationId xmlns:a16="http://schemas.microsoft.com/office/drawing/2014/main" id="{574B511E-4045-8924-501A-63CADA5DA492}"/>
              </a:ext>
            </a:extLst>
          </p:cNvPr>
          <p:cNvSpPr>
            <a:spLocks noGrp="1"/>
          </p:cNvSpPr>
          <p:nvPr>
            <p:ph type="sldNum" idx="12"/>
          </p:nvPr>
        </p:nvSpPr>
        <p:spPr/>
        <p:txBody>
          <a:bodyPr/>
          <a:lstStyle/>
          <a:p>
            <a:pPr marL="0" lvl="0" indent="0" algn="r" rtl="0">
              <a:spcBef>
                <a:spcPts val="0"/>
              </a:spcBef>
              <a:spcAft>
                <a:spcPts val="0"/>
              </a:spcAft>
              <a:buNone/>
            </a:pPr>
            <a:r>
              <a:rPr lang="en-US" dirty="0"/>
              <a:t>3</a:t>
            </a:r>
          </a:p>
        </p:txBody>
      </p:sp>
    </p:spTree>
    <p:extLst>
      <p:ext uri="{BB962C8B-B14F-4D97-AF65-F5344CB8AC3E}">
        <p14:creationId xmlns:p14="http://schemas.microsoft.com/office/powerpoint/2010/main" val="473145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2290E2F4-CDF2-D863-5379-7E9FCFA4B789}"/>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0BA4F1EB-AA41-06E6-5D1A-6054F0FF05C5}"/>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2"/>
              </a:buClr>
              <a:buSzPts val="3200"/>
              <a:buFont typeface="Bookman Old Style"/>
              <a:buNone/>
            </a:pPr>
            <a:r>
              <a:rPr lang="en-US" dirty="0"/>
              <a:t>Lights</a:t>
            </a:r>
            <a:endParaRPr dirty="0"/>
          </a:p>
        </p:txBody>
      </p:sp>
      <p:sp>
        <p:nvSpPr>
          <p:cNvPr id="126" name="Google Shape;126;p2">
            <a:extLst>
              <a:ext uri="{FF2B5EF4-FFF2-40B4-BE49-F238E27FC236}">
                <a16:creationId xmlns:a16="http://schemas.microsoft.com/office/drawing/2014/main" id="{7E066B19-2CAA-F619-0259-06956AB12F1F}"/>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520"/>
              <a:buNone/>
            </a:pPr>
            <a:endParaRPr/>
          </a:p>
        </p:txBody>
      </p:sp>
      <p:sp>
        <p:nvSpPr>
          <p:cNvPr id="3" name="Slide Number Placeholder 2">
            <a:extLst>
              <a:ext uri="{FF2B5EF4-FFF2-40B4-BE49-F238E27FC236}">
                <a16:creationId xmlns:a16="http://schemas.microsoft.com/office/drawing/2014/main" id="{F2380180-E68C-7A5D-C898-9EE224BD19A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13036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CFB85FA4-89B6-9EF8-3A86-D6CFA3747E97}"/>
            </a:ext>
          </a:extLst>
        </p:cNvPr>
        <p:cNvGrpSpPr/>
        <p:nvPr/>
      </p:nvGrpSpPr>
      <p:grpSpPr>
        <a:xfrm>
          <a:off x="0" y="0"/>
          <a:ext cx="0" cy="0"/>
          <a:chOff x="0" y="0"/>
          <a:chExt cx="0" cy="0"/>
        </a:xfrm>
      </p:grpSpPr>
      <p:sp>
        <p:nvSpPr>
          <p:cNvPr id="146" name="Google Shape;146;p4">
            <a:extLst>
              <a:ext uri="{FF2B5EF4-FFF2-40B4-BE49-F238E27FC236}">
                <a16:creationId xmlns:a16="http://schemas.microsoft.com/office/drawing/2014/main" id="{3C801CEE-275A-8FC4-F6AB-6EB25D6772FB}"/>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buSzPts val="3200"/>
            </a:pPr>
            <a:r>
              <a:rPr lang="en-US" dirty="0"/>
              <a:t>Commonly used types of lights</a:t>
            </a:r>
            <a:endParaRPr dirty="0"/>
          </a:p>
        </p:txBody>
      </p:sp>
      <p:sp>
        <p:nvSpPr>
          <p:cNvPr id="9" name="Slide Number Placeholder 8">
            <a:extLst>
              <a:ext uri="{FF2B5EF4-FFF2-40B4-BE49-F238E27FC236}">
                <a16:creationId xmlns:a16="http://schemas.microsoft.com/office/drawing/2014/main" id="{F170D698-CEA1-65F6-5EBC-EC52FE59F922}"/>
              </a:ext>
            </a:extLst>
          </p:cNvPr>
          <p:cNvSpPr>
            <a:spLocks noGrp="1"/>
          </p:cNvSpPr>
          <p:nvPr>
            <p:ph type="sldNum" idx="12"/>
          </p:nvPr>
        </p:nvSpPr>
        <p:spPr/>
        <p:txBody>
          <a:bodyPr/>
          <a:lstStyle/>
          <a:p>
            <a:pPr marL="0" lvl="0" indent="0" algn="r" rtl="0">
              <a:spcBef>
                <a:spcPts val="0"/>
              </a:spcBef>
              <a:spcAft>
                <a:spcPts val="0"/>
              </a:spcAft>
              <a:buNone/>
            </a:pPr>
            <a:r>
              <a:rPr lang="en-US" dirty="0"/>
              <a:t>5</a:t>
            </a:r>
          </a:p>
        </p:txBody>
      </p:sp>
      <p:sp>
        <p:nvSpPr>
          <p:cNvPr id="12" name="Google Shape;149;p4">
            <a:extLst>
              <a:ext uri="{FF2B5EF4-FFF2-40B4-BE49-F238E27FC236}">
                <a16:creationId xmlns:a16="http://schemas.microsoft.com/office/drawing/2014/main" id="{2A74BDA4-3F9A-0854-53B7-C2EF43722A85}"/>
              </a:ext>
            </a:extLst>
          </p:cNvPr>
          <p:cNvSpPr txBox="1">
            <a:spLocks noGrp="1"/>
          </p:cNvSpPr>
          <p:nvPr>
            <p:ph type="body" idx="1"/>
          </p:nvPr>
        </p:nvSpPr>
        <p:spPr>
          <a:xfrm>
            <a:off x="410307" y="1205130"/>
            <a:ext cx="8229600" cy="5049131"/>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976"/>
              <a:buNone/>
            </a:pPr>
            <a:r>
              <a:rPr lang="en-US" sz="2000" dirty="0"/>
              <a:t>There are 5 commonly used types of light</a:t>
            </a:r>
          </a:p>
          <a:p>
            <a:pPr marL="342900" lvl="0" indent="-342900" algn="just" rtl="0">
              <a:spcBef>
                <a:spcPts val="0"/>
              </a:spcBef>
              <a:spcAft>
                <a:spcPts val="0"/>
              </a:spcAft>
              <a:buSzPts val="1976"/>
              <a:buFont typeface="Arial" panose="020B0604020202020204" pitchFamily="34" charset="0"/>
              <a:buChar char="•"/>
            </a:pPr>
            <a:r>
              <a:rPr lang="en-US" sz="2000" b="1" dirty="0"/>
              <a:t>Ambient Light:</a:t>
            </a:r>
          </a:p>
          <a:p>
            <a:pPr marL="800100" lvl="1" indent="-342900" algn="just">
              <a:spcBef>
                <a:spcPts val="0"/>
              </a:spcBef>
              <a:buSzPts val="1976"/>
              <a:buFont typeface="Arial" panose="020B0604020202020204" pitchFamily="34" charset="0"/>
              <a:buChar char="•"/>
            </a:pPr>
            <a:r>
              <a:rPr lang="en-US" sz="1600" dirty="0"/>
              <a:t>Has no direction, lighting is 100% even</a:t>
            </a:r>
          </a:p>
          <a:p>
            <a:pPr marL="800100" lvl="1" indent="-342900" algn="just">
              <a:spcBef>
                <a:spcPts val="0"/>
              </a:spcBef>
              <a:buSzPts val="1976"/>
              <a:buFont typeface="Arial" panose="020B0604020202020204" pitchFamily="34" charset="0"/>
              <a:buChar char="•"/>
            </a:pPr>
            <a:r>
              <a:rPr lang="en-US" sz="1600" dirty="0"/>
              <a:t>The </a:t>
            </a:r>
            <a:r>
              <a:rPr lang="en-US" sz="1600" dirty="0" err="1">
                <a:hlinkClick r:id="rId3"/>
              </a:rPr>
              <a:t>AmbientLight</a:t>
            </a:r>
            <a:r>
              <a:rPr lang="en-US" sz="1600" dirty="0"/>
              <a:t> effectively just multiplies the material's color by the light's color times the intensity.</a:t>
            </a:r>
          </a:p>
          <a:p>
            <a:pPr marL="342900" lvl="0" indent="-342900" algn="just" rtl="0">
              <a:spcBef>
                <a:spcPts val="0"/>
              </a:spcBef>
              <a:spcAft>
                <a:spcPts val="0"/>
              </a:spcAft>
              <a:buSzPts val="1976"/>
              <a:buFont typeface="Arial" panose="020B0604020202020204" pitchFamily="34" charset="0"/>
              <a:buChar char="•"/>
            </a:pPr>
            <a:r>
              <a:rPr lang="en-US" sz="2000" b="1" dirty="0"/>
              <a:t>Hemisphere Light:</a:t>
            </a:r>
          </a:p>
          <a:p>
            <a:pPr marL="800100" lvl="1" indent="-342900" algn="just">
              <a:spcBef>
                <a:spcPts val="0"/>
              </a:spcBef>
              <a:buSzPts val="1976"/>
              <a:buFont typeface="Arial" panose="020B0604020202020204" pitchFamily="34" charset="0"/>
              <a:buChar char="•"/>
            </a:pPr>
            <a:r>
              <a:rPr lang="en-US" sz="1600" dirty="0"/>
              <a:t>A </a:t>
            </a:r>
            <a:r>
              <a:rPr lang="en-US" sz="1600" dirty="0" err="1">
                <a:hlinkClick r:id="rId4"/>
              </a:rPr>
              <a:t>HemisphereLight</a:t>
            </a:r>
            <a:r>
              <a:rPr lang="en-US" sz="1600" dirty="0"/>
              <a:t> takes a sky color and a ground color and just multiplies the material's color between those 2 colors.</a:t>
            </a:r>
          </a:p>
          <a:p>
            <a:pPr marL="342900" lvl="0" indent="-342900" algn="just" rtl="0">
              <a:spcBef>
                <a:spcPts val="0"/>
              </a:spcBef>
              <a:spcAft>
                <a:spcPts val="0"/>
              </a:spcAft>
              <a:buSzPts val="1976"/>
              <a:buFont typeface="Arial" panose="020B0604020202020204" pitchFamily="34" charset="0"/>
              <a:buChar char="•"/>
            </a:pPr>
            <a:r>
              <a:rPr lang="en-US" sz="2000" b="1" dirty="0"/>
              <a:t>Directional Light:</a:t>
            </a:r>
          </a:p>
          <a:p>
            <a:pPr marL="800100" lvl="1" indent="-342900" algn="just">
              <a:spcBef>
                <a:spcPts val="0"/>
              </a:spcBef>
              <a:buSzPts val="1976"/>
              <a:buFont typeface="Arial" panose="020B0604020202020204" pitchFamily="34" charset="0"/>
              <a:buChar char="•"/>
            </a:pPr>
            <a:r>
              <a:rPr lang="en-US" sz="1600" dirty="0"/>
              <a:t>Often used to represent the sun.</a:t>
            </a:r>
          </a:p>
          <a:p>
            <a:pPr marL="800100" lvl="1" indent="-342900" algn="just">
              <a:spcBef>
                <a:spcPts val="0"/>
              </a:spcBef>
              <a:buSzPts val="1976"/>
              <a:buFont typeface="Arial" panose="020B0604020202020204" pitchFamily="34" charset="0"/>
              <a:buChar char="•"/>
            </a:pPr>
            <a:r>
              <a:rPr lang="en-US" sz="1600" dirty="0"/>
              <a:t>We had to add the light and the </a:t>
            </a:r>
            <a:r>
              <a:rPr lang="en-US" sz="1600" dirty="0" err="1"/>
              <a:t>light.target</a:t>
            </a:r>
            <a:r>
              <a:rPr lang="en-US" sz="1600" dirty="0"/>
              <a:t> to the scene. A </a:t>
            </a:r>
            <a:r>
              <a:rPr lang="en-US" sz="1600" dirty="0">
                <a:hlinkClick r:id="rId5"/>
              </a:rPr>
              <a:t>Directional Light</a:t>
            </a:r>
            <a:r>
              <a:rPr lang="en-US" sz="1600" dirty="0"/>
              <a:t> will shine in the direction of its target.</a:t>
            </a:r>
          </a:p>
          <a:p>
            <a:pPr marL="342900" indent="-342900" algn="just">
              <a:spcBef>
                <a:spcPts val="0"/>
              </a:spcBef>
              <a:buSzPts val="1976"/>
              <a:buFont typeface="Arial" panose="020B0604020202020204" pitchFamily="34" charset="0"/>
              <a:buChar char="•"/>
            </a:pPr>
            <a:r>
              <a:rPr lang="en-US" sz="2000" b="1" dirty="0"/>
              <a:t>Point Light:</a:t>
            </a:r>
          </a:p>
          <a:p>
            <a:pPr marL="800100" lvl="1" indent="-342900" algn="just">
              <a:spcBef>
                <a:spcPts val="0"/>
              </a:spcBef>
              <a:buSzPts val="1976"/>
              <a:buFont typeface="Arial" panose="020B0604020202020204" pitchFamily="34" charset="0"/>
              <a:buChar char="•"/>
            </a:pPr>
            <a:r>
              <a:rPr lang="en-US" sz="1600" dirty="0"/>
              <a:t>A </a:t>
            </a:r>
            <a:r>
              <a:rPr lang="en-US" sz="1600" dirty="0" err="1">
                <a:hlinkClick r:id="rId6"/>
              </a:rPr>
              <a:t>PointLight</a:t>
            </a:r>
            <a:r>
              <a:rPr lang="en-US" sz="1600" dirty="0"/>
              <a:t> is a light that sits at a point and shoots light in all directions from that point. </a:t>
            </a:r>
          </a:p>
          <a:p>
            <a:pPr marL="342900" indent="-342900" algn="just">
              <a:spcBef>
                <a:spcPts val="0"/>
              </a:spcBef>
              <a:buSzPts val="1976"/>
              <a:buFont typeface="Arial" panose="020B0604020202020204" pitchFamily="34" charset="0"/>
              <a:buChar char="•"/>
            </a:pPr>
            <a:r>
              <a:rPr lang="en-US" sz="1900" b="1" dirty="0"/>
              <a:t>Spot Light:</a:t>
            </a:r>
          </a:p>
          <a:p>
            <a:pPr marL="800100" lvl="1" indent="-342900" algn="just">
              <a:spcBef>
                <a:spcPts val="0"/>
              </a:spcBef>
              <a:buSzPts val="1976"/>
              <a:buFont typeface="Arial" panose="020B0604020202020204" pitchFamily="34" charset="0"/>
              <a:buChar char="•"/>
            </a:pPr>
            <a:r>
              <a:rPr lang="en-US" sz="1600" dirty="0"/>
              <a:t>Spotlights are effectively a point light with a cone attached where the light only shines inside the cone. </a:t>
            </a:r>
            <a:endParaRPr sz="1600" b="1" dirty="0"/>
          </a:p>
        </p:txBody>
      </p:sp>
    </p:spTree>
    <p:extLst>
      <p:ext uri="{BB962C8B-B14F-4D97-AF65-F5344CB8AC3E}">
        <p14:creationId xmlns:p14="http://schemas.microsoft.com/office/powerpoint/2010/main" val="3623852608"/>
      </p:ext>
    </p:extLst>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2201</TotalTime>
  <Words>1784</Words>
  <Application>Microsoft Office PowerPoint</Application>
  <PresentationFormat>On-screen Show (4:3)</PresentationFormat>
  <Paragraphs>156</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Cambria</vt:lpstr>
      <vt:lpstr>Arial</vt:lpstr>
      <vt:lpstr>Noto Sans Symbols</vt:lpstr>
      <vt:lpstr>Bookman Old Style</vt:lpstr>
      <vt:lpstr>Wingdings</vt:lpstr>
      <vt:lpstr>Gill Sans</vt:lpstr>
      <vt:lpstr>Calibri</vt:lpstr>
      <vt:lpstr>Origin</vt:lpstr>
      <vt:lpstr>CTE 2059 - Computer Graphic Lecture 2 – Materials &amp; Lights</vt:lpstr>
      <vt:lpstr>Outline</vt:lpstr>
      <vt:lpstr>Getting Started</vt:lpstr>
      <vt:lpstr>Installation</vt:lpstr>
      <vt:lpstr>Materials</vt:lpstr>
      <vt:lpstr>How to set material properties</vt:lpstr>
      <vt:lpstr>Commonly used types of material</vt:lpstr>
      <vt:lpstr>Commonly used types of material</vt:lpstr>
      <vt:lpstr>Commonly used types of material</vt:lpstr>
      <vt:lpstr>Other types of material</vt:lpstr>
      <vt:lpstr>Lights</vt:lpstr>
      <vt:lpstr>Commonly used types of lights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Khoi Nguyen Le</dc:creator>
  <cp:lastModifiedBy>Austin Nguyen (HKO - CORPIT - ITO - CTO)</cp:lastModifiedBy>
  <cp:revision>38</cp:revision>
  <dcterms:created xsi:type="dcterms:W3CDTF">2012-10-11T13:47:11Z</dcterms:created>
  <dcterms:modified xsi:type="dcterms:W3CDTF">2026-03-16T01:52:30Z</dcterms:modified>
</cp:coreProperties>
</file>